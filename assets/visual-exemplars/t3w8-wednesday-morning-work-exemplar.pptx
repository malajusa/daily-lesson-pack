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f63910b01c4cb3" /><Relationship Type="http://schemas.openxmlformats.org/officeDocument/2006/relationships/extended-properties" Target="/docProps/app.xml" Id="R5b3e8b89223b4451" /><Relationship Type="http://schemas.openxmlformats.org/officeDocument/2006/relationships/officeDocument" Target="/ppt/presentation.xml" Id="Re682f53d0f26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60d6302bb4764"/>
  </p:sldMasterIdLst>
  <p:notesMasterIdLst>
    <p:notesMasterId xmlns:r="http://schemas.openxmlformats.org/officeDocument/2006/relationships" r:id="R29ef7572bda54cf3"/>
  </p:notesMasterIdLst>
  <p:sldIdLst>
    <p:sldId xmlns:r="http://schemas.openxmlformats.org/officeDocument/2006/relationships" id="256" r:id="Ra89f4d7721474a6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ea82f09f934ae4" /><Relationship Type="http://schemas.openxmlformats.org/officeDocument/2006/relationships/slideMaster" Target="/ppt/slideMasters/slideMaster1.xml" Id="R46c60d6302bb4764" /><Relationship Type="http://schemas.openxmlformats.org/officeDocument/2006/relationships/notesMaster" Target="/ppt/notesMasters/notesMaster1.xml" Id="R29ef7572bda54cf3" /><Relationship Type="http://schemas.openxmlformats.org/officeDocument/2006/relationships/presProps" Target="/ppt/presProps.xml" Id="Rf61dd18ba5cd4f3a" /><Relationship Type="http://schemas.openxmlformats.org/officeDocument/2006/relationships/tableStyles" Target="/ppt/tableStyles.xml" Id="R01ea464996684e8d" /><Relationship Type="http://schemas.openxmlformats.org/officeDocument/2006/relationships/slide" Target="/ppt/slides/slide1.xml" Id="Ra89f4d772147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94c43a13b9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22b0c177a94f3b" /><Relationship Type="http://schemas.openxmlformats.org/officeDocument/2006/relationships/notesMaster" Target="/ppt/notesMasters/notesMaster1.xml" Id="Re5d2abc010f04e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34b0f5abb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b660520a5d49d5" /><Relationship Type="http://schemas.openxmlformats.org/officeDocument/2006/relationships/slideLayout" Target="/ppt/slideLayouts/slideLayout1.xml" Id="Rad43eade56294e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43eade56294e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e864be9e94a00" /><Relationship Type="http://schemas.openxmlformats.org/officeDocument/2006/relationships/notesSlide" Target="/ppt/notesSlides/notesSlide1.xml" Id="R7252713f2fa149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LP:left-rail">
            <a:extLst xmlns:a="http://schemas.openxmlformats.org/drawingml/2006/main">
              <a:ext uri="{FF2B5EF4-FFF2-40B4-BE49-F238E27FC236}">
                <a16:creationId xmlns:a16="http://schemas.microsoft.com/office/drawing/2014/main" id="{7B375D84-E72D-4F01-8E12-960AA658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62"/>
          </a:solidFill>
          <a:ln xmlns:a="http://schemas.openxmlformats.org/drawingml/2006/main" w="0">
            <a:noFill/>
          </a:ln>
        </p:spPr>
      </p:sp>
      <p:sp>
        <p:nvSpPr>
          <p:cNvPr id="2" name="DLP:eyebrow">
            <a:extLst xmlns:a="http://schemas.openxmlformats.org/drawingml/2006/main">
              <a:ext uri="{FF2B5EF4-FFF2-40B4-BE49-F238E27FC236}">
                <a16:creationId xmlns:a16="http://schemas.microsoft.com/office/drawing/2014/main" id="{C223FE26-3AAD-4EA7-BA97-4EA5DC13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62"/>
                </a:solidFill>
              </a:defRPr>
            </a:pPr>
            <a:r>
              <a:rPr sz="1800" b="1">
                <a:solidFill>
                  <a:srgbClr val="143F62"/>
                </a:solidFill>
              </a:rPr>
              <a:t>MORNING WORK</a:t>
            </a:r>
          </a:p>
        </p:txBody>
      </p:sp>
      <p:sp>
        <p:nvSpPr>
          <p:cNvPr id="3" name="DLP:title">
            <a:extLst xmlns:a="http://schemas.openxmlformats.org/drawingml/2006/main">
              <a:ext uri="{FF2B5EF4-FFF2-40B4-BE49-F238E27FC236}">
                <a16:creationId xmlns:a16="http://schemas.microsoft.com/office/drawing/2014/main" id="{C7AC2B4E-3298-4B15-B4DC-CB0714B2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266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31B2A"/>
                </a:solidFill>
              </a:defRPr>
            </a:pPr>
            <a:r>
              <a:rPr sz="3375" b="1">
                <a:solidFill>
                  <a:srgbClr val="131B2A"/>
                </a:solidFill>
              </a:rPr>
              <a:t>Morning Work • Wednesday 9 September 2026</a:t>
            </a:r>
          </a:p>
        </p:txBody>
      </p:sp>
      <p:sp>
        <p:nvSpPr>
          <p:cNvPr id="4" name="DLP:book-cue">
            <a:extLst xmlns:a="http://schemas.openxmlformats.org/drawingml/2006/main">
              <a:ext uri="{FF2B5EF4-FFF2-40B4-BE49-F238E27FC236}">
                <a16:creationId xmlns:a16="http://schemas.microsoft.com/office/drawing/2014/main" id="{99E8A64C-89BB-42AA-B06E-39065FA5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52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D79"/>
                </a:solidFill>
              </a:defRPr>
            </a:pPr>
            <a:r>
              <a:rPr sz="1350" b="0">
                <a:solidFill>
                  <a:srgbClr val="5E6D79"/>
                </a:solidFill>
              </a:rPr>
              <a:t>Write every answer in your book.</a:t>
            </a:r>
          </a:p>
        </p:txBody>
      </p:sp>
      <p:sp>
        <p:nvSpPr>
          <p:cNvPr id="5" name="DLP:maths-panel">
            <a:extLst xmlns:a="http://schemas.openxmlformats.org/drawingml/2006/main">
              <a:ext uri="{FF2B5EF4-FFF2-40B4-BE49-F238E27FC236}">
                <a16:creationId xmlns:a16="http://schemas.microsoft.com/office/drawing/2014/main" id="{EA4AC8CD-275E-4996-B773-7FC5420B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620125" cy="49339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E8F2F9"/>
          </a:solidFill>
          <a:ln xmlns:a="http://schemas.openxmlformats.org/drawingml/2006/main" w="19050">
            <a:solidFill>
              <a:srgbClr val="79AED0"/>
            </a:solidFill>
            <a:prstDash val="solid"/>
          </a:ln>
        </p:spPr>
      </p:sp>
      <p:sp>
        <p:nvSpPr>
          <p:cNvPr id="6" name="DLP:maths-heading">
            <a:extLst xmlns:a="http://schemas.openxmlformats.org/drawingml/2006/main">
              <a:ext uri="{FF2B5EF4-FFF2-40B4-BE49-F238E27FC236}">
                <a16:creationId xmlns:a16="http://schemas.microsoft.com/office/drawing/2014/main" id="{4478FB1C-8F94-4478-9E0E-3EE6C55A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62"/>
                </a:solidFill>
              </a:defRPr>
            </a:pPr>
            <a:r>
              <a:rPr sz="2250" b="1">
                <a:solidFill>
                  <a:srgbClr val="143F62"/>
                </a:solidFill>
              </a:rPr>
              <a:t>1  RETRIEVE &amp; CONNECT</a:t>
            </a:r>
          </a:p>
        </p:txBody>
      </p:sp>
      <p:sp>
        <p:nvSpPr>
          <p:cNvPr id="7" name="DLP:operations">
            <a:extLst xmlns:a="http://schemas.openxmlformats.org/drawingml/2006/main">
              <a:ext uri="{FF2B5EF4-FFF2-40B4-BE49-F238E27FC236}">
                <a16:creationId xmlns:a16="http://schemas.microsoft.com/office/drawing/2014/main" id="{50700A99-FC12-497E-9ADC-6A82ECB9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785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F62"/>
                </a:solidFill>
              </a:defRPr>
            </a:pPr>
            <a:r>
              <a:rPr sz="2550" b="1">
                <a:solidFill>
                  <a:srgbClr val="143F62"/>
                </a:solidFill>
              </a:rPr>
              <a:t>3,482 + 759 = ____        6,000 − 2,745 = ____</a:t>
            </a:r>
          </a:p>
          <a:p xmlns:a="http://schemas.openxmlformats.org/drawingml/2006/main">
            <a:pPr algn="l">
              <a:defRPr sz="2550" b="1">
                <a:solidFill>
                  <a:srgbClr val="143F62"/>
                </a:solidFill>
              </a:defRPr>
            </a:pPr>
            <a:r>
              <a:rPr sz="2550" b="1">
                <a:solidFill>
                  <a:srgbClr val="143F62"/>
                </a:solidFill>
              </a:rPr>
              <a:t>27 × 14 = ____              864 ÷ 8 = ____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60D6E3C5-6C08-4426-8F36-BFCEC84D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785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8C9DE"/>
            </a:solidFill>
            <a:prstDash val="solid"/>
          </a:ln>
        </p:spPr>
      </p:sp>
      <p:sp>
        <p:nvSpPr>
          <p:cNvPr id="9" name="DLP:main">
            <a:extLst xmlns:a="http://schemas.openxmlformats.org/drawingml/2006/main">
              <a:ext uri="{FF2B5EF4-FFF2-40B4-BE49-F238E27FC236}">
                <a16:creationId xmlns:a16="http://schemas.microsoft.com/office/drawing/2014/main" id="{FD4D6DE6-4A16-4E27-A80B-85A82305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7858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62"/>
                </a:solidFill>
              </a:defRPr>
            </a:pPr>
            <a:r>
              <a:rPr sz="2325" b="1">
                <a:solidFill>
                  <a:srgbClr val="143F62"/>
                </a:solidFill>
              </a:rPr>
              <a:t>Write ¾ as a decimal.</a:t>
            </a:r>
          </a:p>
          <a:p xmlns:a="http://schemas.openxmlformats.org/drawingml/2006/main">
            <a:pPr algn="l">
              <a:defRPr sz="2325" b="1">
                <a:solidFill>
                  <a:srgbClr val="143F62"/>
                </a:solidFill>
              </a:defRPr>
            </a:pPr>
            <a:r>
              <a:rPr sz="2325" b="1">
                <a:solidFill>
                  <a:srgbClr val="143F62"/>
                </a:solidFill>
              </a:rPr>
              <a:t>Then name the place value of the 5 in 0.75.</a:t>
            </a:r>
          </a:p>
        </p:txBody>
      </p:sp>
      <p:sp>
        <p:nvSpPr>
          <p:cNvPr id="10" name="DLP:instruction">
            <a:extLst xmlns:a="http://schemas.openxmlformats.org/drawingml/2006/main">
              <a:ext uri="{FF2B5EF4-FFF2-40B4-BE49-F238E27FC236}">
                <a16:creationId xmlns:a16="http://schemas.microsoft.com/office/drawing/2014/main" id="{20FFBE9F-9965-4E86-B396-D1A523D9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7858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4C67"/>
                </a:solidFill>
              </a:defRPr>
            </a:pPr>
            <a:r>
              <a:rPr sz="2025" b="0">
                <a:solidFill>
                  <a:srgbClr val="244C67"/>
                </a:solidFill>
              </a:rPr>
              <a:t>Use the words numerator, denominator, tenths or hundredths in one accurate sentence.</a:t>
            </a:r>
          </a:p>
        </p:txBody>
      </p:sp>
      <p:sp>
        <p:nvSpPr>
          <p:cNvPr id="11" name="DLP:literacy-panel">
            <a:extLst xmlns:a="http://schemas.openxmlformats.org/drawingml/2006/main">
              <a:ext uri="{FF2B5EF4-FFF2-40B4-BE49-F238E27FC236}">
                <a16:creationId xmlns:a16="http://schemas.microsoft.com/office/drawing/2014/main" id="{D2A2C747-E48E-46FC-96A0-508C8949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562100"/>
            <a:ext cx="4953000" cy="49339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D7A700"/>
            </a:solidFill>
            <a:prstDash val="solid"/>
          </a:ln>
        </p:spPr>
      </p:sp>
      <p:sp>
        <p:nvSpPr>
          <p:cNvPr id="12" name="DLP:literacy-heading">
            <a:extLst xmlns:a="http://schemas.openxmlformats.org/drawingml/2006/main">
              <a:ext uri="{FF2B5EF4-FFF2-40B4-BE49-F238E27FC236}">
                <a16:creationId xmlns:a16="http://schemas.microsoft.com/office/drawing/2014/main" id="{2CE19D0F-3D44-40EF-AB94-0D560C77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752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3100"/>
                </a:solidFill>
              </a:defRPr>
            </a:pPr>
            <a:r>
              <a:rPr sz="2250" b="1">
                <a:solidFill>
                  <a:srgbClr val="3D3100"/>
                </a:solidFill>
              </a:rPr>
              <a:t>2  EDIT &amp; IDENTIFY</a:t>
            </a:r>
          </a:p>
        </p:txBody>
      </p:sp>
      <p:sp>
        <p:nvSpPr>
          <p:cNvPr id="13" name="DLP:instruction-2">
            <a:extLst xmlns:a="http://schemas.openxmlformats.org/drawingml/2006/main">
              <a:ext uri="{FF2B5EF4-FFF2-40B4-BE49-F238E27FC236}">
                <a16:creationId xmlns:a16="http://schemas.microsoft.com/office/drawing/2014/main" id="{97894671-743B-43D0-B817-9EE9D564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431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3100"/>
                </a:solidFill>
              </a:defRPr>
            </a:pPr>
            <a:r>
              <a:rPr sz="1875" b="1">
                <a:solidFill>
                  <a:srgbClr val="3D3100"/>
                </a:solidFill>
              </a:rPr>
              <a:t>Copy this sentence with correct capital letters and punctuation:</a:t>
            </a:r>
          </a:p>
        </p:txBody>
      </p:sp>
      <p:sp>
        <p:nvSpPr>
          <p:cNvPr id="14" name="DLP:main-2">
            <a:extLst xmlns:a="http://schemas.openxmlformats.org/drawingml/2006/main">
              <a:ext uri="{FF2B5EF4-FFF2-40B4-BE49-F238E27FC236}">
                <a16:creationId xmlns:a16="http://schemas.microsoft.com/office/drawing/2014/main" id="{DC84D40A-4684-4B96-B7D7-648823F0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09925"/>
            <a:ext cx="4191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3100"/>
                </a:solidFill>
              </a:defRPr>
            </a:pPr>
            <a:r>
              <a:rPr sz="2325" b="1">
                <a:solidFill>
                  <a:srgbClr val="3D3100"/>
                </a:solidFill>
              </a:rPr>
              <a:t>after the storm the old jetty creaked but it stayed standing</a:t>
            </a:r>
          </a:p>
        </p:txBody>
      </p:sp>
      <p:sp>
        <p:nvSpPr>
          <p:cNvPr id="15" name="DLP:instruction-3">
            <a:extLst xmlns:a="http://schemas.openxmlformats.org/drawingml/2006/main">
              <a:ext uri="{FF2B5EF4-FFF2-40B4-BE49-F238E27FC236}">
                <a16:creationId xmlns:a16="http://schemas.microsoft.com/office/drawing/2014/main" id="{49CE0E06-A7EF-4E3A-9491-399D5DC8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81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3100"/>
                </a:solidFill>
              </a:defRPr>
            </a:pPr>
            <a:r>
              <a:rPr sz="1950" b="1">
                <a:solidFill>
                  <a:srgbClr val="3D3100"/>
                </a:solidFill>
              </a:rPr>
              <a:t>Write the conjunction that joins the two clauses.</a:t>
            </a:r>
          </a:p>
        </p:txBody>
      </p:sp>
      <p:sp>
        <p:nvSpPr>
          <p:cNvPr id="16" name="DLP:instruction-4">
            <a:extLst xmlns:a="http://schemas.openxmlformats.org/drawingml/2006/main">
              <a:ext uri="{FF2B5EF4-FFF2-40B4-BE49-F238E27FC236}">
                <a16:creationId xmlns:a16="http://schemas.microsoft.com/office/drawing/2014/main" id="{53F93F61-7562-4C3A-B5EC-B60E71C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619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100"/>
                </a:solidFill>
              </a:defRPr>
            </a:pPr>
            <a:r>
              <a:rPr sz="1875" b="0">
                <a:solidFill>
                  <a:srgbClr val="3D3100"/>
                </a:solidFill>
              </a:rPr>
              <a:t>Replace creaked with a different precise verb.</a:t>
            </a:r>
          </a:p>
        </p:txBody>
      </p:sp>
      <p:sp>
        <p:nvSpPr>
          <p:cNvPr id="17" name="DLP:extension-panel">
            <a:extLst xmlns:a="http://schemas.openxmlformats.org/drawingml/2006/main">
              <a:ext uri="{FF2B5EF4-FFF2-40B4-BE49-F238E27FC236}">
                <a16:creationId xmlns:a16="http://schemas.microsoft.com/office/drawing/2014/main" id="{38096FAC-53BE-4662-AE5B-E30DD50E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43700"/>
            <a:ext cx="138398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AF6EC"/>
          </a:solidFill>
          <a:ln xmlns:a="http://schemas.openxmlformats.org/drawingml/2006/main" w="19050">
            <a:solidFill>
              <a:srgbClr val="62A476"/>
            </a:solidFill>
            <a:prstDash val="solid"/>
          </a:ln>
        </p:spPr>
      </p:sp>
      <p:sp>
        <p:nvSpPr>
          <p:cNvPr id="18" name="DLP:extension-label">
            <a:extLst xmlns:a="http://schemas.openxmlformats.org/drawingml/2006/main">
              <a:ext uri="{FF2B5EF4-FFF2-40B4-BE49-F238E27FC236}">
                <a16:creationId xmlns:a16="http://schemas.microsoft.com/office/drawing/2014/main" id="{2E9CDEA8-7B5A-4D65-956C-31881536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34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5B31"/>
                </a:solidFill>
              </a:defRPr>
            </a:pPr>
            <a:r>
              <a:rPr sz="1875" b="1">
                <a:solidFill>
                  <a:srgbClr val="155B31"/>
                </a:solidFill>
              </a:rPr>
              <a:t>WHEN FINISHED</a:t>
            </a:r>
          </a:p>
        </p:txBody>
      </p:sp>
      <p:sp>
        <p:nvSpPr>
          <p:cNvPr id="19" name="DLP:extension">
            <a:extLst xmlns:a="http://schemas.openxmlformats.org/drawingml/2006/main">
              <a:ext uri="{FF2B5EF4-FFF2-40B4-BE49-F238E27FC236}">
                <a16:creationId xmlns:a16="http://schemas.microsoft.com/office/drawing/2014/main" id="{4A2B5431-9311-4683-8272-98C6C5A1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8961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5B31"/>
                </a:solidFill>
              </a:defRPr>
            </a:pPr>
            <a:r>
              <a:rPr sz="2175" b="1">
                <a:solidFill>
                  <a:srgbClr val="155B31"/>
                </a:solidFill>
              </a:rPr>
              <a:t>Which is greater: 0.65 or ⅗?  Convert both to hundredths, then explain how you know.</a:t>
            </a:r>
          </a:p>
        </p:txBody>
      </p:sp>
      <p:sp>
        <p:nvSpPr>
          <p:cNvPr id="20" name="DLP:page">
            <a:extLst xmlns:a="http://schemas.openxmlformats.org/drawingml/2006/main">
              <a:ext uri="{FF2B5EF4-FFF2-40B4-BE49-F238E27FC236}">
                <a16:creationId xmlns:a16="http://schemas.microsoft.com/office/drawing/2014/main" id="{48DABA35-73EC-4A22-A9B4-682D5C7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8020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99625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2026-09-09T00:23:02.9890000Z</dcterms:created>
  <dcterms:modified xsi:type="dcterms:W3CDTF">2026-09-09T00:23:02.9890000Z</dcterms:modified>
</coreProperties>
</file>