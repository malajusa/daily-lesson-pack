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4150d4bbca4584" /><Relationship Type="http://schemas.openxmlformats.org/officeDocument/2006/relationships/extended-properties" Target="/docProps/app.xml" Id="R89ff372c873f42a7" /><Relationship Type="http://schemas.openxmlformats.org/officeDocument/2006/relationships/officeDocument" Target="/ppt/presentation.xml" Id="Re6a0941b42754ec8" /></Relationships>
</file>

<file path=ppt/presentation.xml><?xml version="1.0" encoding="utf-8"?>
<p:presentation xmlns:p="http://schemas.openxmlformats.org/presentationml/2006/main">
  <p:sldMasterIdLst>
    <p:sldMasterId xmlns:r="http://schemas.openxmlformats.org/officeDocument/2006/relationships" id="2147483648" r:id="Rec36f26cce534f31"/>
  </p:sldMasterIdLst>
  <p:notesMasterIdLst>
    <p:notesMasterId xmlns:r="http://schemas.openxmlformats.org/officeDocument/2006/relationships" r:id="R42e0435913cc40d0"/>
  </p:notesMasterIdLst>
  <p:sldIdLst>
    <p:sldId xmlns:r="http://schemas.openxmlformats.org/officeDocument/2006/relationships" id="256" r:id="R5a692afc21af4845"/>
    <p:sldId xmlns:r="http://schemas.openxmlformats.org/officeDocument/2006/relationships" id="257" r:id="R001369bd38034bcc"/>
    <p:sldId xmlns:r="http://schemas.openxmlformats.org/officeDocument/2006/relationships" id="258" r:id="R9c18d1be66ad4c32"/>
    <p:sldId xmlns:r="http://schemas.openxmlformats.org/officeDocument/2006/relationships" id="259" r:id="Rcdd4ff272d6c40e0"/>
    <p:sldId xmlns:r="http://schemas.openxmlformats.org/officeDocument/2006/relationships" id="260" r:id="R051443d4694b4be6"/>
    <p:sldId xmlns:r="http://schemas.openxmlformats.org/officeDocument/2006/relationships" id="261" r:id="R5690c53a90ca4002"/>
    <p:sldId xmlns:r="http://schemas.openxmlformats.org/officeDocument/2006/relationships" id="262" r:id="Ra1d3dbba67c94661"/>
    <p:sldId xmlns:r="http://schemas.openxmlformats.org/officeDocument/2006/relationships" id="263" r:id="R9be7dad4a8254d5c"/>
    <p:sldId xmlns:r="http://schemas.openxmlformats.org/officeDocument/2006/relationships" id="264" r:id="R9e1e645185ca4f45"/>
    <p:sldId xmlns:r="http://schemas.openxmlformats.org/officeDocument/2006/relationships" id="265" r:id="R6bda72f79f7d43ac"/>
    <p:sldId xmlns:r="http://schemas.openxmlformats.org/officeDocument/2006/relationships" id="266" r:id="R3c5488fb6271479e"/>
    <p:sldId xmlns:r="http://schemas.openxmlformats.org/officeDocument/2006/relationships" id="267" r:id="R4a5f828ed4c648a1"/>
    <p:sldId xmlns:r="http://schemas.openxmlformats.org/officeDocument/2006/relationships" id="268" r:id="R891536fd2c5843b4"/>
    <p:sldId xmlns:r="http://schemas.openxmlformats.org/officeDocument/2006/relationships" id="269" r:id="Rbdecd2e75589478b"/>
    <p:sldId xmlns:r="http://schemas.openxmlformats.org/officeDocument/2006/relationships" id="270" r:id="Rb2b85069d3d54246"/>
    <p:sldId xmlns:r="http://schemas.openxmlformats.org/officeDocument/2006/relationships" id="271" r:id="R37528b59e39b4504"/>
    <p:sldId xmlns:r="http://schemas.openxmlformats.org/officeDocument/2006/relationships" id="272" r:id="Rf3a1083569f346b3"/>
    <p:sldId xmlns:r="http://schemas.openxmlformats.org/officeDocument/2006/relationships" id="273" r:id="R9808a8999de44698"/>
    <p:sldId xmlns:r="http://schemas.openxmlformats.org/officeDocument/2006/relationships" id="274" r:id="R4bf9233dc8ce488f"/>
    <p:sldId xmlns:r="http://schemas.openxmlformats.org/officeDocument/2006/relationships" id="275" r:id="Rb329c18858ad4c50"/>
    <p:sldId xmlns:r="http://schemas.openxmlformats.org/officeDocument/2006/relationships" id="276" r:id="R6528e53f48954aee"/>
    <p:sldId xmlns:r="http://schemas.openxmlformats.org/officeDocument/2006/relationships" id="277" r:id="R01ea85b59748472c"/>
    <p:sldId xmlns:r="http://schemas.openxmlformats.org/officeDocument/2006/relationships" id="278" r:id="Rdf2f10a08dd34ca2"/>
    <p:sldId xmlns:r="http://schemas.openxmlformats.org/officeDocument/2006/relationships" id="279" r:id="Rc97f2b9ce6ac4d79"/>
    <p:sldId xmlns:r="http://schemas.openxmlformats.org/officeDocument/2006/relationships" id="280" r:id="R45c6a477ac1046a5"/>
    <p:sldId xmlns:r="http://schemas.openxmlformats.org/officeDocument/2006/relationships" id="281" r:id="Re61ad183d6e5487f"/>
    <p:sldId xmlns:r="http://schemas.openxmlformats.org/officeDocument/2006/relationships" id="282" r:id="Rf64f05e06e4e43f5"/>
    <p:sldId xmlns:r="http://schemas.openxmlformats.org/officeDocument/2006/relationships" id="283" r:id="R8c61787214ac4d8a"/>
    <p:sldId xmlns:r="http://schemas.openxmlformats.org/officeDocument/2006/relationships" id="284" r:id="Re9298112eddb43da"/>
    <p:sldId xmlns:r="http://schemas.openxmlformats.org/officeDocument/2006/relationships" id="285" r:id="R1493f5ba2f394ccc"/>
    <p:sldId xmlns:r="http://schemas.openxmlformats.org/officeDocument/2006/relationships" id="286" r:id="R7e4509817ca24214"/>
    <p:sldId xmlns:r="http://schemas.openxmlformats.org/officeDocument/2006/relationships" id="287" r:id="Refdfa8b527534d45"/>
    <p:sldId xmlns:r="http://schemas.openxmlformats.org/officeDocument/2006/relationships" id="288" r:id="R777a3b70482541f8"/>
    <p:sldId xmlns:r="http://schemas.openxmlformats.org/officeDocument/2006/relationships" id="289" r:id="R358537680c96466e"/>
    <p:sldId xmlns:r="http://schemas.openxmlformats.org/officeDocument/2006/relationships" id="290" r:id="R6578d643b31d4145"/>
    <p:sldId xmlns:r="http://schemas.openxmlformats.org/officeDocument/2006/relationships" id="291" r:id="R0ebbc2cab8904a2c"/>
    <p:sldId xmlns:r="http://schemas.openxmlformats.org/officeDocument/2006/relationships" id="292" r:id="Rc53e0fe3a66846ea"/>
    <p:sldId xmlns:r="http://schemas.openxmlformats.org/officeDocument/2006/relationships" id="293" r:id="R99d6052aae6a4e2e"/>
    <p:sldId xmlns:r="http://schemas.openxmlformats.org/officeDocument/2006/relationships" id="294" r:id="Rab27af545d5a4830"/>
    <p:sldId xmlns:r="http://schemas.openxmlformats.org/officeDocument/2006/relationships" id="295" r:id="R56a74f5b15d84dd2"/>
    <p:sldId xmlns:r="http://schemas.openxmlformats.org/officeDocument/2006/relationships" id="296" r:id="R370036b089094205"/>
    <p:sldId xmlns:r="http://schemas.openxmlformats.org/officeDocument/2006/relationships" id="297" r:id="R7f0811e854444ce2"/>
    <p:sldId xmlns:r="http://schemas.openxmlformats.org/officeDocument/2006/relationships" id="298" r:id="R7f61783e8b7c4e44"/>
    <p:sldId xmlns:r="http://schemas.openxmlformats.org/officeDocument/2006/relationships" id="299" r:id="Rc6c9277834a34a2b"/>
    <p:sldId xmlns:r="http://schemas.openxmlformats.org/officeDocument/2006/relationships" id="300" r:id="Rf064fa45cec84fff"/>
    <p:sldId xmlns:r="http://schemas.openxmlformats.org/officeDocument/2006/relationships" id="301" r:id="R4bca849c3e8546ae"/>
    <p:sldId xmlns:r="http://schemas.openxmlformats.org/officeDocument/2006/relationships" id="302" r:id="R59e5273eacdd47d5"/>
    <p:sldId xmlns:r="http://schemas.openxmlformats.org/officeDocument/2006/relationships" id="303" r:id="R7b10ed3167d543d0"/>
    <p:sldId xmlns:r="http://schemas.openxmlformats.org/officeDocument/2006/relationships" id="304" r:id="R6094cf84a37349dc"/>
    <p:sldId xmlns:r="http://schemas.openxmlformats.org/officeDocument/2006/relationships" id="305" r:id="R90610c7f60704c6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57e134c5504d2a" /><Relationship Type="http://schemas.openxmlformats.org/officeDocument/2006/relationships/slideMaster" Target="/ppt/slideMasters/slideMaster1.xml" Id="Rec36f26cce534f31" /><Relationship Type="http://schemas.openxmlformats.org/officeDocument/2006/relationships/notesMaster" Target="/ppt/notesMasters/notesMaster1.xml" Id="R42e0435913cc40d0" /><Relationship Type="http://schemas.openxmlformats.org/officeDocument/2006/relationships/presProps" Target="/ppt/presProps.xml" Id="R910d768a087149c0" /><Relationship Type="http://schemas.openxmlformats.org/officeDocument/2006/relationships/tableStyles" Target="/ppt/tableStyles.xml" Id="R79ef843529a44d0b" /><Relationship Type="http://schemas.openxmlformats.org/officeDocument/2006/relationships/slide" Target="/ppt/slides/slide1.xml" Id="R5a692afc21af4845" /><Relationship Type="http://schemas.openxmlformats.org/officeDocument/2006/relationships/slide" Target="/ppt/slides/slide2.xml" Id="R001369bd38034bcc" /><Relationship Type="http://schemas.openxmlformats.org/officeDocument/2006/relationships/slide" Target="/ppt/slides/slide3.xml" Id="R9c18d1be66ad4c32" /><Relationship Type="http://schemas.openxmlformats.org/officeDocument/2006/relationships/slide" Target="/ppt/slides/slide4.xml" Id="Rcdd4ff272d6c40e0" /><Relationship Type="http://schemas.openxmlformats.org/officeDocument/2006/relationships/slide" Target="/ppt/slides/slide5.xml" Id="R051443d4694b4be6" /><Relationship Type="http://schemas.openxmlformats.org/officeDocument/2006/relationships/slide" Target="/ppt/slides/slide6.xml" Id="R5690c53a90ca4002" /><Relationship Type="http://schemas.openxmlformats.org/officeDocument/2006/relationships/slide" Target="/ppt/slides/slide7.xml" Id="Ra1d3dbba67c94661" /><Relationship Type="http://schemas.openxmlformats.org/officeDocument/2006/relationships/slide" Target="/ppt/slides/slide8.xml" Id="R9be7dad4a8254d5c" /><Relationship Type="http://schemas.openxmlformats.org/officeDocument/2006/relationships/slide" Target="/ppt/slides/slide9.xml" Id="R9e1e645185ca4f45" /><Relationship Type="http://schemas.openxmlformats.org/officeDocument/2006/relationships/slide" Target="/ppt/slides/slide10.xml" Id="R6bda72f79f7d43ac" /><Relationship Type="http://schemas.openxmlformats.org/officeDocument/2006/relationships/slide" Target="/ppt/slides/slide11.xml" Id="R3c5488fb6271479e" /><Relationship Type="http://schemas.openxmlformats.org/officeDocument/2006/relationships/slide" Target="/ppt/slides/slide12.xml" Id="R4a5f828ed4c648a1" /><Relationship Type="http://schemas.openxmlformats.org/officeDocument/2006/relationships/slide" Target="/ppt/slides/slide13.xml" Id="R891536fd2c5843b4" /><Relationship Type="http://schemas.openxmlformats.org/officeDocument/2006/relationships/slide" Target="/ppt/slides/slide14.xml" Id="Rbdecd2e75589478b" /><Relationship Type="http://schemas.openxmlformats.org/officeDocument/2006/relationships/slide" Target="/ppt/slides/slide15.xml" Id="Rb2b85069d3d54246" /><Relationship Type="http://schemas.openxmlformats.org/officeDocument/2006/relationships/slide" Target="/ppt/slides/slide16.xml" Id="R37528b59e39b4504" /><Relationship Type="http://schemas.openxmlformats.org/officeDocument/2006/relationships/slide" Target="/ppt/slides/slide17.xml" Id="Rf3a1083569f346b3" /><Relationship Type="http://schemas.openxmlformats.org/officeDocument/2006/relationships/slide" Target="/ppt/slides/slide18.xml" Id="R9808a8999de44698" /><Relationship Type="http://schemas.openxmlformats.org/officeDocument/2006/relationships/slide" Target="/ppt/slides/slide19.xml" Id="R4bf9233dc8ce488f" /><Relationship Type="http://schemas.openxmlformats.org/officeDocument/2006/relationships/slide" Target="/ppt/slides/slide20.xml" Id="Rb329c18858ad4c50" /><Relationship Type="http://schemas.openxmlformats.org/officeDocument/2006/relationships/slide" Target="/ppt/slides/slide21.xml" Id="R6528e53f48954aee" /><Relationship Type="http://schemas.openxmlformats.org/officeDocument/2006/relationships/slide" Target="/ppt/slides/slide22.xml" Id="R01ea85b59748472c" /><Relationship Type="http://schemas.openxmlformats.org/officeDocument/2006/relationships/slide" Target="/ppt/slides/slide23.xml" Id="Rdf2f10a08dd34ca2" /><Relationship Type="http://schemas.openxmlformats.org/officeDocument/2006/relationships/slide" Target="/ppt/slides/slide24.xml" Id="Rc97f2b9ce6ac4d79" /><Relationship Type="http://schemas.openxmlformats.org/officeDocument/2006/relationships/slide" Target="/ppt/slides/slide25.xml" Id="R45c6a477ac1046a5" /><Relationship Type="http://schemas.openxmlformats.org/officeDocument/2006/relationships/slide" Target="/ppt/slides/slide26.xml" Id="Re61ad183d6e5487f" /><Relationship Type="http://schemas.openxmlformats.org/officeDocument/2006/relationships/slide" Target="/ppt/slides/slide27.xml" Id="Rf64f05e06e4e43f5" /><Relationship Type="http://schemas.openxmlformats.org/officeDocument/2006/relationships/slide" Target="/ppt/slides/slide28.xml" Id="R8c61787214ac4d8a" /><Relationship Type="http://schemas.openxmlformats.org/officeDocument/2006/relationships/slide" Target="/ppt/slides/slide29.xml" Id="Re9298112eddb43da" /><Relationship Type="http://schemas.openxmlformats.org/officeDocument/2006/relationships/slide" Target="/ppt/slides/slide30.xml" Id="R1493f5ba2f394ccc" /><Relationship Type="http://schemas.openxmlformats.org/officeDocument/2006/relationships/slide" Target="/ppt/slides/slide31.xml" Id="R7e4509817ca24214" /><Relationship Type="http://schemas.openxmlformats.org/officeDocument/2006/relationships/slide" Target="/ppt/slides/slide32.xml" Id="Refdfa8b527534d45" /><Relationship Type="http://schemas.openxmlformats.org/officeDocument/2006/relationships/slide" Target="/ppt/slides/slide33.xml" Id="R777a3b70482541f8" /><Relationship Type="http://schemas.openxmlformats.org/officeDocument/2006/relationships/slide" Target="/ppt/slides/slide34.xml" Id="R358537680c96466e" /><Relationship Type="http://schemas.openxmlformats.org/officeDocument/2006/relationships/slide" Target="/ppt/slides/slide35.xml" Id="R6578d643b31d4145" /><Relationship Type="http://schemas.openxmlformats.org/officeDocument/2006/relationships/slide" Target="/ppt/slides/slide36.xml" Id="R0ebbc2cab8904a2c" /><Relationship Type="http://schemas.openxmlformats.org/officeDocument/2006/relationships/slide" Target="/ppt/slides/slide37.xml" Id="Rc53e0fe3a66846ea" /><Relationship Type="http://schemas.openxmlformats.org/officeDocument/2006/relationships/slide" Target="/ppt/slides/slide38.xml" Id="R99d6052aae6a4e2e" /><Relationship Type="http://schemas.openxmlformats.org/officeDocument/2006/relationships/slide" Target="/ppt/slides/slide39.xml" Id="Rab27af545d5a4830" /><Relationship Type="http://schemas.openxmlformats.org/officeDocument/2006/relationships/slide" Target="/ppt/slides/slide40.xml" Id="R56a74f5b15d84dd2" /><Relationship Type="http://schemas.openxmlformats.org/officeDocument/2006/relationships/slide" Target="/ppt/slides/slide41.xml" Id="R370036b089094205" /><Relationship Type="http://schemas.openxmlformats.org/officeDocument/2006/relationships/slide" Target="/ppt/slides/slide42.xml" Id="R7f0811e854444ce2" /><Relationship Type="http://schemas.openxmlformats.org/officeDocument/2006/relationships/slide" Target="/ppt/slides/slide43.xml" Id="R7f61783e8b7c4e44" /><Relationship Type="http://schemas.openxmlformats.org/officeDocument/2006/relationships/slide" Target="/ppt/slides/slide44.xml" Id="Rc6c9277834a34a2b" /><Relationship Type="http://schemas.openxmlformats.org/officeDocument/2006/relationships/slide" Target="/ppt/slides/slide45.xml" Id="Rf064fa45cec84fff" /><Relationship Type="http://schemas.openxmlformats.org/officeDocument/2006/relationships/slide" Target="/ppt/slides/slide46.xml" Id="R4bca849c3e8546ae" /><Relationship Type="http://schemas.openxmlformats.org/officeDocument/2006/relationships/slide" Target="/ppt/slides/slide47.xml" Id="R59e5273eacdd47d5" /><Relationship Type="http://schemas.openxmlformats.org/officeDocument/2006/relationships/slide" Target="/ppt/slides/slide48.xml" Id="R7b10ed3167d543d0" /><Relationship Type="http://schemas.openxmlformats.org/officeDocument/2006/relationships/slide" Target="/ppt/slides/slide49.xml" Id="R6094cf84a37349dc" /><Relationship Type="http://schemas.openxmlformats.org/officeDocument/2006/relationships/slide" Target="/ppt/slides/slide50.xml" Id="R90610c7f60704c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8394e54e6b4f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fccbb37fb24f59" /><Relationship Type="http://schemas.openxmlformats.org/officeDocument/2006/relationships/notesMaster" Target="/ppt/notesMasters/notesMaster1.xml" Id="R9143a183206a40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bc20e11a4741e7" /><Relationship Type="http://schemas.openxmlformats.org/officeDocument/2006/relationships/notesMaster" Target="/ppt/notesMasters/notesMaster1.xml" Id="R1678fbf9073e4d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1ffbe38942410d" /><Relationship Type="http://schemas.openxmlformats.org/officeDocument/2006/relationships/notesMaster" Target="/ppt/notesMasters/notesMaster1.xml" Id="R37df686ec74440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630377c4f24058" /><Relationship Type="http://schemas.openxmlformats.org/officeDocument/2006/relationships/notesMaster" Target="/ppt/notesMasters/notesMaster1.xml" Id="R7331bf783e144a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72a3f2ced84618" /><Relationship Type="http://schemas.openxmlformats.org/officeDocument/2006/relationships/notesMaster" Target="/ppt/notesMasters/notesMaster1.xml" Id="R4120e9fe9a6b46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6e312750a74456" /><Relationship Type="http://schemas.openxmlformats.org/officeDocument/2006/relationships/notesMaster" Target="/ppt/notesMasters/notesMaster1.xml" Id="Ra7a26899a49f48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ef2c50cbde4f44" /><Relationship Type="http://schemas.openxmlformats.org/officeDocument/2006/relationships/notesMaster" Target="/ppt/notesMasters/notesMaster1.xml" Id="Re4782d7e459d45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2462b574cf4ead" /><Relationship Type="http://schemas.openxmlformats.org/officeDocument/2006/relationships/notesMaster" Target="/ppt/notesMasters/notesMaster1.xml" Id="R1bc59b1fb0b04c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4e616f37ce4103" /><Relationship Type="http://schemas.openxmlformats.org/officeDocument/2006/relationships/notesMaster" Target="/ppt/notesMasters/notesMaster1.xml" Id="R469464e29bb24d9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c0d1b045a34285" /><Relationship Type="http://schemas.openxmlformats.org/officeDocument/2006/relationships/notesMaster" Target="/ppt/notesMasters/notesMaster1.xml" Id="R2143b37c1fb74c7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03bc5852d6476d" /><Relationship Type="http://schemas.openxmlformats.org/officeDocument/2006/relationships/notesMaster" Target="/ppt/notesMasters/notesMaster1.xml" Id="Ref50d6fcbb344f3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7f3c0978ebc4bad" /><Relationship Type="http://schemas.openxmlformats.org/officeDocument/2006/relationships/notesMaster" Target="/ppt/notesMasters/notesMaster1.xml" Id="Ra5ff38df0e7949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58eb671922f413b" /><Relationship Type="http://schemas.openxmlformats.org/officeDocument/2006/relationships/notesMaster" Target="/ppt/notesMasters/notesMaster1.xml" Id="Rd41d46e17ec0417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447bb0d68c14244" /><Relationship Type="http://schemas.openxmlformats.org/officeDocument/2006/relationships/notesMaster" Target="/ppt/notesMasters/notesMaster1.xml" Id="R068e5cf08db7498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fa349d95dcc4fd3" /><Relationship Type="http://schemas.openxmlformats.org/officeDocument/2006/relationships/notesMaster" Target="/ppt/notesMasters/notesMaster1.xml" Id="R9cfed04df82544a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e4c108016da4d87" /><Relationship Type="http://schemas.openxmlformats.org/officeDocument/2006/relationships/notesMaster" Target="/ppt/notesMasters/notesMaster1.xml" Id="Rc76014bf187b428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141a1699c8c4b62" /><Relationship Type="http://schemas.openxmlformats.org/officeDocument/2006/relationships/notesMaster" Target="/ppt/notesMasters/notesMaster1.xml" Id="R0b5ce94a18de405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83b2180d4ea4806" /><Relationship Type="http://schemas.openxmlformats.org/officeDocument/2006/relationships/notesMaster" Target="/ppt/notesMasters/notesMaster1.xml" Id="R67b3c54e96b84fc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c8f074b0f134299" /><Relationship Type="http://schemas.openxmlformats.org/officeDocument/2006/relationships/notesMaster" Target="/ppt/notesMasters/notesMaster1.xml" Id="R2f0482e08ee5487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98ba6971a54447b" /><Relationship Type="http://schemas.openxmlformats.org/officeDocument/2006/relationships/notesMaster" Target="/ppt/notesMasters/notesMaster1.xml" Id="Ref002ab9379d43e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b7ffa44581f4363" /><Relationship Type="http://schemas.openxmlformats.org/officeDocument/2006/relationships/notesMaster" Target="/ppt/notesMasters/notesMaster1.xml" Id="Ra0449646dec9483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19f2bb4b5074bfe" /><Relationship Type="http://schemas.openxmlformats.org/officeDocument/2006/relationships/notesMaster" Target="/ppt/notesMasters/notesMaster1.xml" Id="R0e1a77c907c3486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5bbafd00c254ad0" /><Relationship Type="http://schemas.openxmlformats.org/officeDocument/2006/relationships/notesMaster" Target="/ppt/notesMasters/notesMaster1.xml" Id="Re388ed424a0244e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817d94f31d846a6" /><Relationship Type="http://schemas.openxmlformats.org/officeDocument/2006/relationships/notesMaster" Target="/ppt/notesMasters/notesMaster1.xml" Id="Re3497f5f2ca1442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473231cc1044f02" /><Relationship Type="http://schemas.openxmlformats.org/officeDocument/2006/relationships/notesMaster" Target="/ppt/notesMasters/notesMaster1.xml" Id="R78a194b8c7a8487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8ffd4b49a9d4d47" /><Relationship Type="http://schemas.openxmlformats.org/officeDocument/2006/relationships/notesMaster" Target="/ppt/notesMasters/notesMaster1.xml" Id="R4a4de119a60d4da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8f73d547ce44638" /><Relationship Type="http://schemas.openxmlformats.org/officeDocument/2006/relationships/notesMaster" Target="/ppt/notesMasters/notesMaster1.xml" Id="Rbd3e4158ea194f6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066188b37e34067" /><Relationship Type="http://schemas.openxmlformats.org/officeDocument/2006/relationships/notesMaster" Target="/ppt/notesMasters/notesMaster1.xml" Id="R43ce6753e19149a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aedbdc8b43449c8" /><Relationship Type="http://schemas.openxmlformats.org/officeDocument/2006/relationships/notesMaster" Target="/ppt/notesMasters/notesMaster1.xml" Id="R44488f3c5dfd4e5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b33a026d00844e7" /><Relationship Type="http://schemas.openxmlformats.org/officeDocument/2006/relationships/notesMaster" Target="/ppt/notesMasters/notesMaster1.xml" Id="R94150f8dc5fc4c9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13e20902ba84f33" /><Relationship Type="http://schemas.openxmlformats.org/officeDocument/2006/relationships/notesMaster" Target="/ppt/notesMasters/notesMaster1.xml" Id="Rf5352c18983c461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b174d4fd600466b" /><Relationship Type="http://schemas.openxmlformats.org/officeDocument/2006/relationships/notesMaster" Target="/ppt/notesMasters/notesMaster1.xml" Id="R2501c069c6bf4a6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ec72cbdebdb4c1e" /><Relationship Type="http://schemas.openxmlformats.org/officeDocument/2006/relationships/notesMaster" Target="/ppt/notesMasters/notesMaster1.xml" Id="R1f8d0f98cc2843d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619a17e89724fc5" /><Relationship Type="http://schemas.openxmlformats.org/officeDocument/2006/relationships/notesMaster" Target="/ppt/notesMasters/notesMaster1.xml" Id="R2e48e019afc4476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da981a1580a4cf5" /><Relationship Type="http://schemas.openxmlformats.org/officeDocument/2006/relationships/notesMaster" Target="/ppt/notesMasters/notesMaster1.xml" Id="R79d02fa3c2c1415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3d91e8a57924d9d" /><Relationship Type="http://schemas.openxmlformats.org/officeDocument/2006/relationships/notesMaster" Target="/ppt/notesMasters/notesMaster1.xml" Id="R7f71f620b29f4bd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654f1009bcd4860" /><Relationship Type="http://schemas.openxmlformats.org/officeDocument/2006/relationships/notesMaster" Target="/ppt/notesMasters/notesMaster1.xml" Id="Rbac4a1c522c6417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6b60d42b26842db" /><Relationship Type="http://schemas.openxmlformats.org/officeDocument/2006/relationships/notesMaster" Target="/ppt/notesMasters/notesMaster1.xml" Id="Re1cbbf7dfb824f0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5255bd770214df5" /><Relationship Type="http://schemas.openxmlformats.org/officeDocument/2006/relationships/notesMaster" Target="/ppt/notesMasters/notesMaster1.xml" Id="R0d00b13a9d2a4bc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fdbae201f3f4fa0" /><Relationship Type="http://schemas.openxmlformats.org/officeDocument/2006/relationships/notesMaster" Target="/ppt/notesMasters/notesMaster1.xml" Id="Rf284956886cf424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cb108aaa50d496c" /><Relationship Type="http://schemas.openxmlformats.org/officeDocument/2006/relationships/notesMaster" Target="/ppt/notesMasters/notesMaster1.xml" Id="R5ddd405554ca44b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f6cded7e25a4a15" /><Relationship Type="http://schemas.openxmlformats.org/officeDocument/2006/relationships/notesMaster" Target="/ppt/notesMasters/notesMaster1.xml" Id="R2cb07801843d4d1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07f350bef93f4bb4" /><Relationship Type="http://schemas.openxmlformats.org/officeDocument/2006/relationships/notesMaster" Target="/ppt/notesMasters/notesMaster1.xml" Id="R0328f191a559418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3fcbe2544b64603" /><Relationship Type="http://schemas.openxmlformats.org/officeDocument/2006/relationships/notesMaster" Target="/ppt/notesMasters/notesMaster1.xml" Id="Rabb1188895b943d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73d0e24ac434cd5" /><Relationship Type="http://schemas.openxmlformats.org/officeDocument/2006/relationships/notesMaster" Target="/ppt/notesMasters/notesMaster1.xml" Id="R0fcfd2eab6134a5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edd248cb46e4d8c" /><Relationship Type="http://schemas.openxmlformats.org/officeDocument/2006/relationships/notesMaster" Target="/ppt/notesMasters/notesMaster1.xml" Id="Red085697c42b469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bd15896bae74b99" /><Relationship Type="http://schemas.openxmlformats.org/officeDocument/2006/relationships/notesMaster" Target="/ppt/notesMasters/notesMaster1.xml" Id="R7c1d42a7994f4ded"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b5d72b125df43bd" /><Relationship Type="http://schemas.openxmlformats.org/officeDocument/2006/relationships/notesMaster" Target="/ppt/notesMasters/notesMaster1.xml" Id="R817815c27d1d407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314e12bca9b47fe" /><Relationship Type="http://schemas.openxmlformats.org/officeDocument/2006/relationships/notesMaster" Target="/ppt/notesMasters/notesMaster1.xml" Id="Rf3b9b6d590b74ac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d3923f1ffd54075" /><Relationship Type="http://schemas.openxmlformats.org/officeDocument/2006/relationships/notesMaster" Target="/ppt/notesMasters/notesMaster1.xml" Id="R3002945742d746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Display first. Students work independently in books for 8-10 minutes. The extension is a connected wetland paragraph. No marking routine is projected.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teach the rule, then move directly to the question. The reminder example differs from the assessed item.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one visible student response using the class's normal response routine. No generic whiteboard instruction is displayed.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immediately. Ask students to locate the changed word or punctuation and explain why it improves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teach the rule, then move directly to the question. The reminder example differs from the assessed item.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one visible student response using the class's normal response routine. No generic whiteboard instruction is displayed.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immediately. Ask students to locate the changed word or punctuation and explain why it improves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teach the rule, then move directly to the question. The reminder example differs from the assessed item.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one visible student response using the class's normal response routine. No generic whiteboard instruction is displayed.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immediately. Ask students to locate the changed word or punctuation and explain why it improves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teach the rule, then move directly to the question. The reminder example differs from the assessed item.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one visible student response using the class's normal response routine. No generic whiteboard instruction is displayed.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immediately. Ask students to locate the changed word or punctuation and explain why it improves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teach the rule, then move directly to the question. The reminder example differs from the assessed item.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one visible student response using the class's normal response routine. No generic whiteboard instruction is displayed.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immediately. Ask students to locate the changed word or punctuation and explain why it improves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teach the rule, then move directly to the question. The reminder example differs from the assessed item.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one visible student response using the class's normal response routine. No generic whiteboard instruction is displayed.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immediately. Ask students to locate the changed word or punctuation and explain why it improves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teach the rule, then move directly to the question. The reminder example differs from the assessed item.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one visible student response using the class's normal response routine. No generic whiteboard instruction is displayed.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immediately. Ask students to locate the changed word or punctuation and explain why it improves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teach the rule, then move directly to the question. The reminder example differs from the assessed item.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one visible student response using the class's normal response routine. No generic whiteboard instruction is displayed.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immediately. Ask students to locate the changed word or punctuation and explain why it improves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teach the rule, then move directly to the question. The reminder example differs from the assessed item.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one visible student response using the class's normal response routine. No generic whiteboard instruction is displayed.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immediately. Ask students to locate the changed word or punctuation and explain why it improves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teach the rule, then move directly to the question. The reminder example differs from the assessed item.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one visible student response using the class's normal response routine. No generic whiteboard instruction is displayed.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immediately. Ask students to locate the changed word or punctuation and explain why it improves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short paragraph aloud once. Students reread and answer only from the evidence displayed on this slide.</a:t>
            </a:r>
          </a:p>
          <a:p xmlns:a="http://schemas.openxmlformats.org/drawingml/2006/main">
            <a:r>
              <a:t/>
            </a:r>
          </a:p>
          <a:p xmlns:a="http://schemas.openxmlformats.org/drawingml/2006/main">
            <a:r>
              <a:t>[Sources]</a:t>
            </a:r>
          </a:p>
          <a:p xmlns:a="http://schemas.openxmlformats.org/drawingml/2006/main">
            <a:r>
              <a:t>- https://www.gub.uy/ministerio-economia-finanzas/institucional/uruguay/ubicacion-geografica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student responses with the model. Name the exact words in the paragraph that support the answer.</a:t>
            </a:r>
          </a:p>
          <a:p xmlns:a="http://schemas.openxmlformats.org/drawingml/2006/main">
            <a:r>
              <a:t/>
            </a:r>
          </a:p>
          <a:p xmlns:a="http://schemas.openxmlformats.org/drawingml/2006/main">
            <a:r>
              <a:t>[Sources]</a:t>
            </a:r>
          </a:p>
          <a:p xmlns:a="http://schemas.openxmlformats.org/drawingml/2006/main">
            <a:r>
              <a:t>- https://www.gub.uy/ministerio-economia-finanzas/institucional/uruguay/ubicacion-geografica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short paragraph aloud once. Students reread and answer only from the evidence displayed on this slide.</a:t>
            </a:r>
          </a:p>
          <a:p xmlns:a="http://schemas.openxmlformats.org/drawingml/2006/main">
            <a:r>
              <a:t/>
            </a:r>
          </a:p>
          <a:p xmlns:a="http://schemas.openxmlformats.org/drawingml/2006/main">
            <a:r>
              <a:t>[Sources]</a:t>
            </a:r>
          </a:p>
          <a:p xmlns:a="http://schemas.openxmlformats.org/drawingml/2006/main">
            <a:r>
              <a:t>- https://www.gub.uy/ministerio-ambiente/politicas-y-gestion/ambientes-del-uruguay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student responses with the model. Name the exact words in the paragraph that support the answer.</a:t>
            </a:r>
          </a:p>
          <a:p xmlns:a="http://schemas.openxmlformats.org/drawingml/2006/main">
            <a:r>
              <a:t/>
            </a:r>
          </a:p>
          <a:p xmlns:a="http://schemas.openxmlformats.org/drawingml/2006/main">
            <a:r>
              <a:t>[Sources]</a:t>
            </a:r>
          </a:p>
          <a:p xmlns:a="http://schemas.openxmlformats.org/drawingml/2006/main">
            <a:r>
              <a:t>- https://www.gub.uy/ministerio-ambiente/politicas-y-gestion/ambientes-del-uruguay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short paragraph aloud once. Students reread and answer only from the evidence displayed on this slide.</a:t>
            </a:r>
          </a:p>
          <a:p xmlns:a="http://schemas.openxmlformats.org/drawingml/2006/main">
            <a:r>
              <a:t/>
            </a:r>
          </a:p>
          <a:p xmlns:a="http://schemas.openxmlformats.org/drawingml/2006/main">
            <a:r>
              <a:t>[Sources]</a:t>
            </a:r>
          </a:p>
          <a:p xmlns:a="http://schemas.openxmlformats.org/drawingml/2006/main">
            <a:r>
              <a:t>- https://www.gub.uy/ministerio-ambiente/politicas-y-gestion/ambientes-del-uruguay</a:t>
            </a:r>
          </a:p>
          <a:p xmlns:a="http://schemas.openxmlformats.org/drawingml/2006/main">
            <a:r>
              <a:t>- https://www.gub.uy/instituto-nacional-estadistica/comunicacion/publicaciones/anuario-estadistico-nacional-2025-vol-102/42-agropecuario/427-area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student responses with the model. Name the exact words in the paragraph that support the answer.</a:t>
            </a:r>
          </a:p>
          <a:p xmlns:a="http://schemas.openxmlformats.org/drawingml/2006/main">
            <a:r>
              <a:t/>
            </a:r>
          </a:p>
          <a:p xmlns:a="http://schemas.openxmlformats.org/drawingml/2006/main">
            <a:r>
              <a:t>[Sources]</a:t>
            </a:r>
          </a:p>
          <a:p xmlns:a="http://schemas.openxmlformats.org/drawingml/2006/main">
            <a:r>
              <a:t>- https://www.gub.uy/ministerio-ambiente/politicas-y-gestion/ambientes-del-uruguay</a:t>
            </a:r>
          </a:p>
          <a:p xmlns:a="http://schemas.openxmlformats.org/drawingml/2006/main">
            <a:r>
              <a:t>- https://www.gub.uy/instituto-nacional-estadistica/comunicacion/publicaciones/anuario-estadistico-nacional-2025-vol-102/42-agropecuario/427-area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short paragraph aloud once. Students reread and answer only from the evidence displayed on this slide.</a:t>
            </a:r>
          </a:p>
          <a:p xmlns:a="http://schemas.openxmlformats.org/drawingml/2006/main">
            <a:r>
              <a:t/>
            </a:r>
          </a:p>
          <a:p xmlns:a="http://schemas.openxmlformats.org/drawingml/2006/main">
            <a:r>
              <a:t>[Sources]</a:t>
            </a:r>
          </a:p>
          <a:p xmlns:a="http://schemas.openxmlformats.org/drawingml/2006/main">
            <a:r>
              <a:t>- https://www.gub.uy/ministerio-economia-finanzas/institucional/uruguay/regiones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student responses with the model. Name the exact words in the paragraph that support the answer.</a:t>
            </a:r>
          </a:p>
          <a:p xmlns:a="http://schemas.openxmlformats.org/drawingml/2006/main">
            <a:r>
              <a:t/>
            </a:r>
          </a:p>
          <a:p xmlns:a="http://schemas.openxmlformats.org/drawingml/2006/main">
            <a:r>
              <a:t>[Sources]</a:t>
            </a:r>
          </a:p>
          <a:p xmlns:a="http://schemas.openxmlformats.org/drawingml/2006/main">
            <a:r>
              <a:t>- https://www.gub.uy/ministerio-economia-finanzas/institucional/uruguay/regiones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short paragraph aloud once. Students reread and answer only from the evidence displayed on this slide.</a:t>
            </a:r>
          </a:p>
          <a:p xmlns:a="http://schemas.openxmlformats.org/drawingml/2006/main">
            <a:r>
              <a:t/>
            </a:r>
          </a:p>
          <a:p xmlns:a="http://schemas.openxmlformats.org/drawingml/2006/main">
            <a:r>
              <a:t>[Sources]</a:t>
            </a:r>
          </a:p>
          <a:p xmlns:a="http://schemas.openxmlformats.org/drawingml/2006/main">
            <a:r>
              <a:t>- https://www.iea.org/countries/uruguay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student responses with the model. Name the exact words in the paragraph that support the answer.</a:t>
            </a:r>
          </a:p>
          <a:p xmlns:a="http://schemas.openxmlformats.org/drawingml/2006/main">
            <a:r>
              <a:t/>
            </a:r>
          </a:p>
          <a:p xmlns:a="http://schemas.openxmlformats.org/drawingml/2006/main">
            <a:r>
              <a:t>[Sources]</a:t>
            </a:r>
          </a:p>
          <a:p xmlns:a="http://schemas.openxmlformats.org/drawingml/2006/main">
            <a:r>
              <a:t>- https://www.iea.org/countries/uruguay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learning intention and success criteria. Tuesday is the explicit-teaching stage of the Information Report toolkit.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controlled substitutions only. Both revised sentences preserve the original proposition while naming more exact participants or places.</a:t>
            </a:r>
          </a:p>
          <a:p xmlns:a="http://schemas.openxmlformats.org/drawingml/2006/main">
            <a:r>
              <a:t/>
            </a:r>
          </a:p>
          <a:p xmlns:a="http://schemas.openxmlformats.org/drawingml/2006/main">
            <a:r>
              <a:t>[Sources]</a:t>
            </a:r>
          </a:p>
          <a:p xmlns:a="http://schemas.openxmlformats.org/drawingml/2006/main">
            <a:r>
              <a:t>- https://www.gub.uy/ministerio-ambiente/politicas-y-gestion/ambientes-del-uruguay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Emphasise that formal-sounding vocabulary is not automatically more precise. Students must preserve intended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model aloud. Explain how the sentence is natural, non-redundant and accurate.</a:t>
            </a:r>
          </a:p>
          <a:p xmlns:a="http://schemas.openxmlformats.org/drawingml/2006/main">
            <a:r>
              <a:t/>
            </a:r>
          </a:p>
          <a:p xmlns:a="http://schemas.openxmlformats.org/drawingml/2006/main">
            <a:r>
              <a:t>[Sources]</a:t>
            </a:r>
          </a:p>
          <a:p xmlns:a="http://schemas.openxmlformats.org/drawingml/2006/main">
            <a:r>
              <a:t>- https://www.gub.uy/ministerio-ambiente/politicas-y-gestion/ambientes-del-uruguay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the distinction: the first pair is a meaning-preserving substitution; the second model deliberately adds facts and is labelled elaboration.</a:t>
            </a:r>
          </a:p>
          <a:p xmlns:a="http://schemas.openxmlformats.org/drawingml/2006/main">
            <a:r>
              <a:t/>
            </a:r>
          </a:p>
          <a:p xmlns:a="http://schemas.openxmlformats.org/drawingml/2006/main">
            <a:r>
              <a:t>[Sources]</a:t>
            </a:r>
          </a:p>
          <a:p xmlns:a="http://schemas.openxmlformats.org/drawingml/2006/main">
            <a:r>
              <a:t>- https://www.iea.org/countries/uruguay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Jointly construct two sentences. Keep each fact supported by the supplied content and avoid adding unsupported claims.</a:t>
            </a:r>
          </a:p>
          <a:p xmlns:a="http://schemas.openxmlformats.org/drawingml/2006/main">
            <a:r>
              <a:t/>
            </a:r>
          </a:p>
          <a:p xmlns:a="http://schemas.openxmlformats.org/drawingml/2006/main">
            <a:r>
              <a:t>[Sources]</a:t>
            </a:r>
          </a:p>
          <a:p xmlns:a="http://schemas.openxmlformats.org/drawingml/2006/main">
            <a:r>
              <a:t>- https://www.gub.uy/ministerio-economia-finanzas/institucional/uruguay/ubicacion-geografica</a:t>
            </a:r>
          </a:p>
          <a:p xmlns:a="http://schemas.openxmlformats.org/drawingml/2006/main">
            <a:r>
              <a:t>- https://www.gub.uy/ministerio-economia-finanzas/institucional/uruguay/regiones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with the jointly constructed response. Accept accurate alternatives that preserve meaning.</a:t>
            </a:r>
          </a:p>
          <a:p xmlns:a="http://schemas.openxmlformats.org/drawingml/2006/main">
            <a:r>
              <a:t/>
            </a:r>
          </a:p>
          <a:p xmlns:a="http://schemas.openxmlformats.org/drawingml/2006/main">
            <a:r>
              <a:t>[Sources]</a:t>
            </a:r>
          </a:p>
          <a:p xmlns:a="http://schemas.openxmlformats.org/drawingml/2006/main">
            <a:r>
              <a:t>- https://www.gub.uy/ministerio-economia-finanzas/institucional/uruguay/ubicacion-geografica</a:t>
            </a:r>
          </a:p>
          <a:p xmlns:a="http://schemas.openxmlformats.org/drawingml/2006/main">
            <a:r>
              <a:t>- https://www.gub.uy/ministerio-economia-finanzas/institucional/uruguay/regiones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writing in books. Confer for meaning preservation and accurate technical vocabulary. Do not require topic-specific facts beyond the student's planned report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Collect or sight the sentence stem as exit evidence. Record whether students preserved meaning, added precision and used the word accurately.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af80a0d8fe42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4a102969964749" /><Relationship Type="http://schemas.openxmlformats.org/officeDocument/2006/relationships/slideLayout" Target="/ppt/slideLayouts/slideLayout1.xml" Id="Rd0bdfb2979bb48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bdfb2979bb48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a8100f4e964ab6" /><Relationship Type="http://schemas.openxmlformats.org/officeDocument/2006/relationships/notesSlide" Target="/ppt/notesSlides/notesSlide1.xml" Id="R917f330a73f149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2b15ad0c7b447d7" /><Relationship Type="http://schemas.openxmlformats.org/officeDocument/2006/relationships/notesSlide" Target="/ppt/notesSlides/notesSlide2.xml" Id="R30459805ddb842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100394c08bb4783" /><Relationship Type="http://schemas.openxmlformats.org/officeDocument/2006/relationships/notesSlide" Target="/ppt/notesSlides/notesSlide3.xml" Id="Re37ff05a46864d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930ef1ad4434405" /><Relationship Type="http://schemas.openxmlformats.org/officeDocument/2006/relationships/notesSlide" Target="/ppt/notesSlides/notesSlide4.xml" Id="Rc6ca029ca69e49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3a7b90b1e25495d" /><Relationship Type="http://schemas.openxmlformats.org/officeDocument/2006/relationships/notesSlide" Target="/ppt/notesSlides/notesSlide5.xml" Id="Rb1edae18564144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6798fae07be47e2" /><Relationship Type="http://schemas.openxmlformats.org/officeDocument/2006/relationships/notesSlide" Target="/ppt/notesSlides/notesSlide6.xml" Id="R87b1174fd9c647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401c5e1f04444f4" /><Relationship Type="http://schemas.openxmlformats.org/officeDocument/2006/relationships/notesSlide" Target="/ppt/notesSlides/notesSlide7.xml" Id="R824bd167acbf4c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74972be98ef4767" /><Relationship Type="http://schemas.openxmlformats.org/officeDocument/2006/relationships/notesSlide" Target="/ppt/notesSlides/notesSlide8.xml" Id="Rf2dd59477ab246b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895efdc913a4308" /><Relationship Type="http://schemas.openxmlformats.org/officeDocument/2006/relationships/notesSlide" Target="/ppt/notesSlides/notesSlide9.xml" Id="Rba25d03d739f48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6905108a5914ae6" /><Relationship Type="http://schemas.openxmlformats.org/officeDocument/2006/relationships/notesSlide" Target="/ppt/notesSlides/notesSlide10.xml" Id="R675012543fa346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d7158cc155a4a30" /><Relationship Type="http://schemas.openxmlformats.org/officeDocument/2006/relationships/notesSlide" Target="/ppt/notesSlides/notesSlide11.xml" Id="R421258017b2946e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b0fdfe620c34e89" /><Relationship Type="http://schemas.openxmlformats.org/officeDocument/2006/relationships/notesSlide" Target="/ppt/notesSlides/notesSlide12.xml" Id="R322b8dc4427c406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ffc466ae1374229" /><Relationship Type="http://schemas.openxmlformats.org/officeDocument/2006/relationships/notesSlide" Target="/ppt/notesSlides/notesSlide13.xml" Id="R5984e872ec2248d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7ed3ab7cb334723" /><Relationship Type="http://schemas.openxmlformats.org/officeDocument/2006/relationships/notesSlide" Target="/ppt/notesSlides/notesSlide14.xml" Id="R6b47d2288149449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4d3564ef61749fd" /><Relationship Type="http://schemas.openxmlformats.org/officeDocument/2006/relationships/notesSlide" Target="/ppt/notesSlides/notesSlide15.xml" Id="Rba5a7ca99d2b4fd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c34d9532f6746ae" /><Relationship Type="http://schemas.openxmlformats.org/officeDocument/2006/relationships/notesSlide" Target="/ppt/notesSlides/notesSlide16.xml" Id="R752bdfbb1964469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ab723b063fd48de" /><Relationship Type="http://schemas.openxmlformats.org/officeDocument/2006/relationships/notesSlide" Target="/ppt/notesSlides/notesSlide17.xml" Id="Rc1a58cd1f601479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86f2d660e4c4b3a" /><Relationship Type="http://schemas.openxmlformats.org/officeDocument/2006/relationships/notesSlide" Target="/ppt/notesSlides/notesSlide18.xml" Id="R2832327bb73c4a7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7a7fb2b12bf45f7" /><Relationship Type="http://schemas.openxmlformats.org/officeDocument/2006/relationships/notesSlide" Target="/ppt/notesSlides/notesSlide19.xml" Id="R3961c2d511964b8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2cf53055fe74795" /><Relationship Type="http://schemas.openxmlformats.org/officeDocument/2006/relationships/notesSlide" Target="/ppt/notesSlides/notesSlide20.xml" Id="R74da5b6cb2664a6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c86f9cf8e454f1b" /><Relationship Type="http://schemas.openxmlformats.org/officeDocument/2006/relationships/notesSlide" Target="/ppt/notesSlides/notesSlide21.xml" Id="Rfcc1b60faa2c421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7aadbb6ff1d43cc" /><Relationship Type="http://schemas.openxmlformats.org/officeDocument/2006/relationships/notesSlide" Target="/ppt/notesSlides/notesSlide22.xml" Id="R3e074fd2125246e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9c742a98eee434b" /><Relationship Type="http://schemas.openxmlformats.org/officeDocument/2006/relationships/notesSlide" Target="/ppt/notesSlides/notesSlide23.xml" Id="R966c5dc87ce8426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e2e674106c84b50" /><Relationship Type="http://schemas.openxmlformats.org/officeDocument/2006/relationships/notesSlide" Target="/ppt/notesSlides/notesSlide24.xml" Id="Rb7673a0906894eb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934410134794a5d" /><Relationship Type="http://schemas.openxmlformats.org/officeDocument/2006/relationships/notesSlide" Target="/ppt/notesSlides/notesSlide25.xml" Id="R3ebae9debbea4f5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37872412e934f23" /><Relationship Type="http://schemas.openxmlformats.org/officeDocument/2006/relationships/notesSlide" Target="/ppt/notesSlides/notesSlide26.xml" Id="R514dc1dedbfe4b4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f47b3269a804437" /><Relationship Type="http://schemas.openxmlformats.org/officeDocument/2006/relationships/notesSlide" Target="/ppt/notesSlides/notesSlide27.xml" Id="Re277061d6d6249a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8a53daaa040459a" /><Relationship Type="http://schemas.openxmlformats.org/officeDocument/2006/relationships/notesSlide" Target="/ppt/notesSlides/notesSlide28.xml" Id="Ra6d39e580da5442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b59ca44c01d458a" /><Relationship Type="http://schemas.openxmlformats.org/officeDocument/2006/relationships/notesSlide" Target="/ppt/notesSlides/notesSlide29.xml" Id="Rdb19beaea8d64ab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a2d72a8903845d5" /><Relationship Type="http://schemas.openxmlformats.org/officeDocument/2006/relationships/notesSlide" Target="/ppt/notesSlides/notesSlide30.xml" Id="R66489a0022074f3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0a165ef108c471c" /><Relationship Type="http://schemas.openxmlformats.org/officeDocument/2006/relationships/notesSlide" Target="/ppt/notesSlides/notesSlide31.xml" Id="Rddd0ab286aa0432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4bb9733acc34e78" /><Relationship Type="http://schemas.openxmlformats.org/officeDocument/2006/relationships/notesSlide" Target="/ppt/notesSlides/notesSlide32.xml" Id="Rcf216f6acf9d427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8db796d7a484883" /><Relationship Type="http://schemas.openxmlformats.org/officeDocument/2006/relationships/notesSlide" Target="/ppt/notesSlides/notesSlide33.xml" Id="R00696e735c2a4dc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7961c40ef03486a" /><Relationship Type="http://schemas.openxmlformats.org/officeDocument/2006/relationships/notesSlide" Target="/ppt/notesSlides/notesSlide34.xml" Id="R5a714ee9561c4a4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843007d0bf64717" /><Relationship Type="http://schemas.openxmlformats.org/officeDocument/2006/relationships/notesSlide" Target="/ppt/notesSlides/notesSlide35.xml" Id="R3687847e1d3f497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2511d20c3b64029" /><Relationship Type="http://schemas.openxmlformats.org/officeDocument/2006/relationships/notesSlide" Target="/ppt/notesSlides/notesSlide36.xml" Id="Ra734ee04cee042e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908a0d92f164fd4" /><Relationship Type="http://schemas.openxmlformats.org/officeDocument/2006/relationships/notesSlide" Target="/ppt/notesSlides/notesSlide37.xml" Id="Rabaced2d7159471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d6a541302f84c87" /><Relationship Type="http://schemas.openxmlformats.org/officeDocument/2006/relationships/notesSlide" Target="/ppt/notesSlides/notesSlide38.xml" Id="Rb42906234207453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92037f97c374223" /><Relationship Type="http://schemas.openxmlformats.org/officeDocument/2006/relationships/notesSlide" Target="/ppt/notesSlides/notesSlide39.xml" Id="R61f353d05879458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07be0a8a2b84bb1" /><Relationship Type="http://schemas.openxmlformats.org/officeDocument/2006/relationships/notesSlide" Target="/ppt/notesSlides/notesSlide40.xml" Id="R5cdd473597f6443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2971a642c11d4adf" /><Relationship Type="http://schemas.openxmlformats.org/officeDocument/2006/relationships/notesSlide" Target="/ppt/notesSlides/notesSlide41.xml" Id="Rba2bb13ff63a478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8a4966115d744b7d" /><Relationship Type="http://schemas.openxmlformats.org/officeDocument/2006/relationships/notesSlide" Target="/ppt/notesSlides/notesSlide42.xml" Id="R7035372043714ee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c6511e7010ef4cda" /><Relationship Type="http://schemas.openxmlformats.org/officeDocument/2006/relationships/notesSlide" Target="/ppt/notesSlides/notesSlide43.xml" Id="Rd929086dcad24a2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66b918bbc8a4e65" /><Relationship Type="http://schemas.openxmlformats.org/officeDocument/2006/relationships/notesSlide" Target="/ppt/notesSlides/notesSlide44.xml" Id="R7d8e97e43ce2475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dbc3a13b36e047eb" /><Relationship Type="http://schemas.openxmlformats.org/officeDocument/2006/relationships/notesSlide" Target="/ppt/notesSlides/notesSlide45.xml" Id="R06006a1a48604d2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2d258b60d391418c" /><Relationship Type="http://schemas.openxmlformats.org/officeDocument/2006/relationships/notesSlide" Target="/ppt/notesSlides/notesSlide46.xml" Id="R42afb419b81943b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f899e4edb7a4219" /><Relationship Type="http://schemas.openxmlformats.org/officeDocument/2006/relationships/notesSlide" Target="/ppt/notesSlides/notesSlide47.xml" Id="R71b190f35068476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44e0847b22254875" /><Relationship Type="http://schemas.openxmlformats.org/officeDocument/2006/relationships/notesSlide" Target="/ppt/notesSlides/notesSlide48.xml" Id="Rec2c8cbbe2f4420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c9f7fff2af24bbe" /><Relationship Type="http://schemas.openxmlformats.org/officeDocument/2006/relationships/notesSlide" Target="/ppt/notesSlides/notesSlide49.xml" Id="R21f6441b96e246a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dcf95af51d8a4d42" /><Relationship Type="http://schemas.openxmlformats.org/officeDocument/2006/relationships/notesSlide" Target="/ppt/notesSlides/notesSlide50.xml" Id="Rdc00b9ecd1c94cd6" /></Relationships>
</file>

<file path=ppt/slides/slide1.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3" name="section_bar_1">
            <a:extLst xmlns:a="http://schemas.openxmlformats.org/drawingml/2006/main">
              <a:ext uri="{FF2B5EF4-FFF2-40B4-BE49-F238E27FC236}">
                <a16:creationId xmlns:a16="http://schemas.microsoft.com/office/drawing/2014/main" id="{23507566-7227-4DC3-BD87-2E5E2EF82A3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03A5E"/>
          </a:solidFill>
          <a:ln xmlns:a="http://schemas.openxmlformats.org/drawingml/2006/main" w="0">
            <a:noFill/>
            <a:prstDash val="solid"/>
          </a:ln>
        </p:spPr>
      </p:sp>
      <p:sp>
        <p:nvSpPr>
          <p:cNvPr id="2" name="kicker_1">
            <a:extLst xmlns:a="http://schemas.openxmlformats.org/drawingml/2006/main">
              <a:ext uri="{FF2B5EF4-FFF2-40B4-BE49-F238E27FC236}">
                <a16:creationId xmlns:a16="http://schemas.microsoft.com/office/drawing/2014/main" id="{FEE6EA8B-0B90-4139-A784-2B8EB9E57A5B}"/>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103A5E"/>
                </a:solidFill>
                <a:latin typeface="Trebuchet MS"/>
                <a:ea typeface="Trebuchet MS"/>
                <a:cs typeface="Trebuchet MS"/>
              </a:defRPr>
            </a:pPr>
            <a:r>
              <a:rPr sz="1800" b="1">
                <a:solidFill>
                  <a:srgbClr val="103A5E"/>
                </a:solidFill>
                <a:latin typeface="Trebuchet MS"/>
                <a:ea typeface="Trebuchet MS"/>
                <a:cs typeface="Trebuchet MS"/>
              </a:rPr>
              <a:t>MORNING WORK</a:t>
            </a:r>
          </a:p>
        </p:txBody>
      </p:sp>
      <p:sp>
        <p:nvSpPr>
          <p:cNvPr id="3" name="title_1">
            <a:extLst xmlns:a="http://schemas.openxmlformats.org/drawingml/2006/main">
              <a:ext uri="{FF2B5EF4-FFF2-40B4-BE49-F238E27FC236}">
                <a16:creationId xmlns:a16="http://schemas.microsoft.com/office/drawing/2014/main" id="{E9100C72-1C39-4EB7-95C7-EE4860D94D66}"/>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Morning Work • Tuesday 25 August 2026</a:t>
            </a:r>
          </a:p>
        </p:txBody>
      </p:sp>
      <p:sp>
        <p:nvSpPr>
          <p:cNvPr id="4" name="page_1">
            <a:extLst xmlns:a="http://schemas.openxmlformats.org/drawingml/2006/main">
              <a:ext uri="{FF2B5EF4-FFF2-40B4-BE49-F238E27FC236}">
                <a16:creationId xmlns:a16="http://schemas.microsoft.com/office/drawing/2014/main" id="{1225B094-8BA1-4A26-A08E-852ACCAB082A}"/>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1</a:t>
            </a:r>
          </a:p>
        </p:txBody>
      </p:sp>
      <p:sp>
        <p:nvSpPr>
          <p:cNvPr id="5" name="morning_retrieve_panel">
            <a:extLst xmlns:a="http://schemas.openxmlformats.org/drawingml/2006/main">
              <a:ext uri="{FF2B5EF4-FFF2-40B4-BE49-F238E27FC236}">
                <a16:creationId xmlns:a16="http://schemas.microsoft.com/office/drawing/2014/main" id="{065154DD-76DC-4F64-AED2-80C9319525ED}"/>
              </a:ext>
            </a:extLst>
          </p:cNvPr>
          <p:cNvSpPr>
            <a:spLocks xmlns:a="http://schemas.openxmlformats.org/drawingml/2006/main" noGrp="1"/>
          </p:cNvSpPr>
          <p:nvPr/>
        </p:nvSpPr>
        <p:spPr>
          <a:xfrm xmlns:a="http://schemas.openxmlformats.org/drawingml/2006/main">
            <a:off x="571500" y="1200150"/>
            <a:ext cx="11049000" cy="1352550"/>
          </a:xfrm>
          <a:prstGeom xmlns:a="http://schemas.openxmlformats.org/drawingml/2006/main" prst="roundRect">
            <a:avLst>
              <a:gd name="adj" fmla="val 11268"/>
            </a:avLst>
          </a:prstGeom>
          <a:solidFill xmlns:a="http://schemas.openxmlformats.org/drawingml/2006/main">
            <a:srgbClr val="EAF2F8"/>
          </a:solidFill>
          <a:ln xmlns:a="http://schemas.openxmlformats.org/drawingml/2006/main" w="19050">
            <a:solidFill>
              <a:srgbClr val="7AA7C7"/>
            </a:solidFill>
            <a:prstDash val="solid"/>
          </a:ln>
        </p:spPr>
      </p:sp>
      <p:sp>
        <p:nvSpPr>
          <p:cNvPr id="6" name="morning_retrieve_text">
            <a:extLst xmlns:a="http://schemas.openxmlformats.org/drawingml/2006/main">
              <a:ext uri="{FF2B5EF4-FFF2-40B4-BE49-F238E27FC236}">
                <a16:creationId xmlns:a16="http://schemas.microsoft.com/office/drawing/2014/main" id="{D581B03D-5970-4347-9B81-94E97A767E97}"/>
              </a:ext>
            </a:extLst>
          </p:cNvPr>
          <p:cNvSpPr>
            <a:spLocks xmlns:a="http://schemas.openxmlformats.org/drawingml/2006/main" noGrp="1"/>
          </p:cNvSpPr>
          <p:nvPr/>
        </p:nvSpPr>
        <p:spPr>
          <a:xfrm xmlns:a="http://schemas.openxmlformats.org/drawingml/2006/main">
            <a:off x="819150" y="1447800"/>
            <a:ext cx="105537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000" b="1">
                <a:solidFill>
                  <a:srgbClr val="103A5E"/>
                </a:solidFill>
                <a:latin typeface="Trebuchet MS"/>
                <a:ea typeface="Trebuchet MS"/>
                <a:cs typeface="Trebuchet MS"/>
              </a:defRPr>
            </a:pPr>
            <a:r>
              <a:rPr sz="3000" b="1">
                <a:solidFill>
                  <a:srgbClr val="103A5E"/>
                </a:solidFill>
                <a:latin typeface="Trebuchet MS"/>
                <a:ea typeface="Trebuchet MS"/>
                <a:cs typeface="Trebuchet MS"/>
              </a:rPr>
              <a:t>1  RETRIEVE     624 - 278 = ___     9 × 7 = ___     Write two fractions equal to 1/2.</a:t>
            </a:r>
          </a:p>
        </p:txBody>
      </p:sp>
      <p:sp>
        <p:nvSpPr>
          <p:cNvPr id="7" name="morning_precise_panel">
            <a:extLst xmlns:a="http://schemas.openxmlformats.org/drawingml/2006/main">
              <a:ext uri="{FF2B5EF4-FFF2-40B4-BE49-F238E27FC236}">
                <a16:creationId xmlns:a16="http://schemas.microsoft.com/office/drawing/2014/main" id="{61113554-E43E-4C22-896E-B0A213231EA6}"/>
              </a:ext>
            </a:extLst>
          </p:cNvPr>
          <p:cNvSpPr>
            <a:spLocks xmlns:a="http://schemas.openxmlformats.org/drawingml/2006/main" noGrp="1"/>
          </p:cNvSpPr>
          <p:nvPr/>
        </p:nvSpPr>
        <p:spPr>
          <a:xfrm xmlns:a="http://schemas.openxmlformats.org/drawingml/2006/main">
            <a:off x="571500" y="2762250"/>
            <a:ext cx="11049000" cy="2114550"/>
          </a:xfrm>
          <a:prstGeom xmlns:a="http://schemas.openxmlformats.org/drawingml/2006/main" prst="roundRect">
            <a:avLst>
              <a:gd name="adj" fmla="val 7207"/>
            </a:avLst>
          </a:prstGeom>
          <a:solidFill xmlns:a="http://schemas.openxmlformats.org/drawingml/2006/main">
            <a:srgbClr val="FFF3BF"/>
          </a:solidFill>
          <a:ln xmlns:a="http://schemas.openxmlformats.org/drawingml/2006/main" w="19050">
            <a:solidFill>
              <a:srgbClr val="D6A900"/>
            </a:solidFill>
            <a:prstDash val="solid"/>
          </a:ln>
        </p:spPr>
      </p:sp>
      <p:sp>
        <p:nvSpPr>
          <p:cNvPr id="8" name="morning_precise_text">
            <a:extLst xmlns:a="http://schemas.openxmlformats.org/drawingml/2006/main">
              <a:ext uri="{FF2B5EF4-FFF2-40B4-BE49-F238E27FC236}">
                <a16:creationId xmlns:a16="http://schemas.microsoft.com/office/drawing/2014/main" id="{170F03F0-6A13-4920-A293-C17FEBC6B07D}"/>
              </a:ext>
            </a:extLst>
          </p:cNvPr>
          <p:cNvSpPr>
            <a:spLocks xmlns:a="http://schemas.openxmlformats.org/drawingml/2006/main" noGrp="1"/>
          </p:cNvSpPr>
          <p:nvPr/>
        </p:nvSpPr>
        <p:spPr>
          <a:xfrm xmlns:a="http://schemas.openxmlformats.org/drawingml/2006/main">
            <a:off x="838200" y="3028950"/>
            <a:ext cx="105156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3B2F00"/>
                </a:solidFill>
                <a:latin typeface="Trebuchet MS"/>
                <a:ea typeface="Trebuchet MS"/>
                <a:cs typeface="Trebuchet MS"/>
              </a:defRPr>
            </a:pPr>
            <a:r>
              <a:rPr sz="2850" b="1">
                <a:solidFill>
                  <a:srgbClr val="3B2F00"/>
                </a:solidFill>
                <a:latin typeface="Trebuchet MS"/>
                <a:ea typeface="Trebuchet MS"/>
                <a:cs typeface="Trebuchet MS"/>
              </a:rPr>
              <a:t>2  MAKE IT PRECISE</a:t>
            </a:r>
          </a:p>
          <a:p xmlns:a="http://schemas.openxmlformats.org/drawingml/2006/main">
            <a:pPr algn="ctr">
              <a:lnSpc>
                <a:spcPct val="108000"/>
              </a:lnSpc>
              <a:buNone/>
              <a:defRPr sz="2850" b="1">
                <a:solidFill>
                  <a:srgbClr val="3B2F00"/>
                </a:solidFill>
                <a:latin typeface="Trebuchet MS"/>
                <a:ea typeface="Trebuchet MS"/>
                <a:cs typeface="Trebuchet MS"/>
              </a:defRPr>
            </a:pPr>
            <a:r>
              <a:rPr sz="2850" b="1">
                <a:solidFill>
                  <a:srgbClr val="3B2F00"/>
                </a:solidFill>
                <a:latin typeface="Trebuchet MS"/>
                <a:ea typeface="Trebuchet MS"/>
                <a:cs typeface="Trebuchet MS"/>
              </a:rPr>
              <a:t>Copy and improve: The frog lives in a wetland.</a:t>
            </a:r>
          </a:p>
          <a:p xmlns:a="http://schemas.openxmlformats.org/drawingml/2006/main">
            <a:pPr algn="ctr">
              <a:lnSpc>
                <a:spcPct val="108000"/>
              </a:lnSpc>
              <a:buNone/>
              <a:defRPr sz="2850" b="1">
                <a:solidFill>
                  <a:srgbClr val="3B2F00"/>
                </a:solidFill>
                <a:latin typeface="Trebuchet MS"/>
                <a:ea typeface="Trebuchet MS"/>
                <a:cs typeface="Trebuchet MS"/>
              </a:defRPr>
            </a:pPr>
            <a:r>
              <a:rPr sz="2850" b="1">
                <a:solidFill>
                  <a:srgbClr val="3B2F00"/>
                </a:solidFill>
                <a:latin typeface="Trebuchet MS"/>
                <a:ea typeface="Trebuchet MS"/>
                <a:cs typeface="Trebuchet MS"/>
              </a:rPr>
              <a:t>Add two wetland-specific details. You may use shallow water, waterlogged soil or reeds.</a:t>
            </a:r>
          </a:p>
        </p:txBody>
      </p:sp>
      <p:sp>
        <p:nvSpPr>
          <p:cNvPr id="9" name="morning_explain_panel">
            <a:extLst xmlns:a="http://schemas.openxmlformats.org/drawingml/2006/main">
              <a:ext uri="{FF2B5EF4-FFF2-40B4-BE49-F238E27FC236}">
                <a16:creationId xmlns:a16="http://schemas.microsoft.com/office/drawing/2014/main" id="{506DE385-03ED-41FC-A87C-F6ED18631BE4}"/>
              </a:ext>
            </a:extLst>
          </p:cNvPr>
          <p:cNvSpPr>
            <a:spLocks xmlns:a="http://schemas.openxmlformats.org/drawingml/2006/main" noGrp="1"/>
          </p:cNvSpPr>
          <p:nvPr/>
        </p:nvSpPr>
        <p:spPr>
          <a:xfrm xmlns:a="http://schemas.openxmlformats.org/drawingml/2006/main">
            <a:off x="571500" y="4953000"/>
            <a:ext cx="7239000" cy="1428750"/>
          </a:xfrm>
          <a:prstGeom xmlns:a="http://schemas.openxmlformats.org/drawingml/2006/main" prst="roundRect">
            <a:avLst>
              <a:gd name="adj" fmla="val 10667"/>
            </a:avLst>
          </a:prstGeom>
          <a:solidFill xmlns:a="http://schemas.openxmlformats.org/drawingml/2006/main">
            <a:srgbClr val="EAF7EE"/>
          </a:solidFill>
          <a:ln xmlns:a="http://schemas.openxmlformats.org/drawingml/2006/main" w="19050">
            <a:solidFill>
              <a:srgbClr val="70A77C"/>
            </a:solidFill>
            <a:prstDash val="solid"/>
          </a:ln>
        </p:spPr>
      </p:sp>
      <p:sp>
        <p:nvSpPr>
          <p:cNvPr id="10" name="morning_explain_text">
            <a:extLst xmlns:a="http://schemas.openxmlformats.org/drawingml/2006/main">
              <a:ext uri="{FF2B5EF4-FFF2-40B4-BE49-F238E27FC236}">
                <a16:creationId xmlns:a16="http://schemas.microsoft.com/office/drawing/2014/main" id="{98F62873-3102-41E0-BB46-A24810497216}"/>
              </a:ext>
            </a:extLst>
          </p:cNvPr>
          <p:cNvSpPr>
            <a:spLocks xmlns:a="http://schemas.openxmlformats.org/drawingml/2006/main" noGrp="1"/>
          </p:cNvSpPr>
          <p:nvPr/>
        </p:nvSpPr>
        <p:spPr>
          <a:xfrm xmlns:a="http://schemas.openxmlformats.org/drawingml/2006/main">
            <a:off x="781050" y="5162550"/>
            <a:ext cx="6819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550" b="1">
                <a:solidFill>
                  <a:srgbClr val="184D2B"/>
                </a:solidFill>
                <a:latin typeface="Trebuchet MS"/>
                <a:ea typeface="Trebuchet MS"/>
                <a:cs typeface="Trebuchet MS"/>
              </a:defRPr>
            </a:pPr>
            <a:r>
              <a:rPr sz="2550" b="1">
                <a:solidFill>
                  <a:srgbClr val="184D2B"/>
                </a:solidFill>
                <a:latin typeface="Trebuchet MS"/>
                <a:ea typeface="Trebuchet MS"/>
                <a:cs typeface="Trebuchet MS"/>
              </a:rPr>
              <a:t>3  EXPLAIN how one precise word makes your sentence more exact.</a:t>
            </a:r>
          </a:p>
        </p:txBody>
      </p:sp>
      <p:sp>
        <p:nvSpPr>
          <p:cNvPr id="11" name="morning_extension_panel">
            <a:extLst xmlns:a="http://schemas.openxmlformats.org/drawingml/2006/main">
              <a:ext uri="{FF2B5EF4-FFF2-40B4-BE49-F238E27FC236}">
                <a16:creationId xmlns:a16="http://schemas.microsoft.com/office/drawing/2014/main" id="{70500EB2-43E3-4A0E-9EEF-35A2461FA837}"/>
              </a:ext>
            </a:extLst>
          </p:cNvPr>
          <p:cNvSpPr>
            <a:spLocks xmlns:a="http://schemas.openxmlformats.org/drawingml/2006/main" noGrp="1"/>
          </p:cNvSpPr>
          <p:nvPr/>
        </p:nvSpPr>
        <p:spPr>
          <a:xfrm xmlns:a="http://schemas.openxmlformats.org/drawingml/2006/main">
            <a:off x="8020050" y="4953000"/>
            <a:ext cx="36004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9050">
            <a:solidFill>
              <a:srgbClr val="CBD5E1"/>
            </a:solidFill>
            <a:prstDash val="solid"/>
          </a:ln>
        </p:spPr>
      </p:sp>
      <p:sp>
        <p:nvSpPr>
          <p:cNvPr id="12" name="morning_extension_text">
            <a:extLst xmlns:a="http://schemas.openxmlformats.org/drawingml/2006/main">
              <a:ext uri="{FF2B5EF4-FFF2-40B4-BE49-F238E27FC236}">
                <a16:creationId xmlns:a16="http://schemas.microsoft.com/office/drawing/2014/main" id="{C54FD919-AA9B-4968-9223-9FA9183C08CD}"/>
              </a:ext>
            </a:extLst>
          </p:cNvPr>
          <p:cNvSpPr>
            <a:spLocks xmlns:a="http://schemas.openxmlformats.org/drawingml/2006/main" noGrp="1"/>
          </p:cNvSpPr>
          <p:nvPr/>
        </p:nvSpPr>
        <p:spPr>
          <a:xfrm xmlns:a="http://schemas.openxmlformats.org/drawingml/2006/main">
            <a:off x="8210550" y="5143500"/>
            <a:ext cx="32194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400" b="1">
                <a:solidFill>
                  <a:srgbClr val="111827"/>
                </a:solidFill>
                <a:latin typeface="Trebuchet MS"/>
                <a:ea typeface="Trebuchet MS"/>
                <a:cs typeface="Trebuchet MS"/>
              </a:defRPr>
            </a:pPr>
            <a:r>
              <a:rPr sz="2400" b="1">
                <a:solidFill>
                  <a:srgbClr val="111827"/>
                </a:solidFill>
                <a:latin typeface="Trebuchet MS"/>
                <a:ea typeface="Trebuchet MS"/>
                <a:cs typeface="Trebuchet MS"/>
              </a:rPr>
              <a:t>WHEN FINISHED</a:t>
            </a:r>
          </a:p>
          <a:p xmlns:a="http://schemas.openxmlformats.org/drawingml/2006/main">
            <a:pPr algn="ctr">
              <a:lnSpc>
                <a:spcPct val="108000"/>
              </a:lnSpc>
              <a:buNone/>
              <a:defRPr sz="2400" b="1">
                <a:solidFill>
                  <a:srgbClr val="111827"/>
                </a:solidFill>
                <a:latin typeface="Trebuchet MS"/>
                <a:ea typeface="Trebuchet MS"/>
                <a:cs typeface="Trebuchet MS"/>
              </a:defRPr>
            </a:pPr>
            <a:r>
              <a:rPr sz="2400" b="1">
                <a:solidFill>
                  <a:srgbClr val="111827"/>
                </a:solidFill>
                <a:latin typeface="Trebuchet MS"/>
                <a:ea typeface="Trebuchet MS"/>
                <a:cs typeface="Trebuchet MS"/>
              </a:rPr>
              <a:t>Write a 4-sentence wetland paragraph.</a:t>
            </a:r>
          </a:p>
        </p:txBody>
      </p:sp>
    </p:spTree>
    <p:extLst>
      <p:ext uri="{BB962C8B-B14F-4D97-AF65-F5344CB8AC3E}">
        <p14:creationId xmlns:p14="http://schemas.microsoft.com/office/powerpoint/2010/main" val="1398035998"/>
      </p:ext>
    </p:extLst>
  </p:cSld>
</p:sld>
</file>

<file path=ppt/slides/slide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0" name="section_bar_2">
            <a:extLst xmlns:a="http://schemas.openxmlformats.org/drawingml/2006/main">
              <a:ext uri="{FF2B5EF4-FFF2-40B4-BE49-F238E27FC236}">
                <a16:creationId xmlns:a16="http://schemas.microsoft.com/office/drawing/2014/main" id="{8A0E635D-565E-4237-ABB6-A040FCBBE79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D6A900"/>
          </a:solidFill>
          <a:ln xmlns:a="http://schemas.openxmlformats.org/drawingml/2006/main" w="0">
            <a:noFill/>
            <a:prstDash val="solid"/>
          </a:ln>
        </p:spPr>
      </p:sp>
      <p:sp>
        <p:nvSpPr>
          <p:cNvPr id="2" name="kicker_2">
            <a:extLst xmlns:a="http://schemas.openxmlformats.org/drawingml/2006/main">
              <a:ext uri="{FF2B5EF4-FFF2-40B4-BE49-F238E27FC236}">
                <a16:creationId xmlns:a16="http://schemas.microsoft.com/office/drawing/2014/main" id="{881A492C-B7C6-49C4-936B-762FAC289374}"/>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D6A900"/>
                </a:solidFill>
                <a:latin typeface="Trebuchet MS"/>
                <a:ea typeface="Trebuchet MS"/>
                <a:cs typeface="Trebuchet MS"/>
              </a:defRPr>
            </a:pPr>
            <a:r>
              <a:rPr sz="1800" b="1">
                <a:solidFill>
                  <a:srgbClr val="D6A900"/>
                </a:solidFill>
                <a:latin typeface="Trebuchet MS"/>
                <a:ea typeface="Trebuchet MS"/>
                <a:cs typeface="Trebuchet MS"/>
              </a:rPr>
              <a:t>LITERACY WARM-UP 1 OF 10 • REMINDER</a:t>
            </a:r>
          </a:p>
        </p:txBody>
      </p:sp>
      <p:sp>
        <p:nvSpPr>
          <p:cNvPr id="3" name="title_2">
            <a:extLst xmlns:a="http://schemas.openxmlformats.org/drawingml/2006/main">
              <a:ext uri="{FF2B5EF4-FFF2-40B4-BE49-F238E27FC236}">
                <a16:creationId xmlns:a16="http://schemas.microsoft.com/office/drawing/2014/main" id="{AA5F6759-FF16-40AA-9C40-2A4269D49C0E}"/>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Remember: exact nouns name the exact thing</a:t>
            </a:r>
          </a:p>
        </p:txBody>
      </p:sp>
      <p:sp>
        <p:nvSpPr>
          <p:cNvPr id="4" name="page_2">
            <a:extLst xmlns:a="http://schemas.openxmlformats.org/drawingml/2006/main">
              <a:ext uri="{FF2B5EF4-FFF2-40B4-BE49-F238E27FC236}">
                <a16:creationId xmlns:a16="http://schemas.microsoft.com/office/drawing/2014/main" id="{F02E8618-8D6D-4E96-BFFC-545D96709A84}"/>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2</a:t>
            </a:r>
          </a:p>
        </p:txBody>
      </p:sp>
      <p:sp>
        <p:nvSpPr>
          <p:cNvPr id="5" name="warm_1_rule_panel">
            <a:extLst xmlns:a="http://schemas.openxmlformats.org/drawingml/2006/main">
              <a:ext uri="{FF2B5EF4-FFF2-40B4-BE49-F238E27FC236}">
                <a16:creationId xmlns:a16="http://schemas.microsoft.com/office/drawing/2014/main" id="{6EC5A34C-797E-444E-8E67-9CC004E3FF03}"/>
              </a:ext>
            </a:extLst>
          </p:cNvPr>
          <p:cNvSpPr>
            <a:spLocks xmlns:a="http://schemas.openxmlformats.org/drawingml/2006/main" noGrp="1"/>
          </p:cNvSpPr>
          <p:nvPr/>
        </p:nvSpPr>
        <p:spPr>
          <a:xfrm xmlns:a="http://schemas.openxmlformats.org/drawingml/2006/main">
            <a:off x="571500" y="1257300"/>
            <a:ext cx="11049000" cy="2019300"/>
          </a:xfrm>
          <a:prstGeom xmlns:a="http://schemas.openxmlformats.org/drawingml/2006/main" prst="roundRect">
            <a:avLst>
              <a:gd name="adj" fmla="val 7547"/>
            </a:avLst>
          </a:prstGeom>
          <a:solidFill xmlns:a="http://schemas.openxmlformats.org/drawingml/2006/main">
            <a:srgbClr val="FFF3BF"/>
          </a:solidFill>
          <a:ln xmlns:a="http://schemas.openxmlformats.org/drawingml/2006/main" w="19050">
            <a:solidFill>
              <a:srgbClr val="D6A900"/>
            </a:solidFill>
            <a:prstDash val="solid"/>
          </a:ln>
        </p:spPr>
      </p:sp>
      <p:sp>
        <p:nvSpPr>
          <p:cNvPr id="6" name="warm_1_rule_text">
            <a:extLst xmlns:a="http://schemas.openxmlformats.org/drawingml/2006/main">
              <a:ext uri="{FF2B5EF4-FFF2-40B4-BE49-F238E27FC236}">
                <a16:creationId xmlns:a16="http://schemas.microsoft.com/office/drawing/2014/main" id="{E9DAAA12-4F26-437D-A85F-F6CC26845034}"/>
              </a:ext>
            </a:extLst>
          </p:cNvPr>
          <p:cNvSpPr>
            <a:spLocks xmlns:a="http://schemas.openxmlformats.org/drawingml/2006/main" noGrp="1"/>
          </p:cNvSpPr>
          <p:nvPr/>
        </p:nvSpPr>
        <p:spPr>
          <a:xfrm xmlns:a="http://schemas.openxmlformats.org/drawingml/2006/main">
            <a:off x="895350" y="1581150"/>
            <a:ext cx="104013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600" b="1">
                <a:solidFill>
                  <a:srgbClr val="3B2F00"/>
                </a:solidFill>
                <a:latin typeface="Trebuchet MS"/>
                <a:ea typeface="Trebuchet MS"/>
                <a:cs typeface="Trebuchet MS"/>
              </a:defRPr>
            </a:pPr>
            <a:r>
              <a:rPr sz="3600" b="1">
                <a:solidFill>
                  <a:srgbClr val="3B2F00"/>
                </a:solidFill>
                <a:latin typeface="Trebuchet MS"/>
                <a:ea typeface="Trebuchet MS"/>
                <a:cs typeface="Trebuchet MS"/>
              </a:rPr>
              <a:t>A subject-specific noun gives the reader a clearer picture.</a:t>
            </a:r>
          </a:p>
        </p:txBody>
      </p:sp>
      <p:sp>
        <p:nvSpPr>
          <p:cNvPr id="7" name="warm_1_example_panel">
            <a:extLst xmlns:a="http://schemas.openxmlformats.org/drawingml/2006/main">
              <a:ext uri="{FF2B5EF4-FFF2-40B4-BE49-F238E27FC236}">
                <a16:creationId xmlns:a16="http://schemas.microsoft.com/office/drawing/2014/main" id="{CE86D3BF-551F-4A9A-B2E4-29B9989C69A4}"/>
              </a:ext>
            </a:extLst>
          </p:cNvPr>
          <p:cNvSpPr>
            <a:spLocks xmlns:a="http://schemas.openxmlformats.org/drawingml/2006/main" noGrp="1"/>
          </p:cNvSpPr>
          <p:nvPr/>
        </p:nvSpPr>
        <p:spPr>
          <a:xfrm xmlns:a="http://schemas.openxmlformats.org/drawingml/2006/main">
            <a:off x="571500" y="3562350"/>
            <a:ext cx="11049000" cy="2114550"/>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19050">
            <a:solidFill>
              <a:srgbClr val="CBD5E1"/>
            </a:solidFill>
            <a:prstDash val="solid"/>
          </a:ln>
        </p:spPr>
      </p:sp>
      <p:sp>
        <p:nvSpPr>
          <p:cNvPr id="8" name="warm_1_example_text">
            <a:extLst xmlns:a="http://schemas.openxmlformats.org/drawingml/2006/main">
              <a:ext uri="{FF2B5EF4-FFF2-40B4-BE49-F238E27FC236}">
                <a16:creationId xmlns:a16="http://schemas.microsoft.com/office/drawing/2014/main" id="{61C476F6-97C1-4EFD-894B-6F0B2D30EF60}"/>
              </a:ext>
            </a:extLst>
          </p:cNvPr>
          <p:cNvSpPr>
            <a:spLocks xmlns:a="http://schemas.openxmlformats.org/drawingml/2006/main" noGrp="1"/>
          </p:cNvSpPr>
          <p:nvPr/>
        </p:nvSpPr>
        <p:spPr>
          <a:xfrm xmlns:a="http://schemas.openxmlformats.org/drawingml/2006/main">
            <a:off x="895350" y="3886200"/>
            <a:ext cx="104013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150" b="0">
                <a:solidFill>
                  <a:srgbClr val="111827"/>
                </a:solidFill>
                <a:latin typeface="Trebuchet MS"/>
                <a:ea typeface="Trebuchet MS"/>
                <a:cs typeface="Trebuchet MS"/>
              </a:defRPr>
            </a:pPr>
            <a:r>
              <a:rPr sz="3150" b="0">
                <a:solidFill>
                  <a:srgbClr val="111827"/>
                </a:solidFill>
                <a:latin typeface="Trebuchet MS"/>
                <a:ea typeface="Trebuchet MS"/>
                <a:cs typeface="Trebuchet MS"/>
              </a:rPr>
              <a:t>Example: creature becomes platypus. Platypus names the exact animal.</a:t>
            </a:r>
          </a:p>
        </p:txBody>
      </p:sp>
      <p:sp>
        <p:nvSpPr>
          <p:cNvPr id="9" name="warm_1_cue">
            <a:extLst xmlns:a="http://schemas.openxmlformats.org/drawingml/2006/main">
              <a:ext uri="{FF2B5EF4-FFF2-40B4-BE49-F238E27FC236}">
                <a16:creationId xmlns:a16="http://schemas.microsoft.com/office/drawing/2014/main" id="{F4EEF857-4798-4555-9932-A5988847F28E}"/>
              </a:ext>
            </a:extLst>
          </p:cNvPr>
          <p:cNvSpPr>
            <a:spLocks xmlns:a="http://schemas.openxmlformats.org/drawingml/2006/main" noGrp="1"/>
          </p:cNvSpPr>
          <p:nvPr/>
        </p:nvSpPr>
        <p:spPr>
          <a:xfrm xmlns:a="http://schemas.openxmlformats.org/drawingml/2006/main">
            <a:off x="781050" y="58102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475569"/>
                </a:solidFill>
                <a:latin typeface="Trebuchet MS"/>
                <a:ea typeface="Trebuchet MS"/>
                <a:cs typeface="Trebuchet MS"/>
              </a:defRPr>
            </a:pPr>
            <a:r>
              <a:rPr sz="2850" b="1">
                <a:solidFill>
                  <a:srgbClr val="475569"/>
                </a:solidFill>
                <a:latin typeface="Trebuchet MS"/>
                <a:ea typeface="Trebuchet MS"/>
                <a:cs typeface="Trebuchet MS"/>
              </a:rPr>
              <a:t>Use the reminder to solve the next slide.</a:t>
            </a:r>
          </a:p>
        </p:txBody>
      </p:sp>
    </p:spTree>
    <p:extLst>
      <p:ext uri="{BB962C8B-B14F-4D97-AF65-F5344CB8AC3E}">
        <p14:creationId xmlns:p14="http://schemas.microsoft.com/office/powerpoint/2010/main" val="6245075"/>
      </p:ext>
    </p:extLst>
  </p:cSld>
</p:sld>
</file>

<file path=ppt/slides/slide3.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section_bar_3">
            <a:extLst xmlns:a="http://schemas.openxmlformats.org/drawingml/2006/main">
              <a:ext uri="{FF2B5EF4-FFF2-40B4-BE49-F238E27FC236}">
                <a16:creationId xmlns:a16="http://schemas.microsoft.com/office/drawing/2014/main" id="{9C8D7097-72EA-4EDE-9FC8-DF543DCC1D8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3">
            <a:extLst xmlns:a="http://schemas.openxmlformats.org/drawingml/2006/main">
              <a:ext uri="{FF2B5EF4-FFF2-40B4-BE49-F238E27FC236}">
                <a16:creationId xmlns:a16="http://schemas.microsoft.com/office/drawing/2014/main" id="{8E01A999-F152-4C53-88ED-DEE2A1473C93}"/>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005A9C"/>
                </a:solidFill>
                <a:latin typeface="Trebuchet MS"/>
                <a:ea typeface="Trebuchet MS"/>
                <a:cs typeface="Trebuchet MS"/>
              </a:defRPr>
            </a:pPr>
            <a:r>
              <a:rPr sz="1800" b="1">
                <a:solidFill>
                  <a:srgbClr val="005A9C"/>
                </a:solidFill>
                <a:latin typeface="Trebuchet MS"/>
                <a:ea typeface="Trebuchet MS"/>
                <a:cs typeface="Trebuchet MS"/>
              </a:rPr>
              <a:t>LITERACY WARM-UP 1 OF 10 • QUESTION</a:t>
            </a:r>
          </a:p>
        </p:txBody>
      </p:sp>
      <p:sp>
        <p:nvSpPr>
          <p:cNvPr id="3" name="title_3">
            <a:extLst xmlns:a="http://schemas.openxmlformats.org/drawingml/2006/main">
              <a:ext uri="{FF2B5EF4-FFF2-40B4-BE49-F238E27FC236}">
                <a16:creationId xmlns:a16="http://schemas.microsoft.com/office/drawing/2014/main" id="{49C5FC4D-175B-44C8-9807-289A6EF62AE4}"/>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Replace the vague noun</a:t>
            </a:r>
          </a:p>
        </p:txBody>
      </p:sp>
      <p:sp>
        <p:nvSpPr>
          <p:cNvPr id="4" name="page_3">
            <a:extLst xmlns:a="http://schemas.openxmlformats.org/drawingml/2006/main">
              <a:ext uri="{FF2B5EF4-FFF2-40B4-BE49-F238E27FC236}">
                <a16:creationId xmlns:a16="http://schemas.microsoft.com/office/drawing/2014/main" id="{DBF2E873-6C83-49E6-92D0-78FFEDE4A0B0}"/>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3</a:t>
            </a:r>
          </a:p>
        </p:txBody>
      </p:sp>
      <p:sp>
        <p:nvSpPr>
          <p:cNvPr id="5" name="warm_1_question_panel">
            <a:extLst xmlns:a="http://schemas.openxmlformats.org/drawingml/2006/main">
              <a:ext uri="{FF2B5EF4-FFF2-40B4-BE49-F238E27FC236}">
                <a16:creationId xmlns:a16="http://schemas.microsoft.com/office/drawing/2014/main" id="{6E713AB4-499B-49B6-94C8-B3130C92F47B}"/>
              </a:ext>
            </a:extLst>
          </p:cNvPr>
          <p:cNvSpPr>
            <a:spLocks xmlns:a="http://schemas.openxmlformats.org/drawingml/2006/main" noGrp="1"/>
          </p:cNvSpPr>
          <p:nvPr/>
        </p:nvSpPr>
        <p:spPr>
          <a:xfrm xmlns:a="http://schemas.openxmlformats.org/drawingml/2006/main">
            <a:off x="571500" y="1333500"/>
            <a:ext cx="11049000" cy="3162300"/>
          </a:xfrm>
          <a:prstGeom xmlns:a="http://schemas.openxmlformats.org/drawingml/2006/main" prst="roundRect">
            <a:avLst>
              <a:gd name="adj" fmla="val 4819"/>
            </a:avLst>
          </a:prstGeom>
          <a:solidFill xmlns:a="http://schemas.openxmlformats.org/drawingml/2006/main">
            <a:srgbClr val="EAF2F8"/>
          </a:solidFill>
          <a:ln xmlns:a="http://schemas.openxmlformats.org/drawingml/2006/main" w="19050">
            <a:solidFill>
              <a:srgbClr val="7AA7C7"/>
            </a:solidFill>
            <a:prstDash val="solid"/>
          </a:ln>
        </p:spPr>
      </p:sp>
      <p:sp>
        <p:nvSpPr>
          <p:cNvPr id="6" name="warm_1_question_text">
            <a:extLst xmlns:a="http://schemas.openxmlformats.org/drawingml/2006/main">
              <a:ext uri="{FF2B5EF4-FFF2-40B4-BE49-F238E27FC236}">
                <a16:creationId xmlns:a16="http://schemas.microsoft.com/office/drawing/2014/main" id="{633DD2AF-509A-4EFE-BBC3-14C69ED12193}"/>
              </a:ext>
            </a:extLst>
          </p:cNvPr>
          <p:cNvSpPr>
            <a:spLocks xmlns:a="http://schemas.openxmlformats.org/drawingml/2006/main" noGrp="1"/>
          </p:cNvSpPr>
          <p:nvPr/>
        </p:nvSpPr>
        <p:spPr>
          <a:xfrm xmlns:a="http://schemas.openxmlformats.org/drawingml/2006/main">
            <a:off x="933450" y="1695450"/>
            <a:ext cx="103251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900" b="1">
                <a:solidFill>
                  <a:srgbClr val="103A5E"/>
                </a:solidFill>
                <a:latin typeface="Trebuchet MS"/>
                <a:ea typeface="Trebuchet MS"/>
                <a:cs typeface="Trebuchet MS"/>
              </a:defRPr>
            </a:pPr>
            <a:r>
              <a:rPr sz="3900" b="1">
                <a:solidFill>
                  <a:srgbClr val="103A5E"/>
                </a:solidFill>
                <a:latin typeface="Trebuchet MS"/>
                <a:ea typeface="Trebuchet MS"/>
                <a:cs typeface="Trebuchet MS"/>
              </a:rPr>
              <a:t>The bird uses its ___ to crack the seed.</a:t>
            </a:r>
          </a:p>
        </p:txBody>
      </p:sp>
      <p:sp>
        <p:nvSpPr>
          <p:cNvPr id="7" name="warm_1_support_panel">
            <a:extLst xmlns:a="http://schemas.openxmlformats.org/drawingml/2006/main">
              <a:ext uri="{FF2B5EF4-FFF2-40B4-BE49-F238E27FC236}">
                <a16:creationId xmlns:a16="http://schemas.microsoft.com/office/drawing/2014/main" id="{8CB2A6DB-1BE2-4883-83DF-253F2A9EE6FE}"/>
              </a:ext>
            </a:extLst>
          </p:cNvPr>
          <p:cNvSpPr>
            <a:spLocks xmlns:a="http://schemas.openxmlformats.org/drawingml/2006/main" noGrp="1"/>
          </p:cNvSpPr>
          <p:nvPr/>
        </p:nvSpPr>
        <p:spPr>
          <a:xfrm xmlns:a="http://schemas.openxmlformats.org/drawingml/2006/main">
            <a:off x="1143000" y="4762500"/>
            <a:ext cx="990600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19050">
            <a:solidFill>
              <a:srgbClr val="CBD5E1"/>
            </a:solidFill>
            <a:prstDash val="solid"/>
          </a:ln>
        </p:spPr>
      </p:sp>
      <p:sp>
        <p:nvSpPr>
          <p:cNvPr id="8" name="warm_1_support_text">
            <a:extLst xmlns:a="http://schemas.openxmlformats.org/drawingml/2006/main">
              <a:ext uri="{FF2B5EF4-FFF2-40B4-BE49-F238E27FC236}">
                <a16:creationId xmlns:a16="http://schemas.microsoft.com/office/drawing/2014/main" id="{4203B2B0-B263-462B-8306-FE47A095A4B7}"/>
              </a:ext>
            </a:extLst>
          </p:cNvPr>
          <p:cNvSpPr>
            <a:spLocks xmlns:a="http://schemas.openxmlformats.org/drawingml/2006/main" noGrp="1"/>
          </p:cNvSpPr>
          <p:nvPr/>
        </p:nvSpPr>
        <p:spPr>
          <a:xfrm xmlns:a="http://schemas.openxmlformats.org/drawingml/2006/main">
            <a:off x="1371600" y="4991100"/>
            <a:ext cx="944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000" b="0">
                <a:solidFill>
                  <a:srgbClr val="111827"/>
                </a:solidFill>
                <a:latin typeface="Trebuchet MS"/>
                <a:ea typeface="Trebuchet MS"/>
                <a:cs typeface="Trebuchet MS"/>
              </a:defRPr>
            </a:pPr>
            <a:r>
              <a:rPr sz="3000" b="0">
                <a:solidFill>
                  <a:srgbClr val="111827"/>
                </a:solidFill>
                <a:latin typeface="Trebuchet MS"/>
                <a:ea typeface="Trebuchet MS"/>
                <a:cs typeface="Trebuchet MS"/>
              </a:rPr>
              <a:t>Choose: thing • beak • body part</a:t>
            </a:r>
          </a:p>
          <a:p xmlns:a="http://schemas.openxmlformats.org/drawingml/2006/main">
            <a:pPr algn="ctr">
              <a:lnSpc>
                <a:spcPct val="108000"/>
              </a:lnSpc>
              <a:buNone/>
              <a:defRPr sz="3000" b="0">
                <a:solidFill>
                  <a:srgbClr val="111827"/>
                </a:solidFill>
                <a:latin typeface="Trebuchet MS"/>
                <a:ea typeface="Trebuchet MS"/>
                <a:cs typeface="Trebuchet MS"/>
              </a:defRPr>
            </a:pPr>
            <a:r>
              <a:rPr sz="3000" b="0">
                <a:solidFill>
                  <a:srgbClr val="111827"/>
                </a:solidFill>
                <a:latin typeface="Trebuchet MS"/>
                <a:ea typeface="Trebuchet MS"/>
                <a:cs typeface="Trebuchet MS"/>
              </a:rPr>
              <a:t>Write the complete corrected sentence.</a:t>
            </a:r>
          </a:p>
        </p:txBody>
      </p:sp>
    </p:spTree>
    <p:extLst>
      <p:ext uri="{BB962C8B-B14F-4D97-AF65-F5344CB8AC3E}">
        <p14:creationId xmlns:p14="http://schemas.microsoft.com/office/powerpoint/2010/main" val="1899587907"/>
      </p:ext>
    </p:extLst>
  </p:cSld>
</p:sld>
</file>

<file path=ppt/slides/slide4.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4">
            <a:extLst xmlns:a="http://schemas.openxmlformats.org/drawingml/2006/main">
              <a:ext uri="{FF2B5EF4-FFF2-40B4-BE49-F238E27FC236}">
                <a16:creationId xmlns:a16="http://schemas.microsoft.com/office/drawing/2014/main" id="{3BF1D423-26DB-44F3-9518-A0808457D9F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B7F3A"/>
          </a:solidFill>
          <a:ln xmlns:a="http://schemas.openxmlformats.org/drawingml/2006/main" w="0">
            <a:noFill/>
            <a:prstDash val="solid"/>
          </a:ln>
        </p:spPr>
      </p:sp>
      <p:sp>
        <p:nvSpPr>
          <p:cNvPr id="2" name="kicker_4">
            <a:extLst xmlns:a="http://schemas.openxmlformats.org/drawingml/2006/main">
              <a:ext uri="{FF2B5EF4-FFF2-40B4-BE49-F238E27FC236}">
                <a16:creationId xmlns:a16="http://schemas.microsoft.com/office/drawing/2014/main" id="{B58A1116-CA25-4CBF-8CBC-C78F00674E6F}"/>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1B7F3A"/>
                </a:solidFill>
                <a:latin typeface="Trebuchet MS"/>
                <a:ea typeface="Trebuchet MS"/>
                <a:cs typeface="Trebuchet MS"/>
              </a:defRPr>
            </a:pPr>
            <a:r>
              <a:rPr sz="1800" b="1">
                <a:solidFill>
                  <a:srgbClr val="1B7F3A"/>
                </a:solidFill>
                <a:latin typeface="Trebuchet MS"/>
                <a:ea typeface="Trebuchet MS"/>
                <a:cs typeface="Trebuchet MS"/>
              </a:rPr>
              <a:t>LITERACY WARM-UP 1 OF 10 • ANSWER</a:t>
            </a:r>
          </a:p>
        </p:txBody>
      </p:sp>
      <p:sp>
        <p:nvSpPr>
          <p:cNvPr id="3" name="title_4">
            <a:extLst xmlns:a="http://schemas.openxmlformats.org/drawingml/2006/main">
              <a:ext uri="{FF2B5EF4-FFF2-40B4-BE49-F238E27FC236}">
                <a16:creationId xmlns:a16="http://schemas.microsoft.com/office/drawing/2014/main" id="{D503E9B1-0F5A-45CB-A746-5ADB89241E6C}"/>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The precise noun is beak</a:t>
            </a:r>
          </a:p>
        </p:txBody>
      </p:sp>
      <p:sp>
        <p:nvSpPr>
          <p:cNvPr id="4" name="page_4">
            <a:extLst xmlns:a="http://schemas.openxmlformats.org/drawingml/2006/main">
              <a:ext uri="{FF2B5EF4-FFF2-40B4-BE49-F238E27FC236}">
                <a16:creationId xmlns:a16="http://schemas.microsoft.com/office/drawing/2014/main" id="{58F5A4D4-821C-4584-B6AC-4884519FF29B}"/>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4</a:t>
            </a:r>
          </a:p>
        </p:txBody>
      </p:sp>
      <p:sp>
        <p:nvSpPr>
          <p:cNvPr id="5" name="warm_1_answer_panel">
            <a:extLst xmlns:a="http://schemas.openxmlformats.org/drawingml/2006/main">
              <a:ext uri="{FF2B5EF4-FFF2-40B4-BE49-F238E27FC236}">
                <a16:creationId xmlns:a16="http://schemas.microsoft.com/office/drawing/2014/main" id="{6247B1DE-0AD4-4486-B5E8-FBD6ABE51361}"/>
              </a:ext>
            </a:extLst>
          </p:cNvPr>
          <p:cNvSpPr>
            <a:spLocks xmlns:a="http://schemas.openxmlformats.org/drawingml/2006/main" noGrp="1"/>
          </p:cNvSpPr>
          <p:nvPr/>
        </p:nvSpPr>
        <p:spPr>
          <a:xfrm xmlns:a="http://schemas.openxmlformats.org/drawingml/2006/main">
            <a:off x="571500" y="1333500"/>
            <a:ext cx="11049000" cy="2571750"/>
          </a:xfrm>
          <a:prstGeom xmlns:a="http://schemas.openxmlformats.org/drawingml/2006/main" prst="roundRect">
            <a:avLst>
              <a:gd name="adj" fmla="val 5926"/>
            </a:avLst>
          </a:prstGeom>
          <a:solidFill xmlns:a="http://schemas.openxmlformats.org/drawingml/2006/main">
            <a:srgbClr val="EAF7EE"/>
          </a:solidFill>
          <a:ln xmlns:a="http://schemas.openxmlformats.org/drawingml/2006/main" w="19050">
            <a:solidFill>
              <a:srgbClr val="70A77C"/>
            </a:solidFill>
            <a:prstDash val="solid"/>
          </a:ln>
        </p:spPr>
      </p:sp>
      <p:sp>
        <p:nvSpPr>
          <p:cNvPr id="6" name="warm_1_answer_text">
            <a:extLst xmlns:a="http://schemas.openxmlformats.org/drawingml/2006/main">
              <a:ext uri="{FF2B5EF4-FFF2-40B4-BE49-F238E27FC236}">
                <a16:creationId xmlns:a16="http://schemas.microsoft.com/office/drawing/2014/main" id="{973BCFDB-6380-4FC8-9D40-F9C318AF9709}"/>
              </a:ext>
            </a:extLst>
          </p:cNvPr>
          <p:cNvSpPr>
            <a:spLocks xmlns:a="http://schemas.openxmlformats.org/drawingml/2006/main" noGrp="1"/>
          </p:cNvSpPr>
          <p:nvPr/>
        </p:nvSpPr>
        <p:spPr>
          <a:xfrm xmlns:a="http://schemas.openxmlformats.org/drawingml/2006/main">
            <a:off x="933450" y="1695450"/>
            <a:ext cx="103251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defRPr sz="4050" b="1">
                <a:solidFill>
                  <a:srgbClr val="111827"/>
                </a:solidFill>
                <a:latin typeface="Trebuchet MS"/>
                <a:ea typeface="Trebuchet MS"/>
                <a:cs typeface="Trebuchet MS"/>
              </a:defRPr>
            </a:pPr>
            <a:r>
              <a:rPr>
                <a:latin typeface="Trebuchet MS"/>
                <a:ea typeface="Trebuchet MS"/>
                <a:cs typeface="Trebuchet MS"/>
              </a:rPr>
              <a:t>The bird uses its </a:t>
            </a:r>
            <a:r>
              <a:rPr sz="5100" b="1">
                <a:solidFill>
                  <a:srgbClr val="1B7F3A"/>
                </a:solidFill>
                <a:latin typeface="Trebuchet MS"/>
                <a:ea typeface="Trebuchet MS"/>
                <a:cs typeface="Trebuchet MS"/>
              </a:rPr>
              <a:t>beak</a:t>
            </a:r>
            <a:r>
              <a:rPr>
                <a:latin typeface="Trebuchet MS"/>
                <a:ea typeface="Trebuchet MS"/>
                <a:cs typeface="Trebuchet MS"/>
              </a:rPr>
              <a:t> to crack the seed.</a:t>
            </a:r>
          </a:p>
        </p:txBody>
      </p:sp>
      <p:sp>
        <p:nvSpPr>
          <p:cNvPr id="7" name="warm_1_cue_panel">
            <a:extLst xmlns:a="http://schemas.openxmlformats.org/drawingml/2006/main">
              <a:ext uri="{FF2B5EF4-FFF2-40B4-BE49-F238E27FC236}">
                <a16:creationId xmlns:a16="http://schemas.microsoft.com/office/drawing/2014/main" id="{96FE885D-5C3D-4966-9605-E30E3D9B171F}"/>
              </a:ext>
            </a:extLst>
          </p:cNvPr>
          <p:cNvSpPr>
            <a:spLocks xmlns:a="http://schemas.openxmlformats.org/drawingml/2006/main" noGrp="1"/>
          </p:cNvSpPr>
          <p:nvPr/>
        </p:nvSpPr>
        <p:spPr>
          <a:xfrm xmlns:a="http://schemas.openxmlformats.org/drawingml/2006/main">
            <a:off x="952500" y="4171950"/>
            <a:ext cx="10287000" cy="80010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19050">
            <a:solidFill>
              <a:srgbClr val="70A77C"/>
            </a:solidFill>
            <a:prstDash val="solid"/>
          </a:ln>
        </p:spPr>
      </p:sp>
      <p:sp>
        <p:nvSpPr>
          <p:cNvPr id="8" name="warm_1_cue_text">
            <a:extLst xmlns:a="http://schemas.openxmlformats.org/drawingml/2006/main">
              <a:ext uri="{FF2B5EF4-FFF2-40B4-BE49-F238E27FC236}">
                <a16:creationId xmlns:a16="http://schemas.microsoft.com/office/drawing/2014/main" id="{25F60C40-9724-46DD-8AB1-EF8CB18DCCE1}"/>
              </a:ext>
            </a:extLst>
          </p:cNvPr>
          <p:cNvSpPr>
            <a:spLocks xmlns:a="http://schemas.openxmlformats.org/drawingml/2006/main" noGrp="1"/>
          </p:cNvSpPr>
          <p:nvPr/>
        </p:nvSpPr>
        <p:spPr>
          <a:xfrm xmlns:a="http://schemas.openxmlformats.org/drawingml/2006/main">
            <a:off x="1143000" y="43624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1B7F3A"/>
                </a:solidFill>
                <a:latin typeface="Trebuchet MS"/>
                <a:ea typeface="Trebuchet MS"/>
                <a:cs typeface="Trebuchet MS"/>
              </a:defRPr>
            </a:pPr>
            <a:r>
              <a:rPr sz="2850" b="1">
                <a:solidFill>
                  <a:srgbClr val="1B7F3A"/>
                </a:solidFill>
                <a:latin typeface="Trebuchet MS"/>
                <a:ea typeface="Trebuchet MS"/>
                <a:cs typeface="Trebuchet MS"/>
              </a:rPr>
              <a:t>Changed word: beak</a:t>
            </a:r>
          </a:p>
        </p:txBody>
      </p:sp>
      <p:sp>
        <p:nvSpPr>
          <p:cNvPr id="9" name="warm_1_why_panel">
            <a:extLst xmlns:a="http://schemas.openxmlformats.org/drawingml/2006/main">
              <a:ext uri="{FF2B5EF4-FFF2-40B4-BE49-F238E27FC236}">
                <a16:creationId xmlns:a16="http://schemas.microsoft.com/office/drawing/2014/main" id="{7DE5531A-575A-4C52-B8C5-3A91284FFC49}"/>
              </a:ext>
            </a:extLst>
          </p:cNvPr>
          <p:cNvSpPr>
            <a:spLocks xmlns:a="http://schemas.openxmlformats.org/drawingml/2006/main" noGrp="1"/>
          </p:cNvSpPr>
          <p:nvPr/>
        </p:nvSpPr>
        <p:spPr>
          <a:xfrm xmlns:a="http://schemas.openxmlformats.org/drawingml/2006/main">
            <a:off x="952500" y="5181600"/>
            <a:ext cx="10287000" cy="9144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9050">
            <a:solidFill>
              <a:srgbClr val="CBD5E1"/>
            </a:solidFill>
            <a:prstDash val="solid"/>
          </a:ln>
        </p:spPr>
      </p:sp>
      <p:sp>
        <p:nvSpPr>
          <p:cNvPr id="10" name="warm_1_why_text">
            <a:extLst xmlns:a="http://schemas.openxmlformats.org/drawingml/2006/main">
              <a:ext uri="{FF2B5EF4-FFF2-40B4-BE49-F238E27FC236}">
                <a16:creationId xmlns:a16="http://schemas.microsoft.com/office/drawing/2014/main" id="{2F405EB9-660E-45D0-81EF-EC38E05268B0}"/>
              </a:ext>
            </a:extLst>
          </p:cNvPr>
          <p:cNvSpPr>
            <a:spLocks xmlns:a="http://schemas.openxmlformats.org/drawingml/2006/main" noGrp="1"/>
          </p:cNvSpPr>
          <p:nvPr/>
        </p:nvSpPr>
        <p:spPr>
          <a:xfrm xmlns:a="http://schemas.openxmlformats.org/drawingml/2006/main">
            <a:off x="1143000" y="53721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0">
                <a:solidFill>
                  <a:srgbClr val="111827"/>
                </a:solidFill>
                <a:latin typeface="Trebuchet MS"/>
                <a:ea typeface="Trebuchet MS"/>
                <a:cs typeface="Trebuchet MS"/>
              </a:defRPr>
            </a:pPr>
            <a:r>
              <a:rPr sz="2850" b="0">
                <a:solidFill>
                  <a:srgbClr val="111827"/>
                </a:solidFill>
                <a:latin typeface="Trebuchet MS"/>
                <a:ea typeface="Trebuchet MS"/>
                <a:cs typeface="Trebuchet MS"/>
              </a:rPr>
              <a:t>Beak names the exact body part used in the action.</a:t>
            </a:r>
          </a:p>
        </p:txBody>
      </p:sp>
    </p:spTree>
    <p:extLst>
      <p:ext uri="{BB962C8B-B14F-4D97-AF65-F5344CB8AC3E}">
        <p14:creationId xmlns:p14="http://schemas.microsoft.com/office/powerpoint/2010/main" val="1361813567"/>
      </p:ext>
    </p:extLst>
  </p:cSld>
</p:sld>
</file>

<file path=ppt/slides/slide5.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0" name="section_bar_5">
            <a:extLst xmlns:a="http://schemas.openxmlformats.org/drawingml/2006/main">
              <a:ext uri="{FF2B5EF4-FFF2-40B4-BE49-F238E27FC236}">
                <a16:creationId xmlns:a16="http://schemas.microsoft.com/office/drawing/2014/main" id="{8CEA27B1-54DE-499C-BC5E-A14907E4814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D6A900"/>
          </a:solidFill>
          <a:ln xmlns:a="http://schemas.openxmlformats.org/drawingml/2006/main" w="0">
            <a:noFill/>
            <a:prstDash val="solid"/>
          </a:ln>
        </p:spPr>
      </p:sp>
      <p:sp>
        <p:nvSpPr>
          <p:cNvPr id="2" name="kicker_5">
            <a:extLst xmlns:a="http://schemas.openxmlformats.org/drawingml/2006/main">
              <a:ext uri="{FF2B5EF4-FFF2-40B4-BE49-F238E27FC236}">
                <a16:creationId xmlns:a16="http://schemas.microsoft.com/office/drawing/2014/main" id="{BFAFE0BE-B95A-4CD6-8225-F36BE0001B44}"/>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D6A900"/>
                </a:solidFill>
                <a:latin typeface="Trebuchet MS"/>
                <a:ea typeface="Trebuchet MS"/>
                <a:cs typeface="Trebuchet MS"/>
              </a:defRPr>
            </a:pPr>
            <a:r>
              <a:rPr sz="1800" b="1">
                <a:solidFill>
                  <a:srgbClr val="D6A900"/>
                </a:solidFill>
                <a:latin typeface="Trebuchet MS"/>
                <a:ea typeface="Trebuchet MS"/>
                <a:cs typeface="Trebuchet MS"/>
              </a:rPr>
              <a:t>LITERACY WARM-UP 2 OF 10 • REMINDER</a:t>
            </a:r>
          </a:p>
        </p:txBody>
      </p:sp>
      <p:sp>
        <p:nvSpPr>
          <p:cNvPr id="3" name="title_5">
            <a:extLst xmlns:a="http://schemas.openxmlformats.org/drawingml/2006/main">
              <a:ext uri="{FF2B5EF4-FFF2-40B4-BE49-F238E27FC236}">
                <a16:creationId xmlns:a16="http://schemas.microsoft.com/office/drawing/2014/main" id="{D1577A4F-1924-48A8-8963-F08BB14B0F38}"/>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Remember: word parts carry meaning</a:t>
            </a:r>
          </a:p>
        </p:txBody>
      </p:sp>
      <p:sp>
        <p:nvSpPr>
          <p:cNvPr id="4" name="page_5">
            <a:extLst xmlns:a="http://schemas.openxmlformats.org/drawingml/2006/main">
              <a:ext uri="{FF2B5EF4-FFF2-40B4-BE49-F238E27FC236}">
                <a16:creationId xmlns:a16="http://schemas.microsoft.com/office/drawing/2014/main" id="{E5EC2F3D-BF6B-4A36-BCCE-E50D7FB19D6F}"/>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5</a:t>
            </a:r>
          </a:p>
        </p:txBody>
      </p:sp>
      <p:sp>
        <p:nvSpPr>
          <p:cNvPr id="5" name="warm_2_rule_panel">
            <a:extLst xmlns:a="http://schemas.openxmlformats.org/drawingml/2006/main">
              <a:ext uri="{FF2B5EF4-FFF2-40B4-BE49-F238E27FC236}">
                <a16:creationId xmlns:a16="http://schemas.microsoft.com/office/drawing/2014/main" id="{7366AA3B-F0EB-48A3-BE3C-212998D027CC}"/>
              </a:ext>
            </a:extLst>
          </p:cNvPr>
          <p:cNvSpPr>
            <a:spLocks xmlns:a="http://schemas.openxmlformats.org/drawingml/2006/main" noGrp="1"/>
          </p:cNvSpPr>
          <p:nvPr/>
        </p:nvSpPr>
        <p:spPr>
          <a:xfrm xmlns:a="http://schemas.openxmlformats.org/drawingml/2006/main">
            <a:off x="571500" y="1257300"/>
            <a:ext cx="11049000" cy="2019300"/>
          </a:xfrm>
          <a:prstGeom xmlns:a="http://schemas.openxmlformats.org/drawingml/2006/main" prst="roundRect">
            <a:avLst>
              <a:gd name="adj" fmla="val 7547"/>
            </a:avLst>
          </a:prstGeom>
          <a:solidFill xmlns:a="http://schemas.openxmlformats.org/drawingml/2006/main">
            <a:srgbClr val="FFF3BF"/>
          </a:solidFill>
          <a:ln xmlns:a="http://schemas.openxmlformats.org/drawingml/2006/main" w="19050">
            <a:solidFill>
              <a:srgbClr val="D6A900"/>
            </a:solidFill>
            <a:prstDash val="solid"/>
          </a:ln>
        </p:spPr>
      </p:sp>
      <p:sp>
        <p:nvSpPr>
          <p:cNvPr id="6" name="warm_2_rule_text">
            <a:extLst xmlns:a="http://schemas.openxmlformats.org/drawingml/2006/main">
              <a:ext uri="{FF2B5EF4-FFF2-40B4-BE49-F238E27FC236}">
                <a16:creationId xmlns:a16="http://schemas.microsoft.com/office/drawing/2014/main" id="{DF1CE354-D7CD-4776-B817-8B9A8E325081}"/>
              </a:ext>
            </a:extLst>
          </p:cNvPr>
          <p:cNvSpPr>
            <a:spLocks xmlns:a="http://schemas.openxmlformats.org/drawingml/2006/main" noGrp="1"/>
          </p:cNvSpPr>
          <p:nvPr/>
        </p:nvSpPr>
        <p:spPr>
          <a:xfrm xmlns:a="http://schemas.openxmlformats.org/drawingml/2006/main">
            <a:off x="895350" y="1581150"/>
            <a:ext cx="104013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600" b="1">
                <a:solidFill>
                  <a:srgbClr val="3B2F00"/>
                </a:solidFill>
                <a:latin typeface="Trebuchet MS"/>
                <a:ea typeface="Trebuchet MS"/>
                <a:cs typeface="Trebuchet MS"/>
              </a:defRPr>
            </a:pPr>
            <a:r>
              <a:rPr sz="3600" b="1">
                <a:solidFill>
                  <a:srgbClr val="3B2F00"/>
                </a:solidFill>
                <a:latin typeface="Trebuchet MS"/>
                <a:ea typeface="Trebuchet MS"/>
                <a:cs typeface="Trebuchet MS"/>
              </a:rPr>
              <a:t>A base or affix can help you work out a technical word.</a:t>
            </a:r>
          </a:p>
        </p:txBody>
      </p:sp>
      <p:sp>
        <p:nvSpPr>
          <p:cNvPr id="7" name="warm_2_example_panel">
            <a:extLst xmlns:a="http://schemas.openxmlformats.org/drawingml/2006/main">
              <a:ext uri="{FF2B5EF4-FFF2-40B4-BE49-F238E27FC236}">
                <a16:creationId xmlns:a16="http://schemas.microsoft.com/office/drawing/2014/main" id="{7F7185B5-65EC-4E63-8D2A-2D5B4AE6959E}"/>
              </a:ext>
            </a:extLst>
          </p:cNvPr>
          <p:cNvSpPr>
            <a:spLocks xmlns:a="http://schemas.openxmlformats.org/drawingml/2006/main" noGrp="1"/>
          </p:cNvSpPr>
          <p:nvPr/>
        </p:nvSpPr>
        <p:spPr>
          <a:xfrm xmlns:a="http://schemas.openxmlformats.org/drawingml/2006/main">
            <a:off x="571500" y="3562350"/>
            <a:ext cx="11049000" cy="2114550"/>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19050">
            <a:solidFill>
              <a:srgbClr val="CBD5E1"/>
            </a:solidFill>
            <a:prstDash val="solid"/>
          </a:ln>
        </p:spPr>
      </p:sp>
      <p:sp>
        <p:nvSpPr>
          <p:cNvPr id="8" name="warm_2_example_text">
            <a:extLst xmlns:a="http://schemas.openxmlformats.org/drawingml/2006/main">
              <a:ext uri="{FF2B5EF4-FFF2-40B4-BE49-F238E27FC236}">
                <a16:creationId xmlns:a16="http://schemas.microsoft.com/office/drawing/2014/main" id="{73516602-DAF2-4B8C-8030-912B7FD0C311}"/>
              </a:ext>
            </a:extLst>
          </p:cNvPr>
          <p:cNvSpPr>
            <a:spLocks xmlns:a="http://schemas.openxmlformats.org/drawingml/2006/main" noGrp="1"/>
          </p:cNvSpPr>
          <p:nvPr/>
        </p:nvSpPr>
        <p:spPr>
          <a:xfrm xmlns:a="http://schemas.openxmlformats.org/drawingml/2006/main">
            <a:off x="895350" y="3886200"/>
            <a:ext cx="104013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150" b="0">
                <a:solidFill>
                  <a:srgbClr val="111827"/>
                </a:solidFill>
                <a:latin typeface="Trebuchet MS"/>
                <a:ea typeface="Trebuchet MS"/>
                <a:cs typeface="Trebuchet MS"/>
              </a:defRPr>
            </a:pPr>
            <a:r>
              <a:rPr sz="3150" b="0">
                <a:solidFill>
                  <a:srgbClr val="111827"/>
                </a:solidFill>
                <a:latin typeface="Trebuchet MS"/>
                <a:ea typeface="Trebuchet MS"/>
                <a:cs typeface="Trebuchet MS"/>
              </a:rPr>
              <a:t>Example: geo means Earth and -logist means a person who studies a subject. A geologist studies Earth.</a:t>
            </a:r>
          </a:p>
        </p:txBody>
      </p:sp>
      <p:sp>
        <p:nvSpPr>
          <p:cNvPr id="9" name="warm_2_cue">
            <a:extLst xmlns:a="http://schemas.openxmlformats.org/drawingml/2006/main">
              <a:ext uri="{FF2B5EF4-FFF2-40B4-BE49-F238E27FC236}">
                <a16:creationId xmlns:a16="http://schemas.microsoft.com/office/drawing/2014/main" id="{3BEACFC7-EDA4-405B-B6C6-F51553BA2916}"/>
              </a:ext>
            </a:extLst>
          </p:cNvPr>
          <p:cNvSpPr>
            <a:spLocks xmlns:a="http://schemas.openxmlformats.org/drawingml/2006/main" noGrp="1"/>
          </p:cNvSpPr>
          <p:nvPr/>
        </p:nvSpPr>
        <p:spPr>
          <a:xfrm xmlns:a="http://schemas.openxmlformats.org/drawingml/2006/main">
            <a:off x="781050" y="58102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475569"/>
                </a:solidFill>
                <a:latin typeface="Trebuchet MS"/>
                <a:ea typeface="Trebuchet MS"/>
                <a:cs typeface="Trebuchet MS"/>
              </a:defRPr>
            </a:pPr>
            <a:r>
              <a:rPr sz="2850" b="1">
                <a:solidFill>
                  <a:srgbClr val="475569"/>
                </a:solidFill>
                <a:latin typeface="Trebuchet MS"/>
                <a:ea typeface="Trebuchet MS"/>
                <a:cs typeface="Trebuchet MS"/>
              </a:rPr>
              <a:t>Use the reminder to solve the next slide.</a:t>
            </a:r>
          </a:p>
        </p:txBody>
      </p:sp>
    </p:spTree>
    <p:extLst>
      <p:ext uri="{BB962C8B-B14F-4D97-AF65-F5344CB8AC3E}">
        <p14:creationId xmlns:p14="http://schemas.microsoft.com/office/powerpoint/2010/main" val="692784146"/>
      </p:ext>
    </p:extLst>
  </p:cSld>
</p:sld>
</file>

<file path=ppt/slides/slide6.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section_bar_6">
            <a:extLst xmlns:a="http://schemas.openxmlformats.org/drawingml/2006/main">
              <a:ext uri="{FF2B5EF4-FFF2-40B4-BE49-F238E27FC236}">
                <a16:creationId xmlns:a16="http://schemas.microsoft.com/office/drawing/2014/main" id="{769912CA-D95C-4BE2-9CF9-FD29C66537EE}"/>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6">
            <a:extLst xmlns:a="http://schemas.openxmlformats.org/drawingml/2006/main">
              <a:ext uri="{FF2B5EF4-FFF2-40B4-BE49-F238E27FC236}">
                <a16:creationId xmlns:a16="http://schemas.microsoft.com/office/drawing/2014/main" id="{6F4EC064-2AAE-4CC3-A178-83EA214FADAE}"/>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005A9C"/>
                </a:solidFill>
                <a:latin typeface="Trebuchet MS"/>
                <a:ea typeface="Trebuchet MS"/>
                <a:cs typeface="Trebuchet MS"/>
              </a:defRPr>
            </a:pPr>
            <a:r>
              <a:rPr sz="1800" b="1">
                <a:solidFill>
                  <a:srgbClr val="005A9C"/>
                </a:solidFill>
                <a:latin typeface="Trebuchet MS"/>
                <a:ea typeface="Trebuchet MS"/>
                <a:cs typeface="Trebuchet MS"/>
              </a:rPr>
              <a:t>LITERACY WARM-UP 2 OF 10 • QUESTION</a:t>
            </a:r>
          </a:p>
        </p:txBody>
      </p:sp>
      <p:sp>
        <p:nvSpPr>
          <p:cNvPr id="3" name="title_6">
            <a:extLst xmlns:a="http://schemas.openxmlformats.org/drawingml/2006/main">
              <a:ext uri="{FF2B5EF4-FFF2-40B4-BE49-F238E27FC236}">
                <a16:creationId xmlns:a16="http://schemas.microsoft.com/office/drawing/2014/main" id="{64F722FA-5E66-485D-88EB-091C8F440B3D}"/>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Use the word parts to explain biologist</a:t>
            </a:r>
          </a:p>
        </p:txBody>
      </p:sp>
      <p:sp>
        <p:nvSpPr>
          <p:cNvPr id="4" name="page_6">
            <a:extLst xmlns:a="http://schemas.openxmlformats.org/drawingml/2006/main">
              <a:ext uri="{FF2B5EF4-FFF2-40B4-BE49-F238E27FC236}">
                <a16:creationId xmlns:a16="http://schemas.microsoft.com/office/drawing/2014/main" id="{2A7E8C13-A851-404D-A5B0-514A2072B12E}"/>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6</a:t>
            </a:r>
          </a:p>
        </p:txBody>
      </p:sp>
      <p:sp>
        <p:nvSpPr>
          <p:cNvPr id="5" name="warm_2_question_panel">
            <a:extLst xmlns:a="http://schemas.openxmlformats.org/drawingml/2006/main">
              <a:ext uri="{FF2B5EF4-FFF2-40B4-BE49-F238E27FC236}">
                <a16:creationId xmlns:a16="http://schemas.microsoft.com/office/drawing/2014/main" id="{FAEF3222-FE1F-41F9-B4E0-CBD9E0682DF1}"/>
              </a:ext>
            </a:extLst>
          </p:cNvPr>
          <p:cNvSpPr>
            <a:spLocks xmlns:a="http://schemas.openxmlformats.org/drawingml/2006/main" noGrp="1"/>
          </p:cNvSpPr>
          <p:nvPr/>
        </p:nvSpPr>
        <p:spPr>
          <a:xfrm xmlns:a="http://schemas.openxmlformats.org/drawingml/2006/main">
            <a:off x="571500" y="1333500"/>
            <a:ext cx="11049000" cy="3162300"/>
          </a:xfrm>
          <a:prstGeom xmlns:a="http://schemas.openxmlformats.org/drawingml/2006/main" prst="roundRect">
            <a:avLst>
              <a:gd name="adj" fmla="val 4819"/>
            </a:avLst>
          </a:prstGeom>
          <a:solidFill xmlns:a="http://schemas.openxmlformats.org/drawingml/2006/main">
            <a:srgbClr val="EAF2F8"/>
          </a:solidFill>
          <a:ln xmlns:a="http://schemas.openxmlformats.org/drawingml/2006/main" w="19050">
            <a:solidFill>
              <a:srgbClr val="7AA7C7"/>
            </a:solidFill>
            <a:prstDash val="solid"/>
          </a:ln>
        </p:spPr>
      </p:sp>
      <p:sp>
        <p:nvSpPr>
          <p:cNvPr id="6" name="warm_2_question_text">
            <a:extLst xmlns:a="http://schemas.openxmlformats.org/drawingml/2006/main">
              <a:ext uri="{FF2B5EF4-FFF2-40B4-BE49-F238E27FC236}">
                <a16:creationId xmlns:a16="http://schemas.microsoft.com/office/drawing/2014/main" id="{61A6DF8E-F0F2-4CF6-AC13-7A476ADA38F7}"/>
              </a:ext>
            </a:extLst>
          </p:cNvPr>
          <p:cNvSpPr>
            <a:spLocks xmlns:a="http://schemas.openxmlformats.org/drawingml/2006/main" noGrp="1"/>
          </p:cNvSpPr>
          <p:nvPr/>
        </p:nvSpPr>
        <p:spPr>
          <a:xfrm xmlns:a="http://schemas.openxmlformats.org/drawingml/2006/main">
            <a:off x="933450" y="1695450"/>
            <a:ext cx="103251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900" b="1">
                <a:solidFill>
                  <a:srgbClr val="103A5E"/>
                </a:solidFill>
                <a:latin typeface="Trebuchet MS"/>
                <a:ea typeface="Trebuchet MS"/>
                <a:cs typeface="Trebuchet MS"/>
              </a:defRPr>
            </a:pPr>
            <a:r>
              <a:rPr sz="3900" b="1">
                <a:solidFill>
                  <a:srgbClr val="103A5E"/>
                </a:solidFill>
                <a:latin typeface="Trebuchet MS"/>
                <a:ea typeface="Trebuchet MS"/>
                <a:cs typeface="Trebuchet MS"/>
              </a:rPr>
              <a:t>A biologist is a scientist who studies living things. What do bio and -logist tell you?</a:t>
            </a:r>
          </a:p>
        </p:txBody>
      </p:sp>
      <p:sp>
        <p:nvSpPr>
          <p:cNvPr id="7" name="warm_2_support_panel">
            <a:extLst xmlns:a="http://schemas.openxmlformats.org/drawingml/2006/main">
              <a:ext uri="{FF2B5EF4-FFF2-40B4-BE49-F238E27FC236}">
                <a16:creationId xmlns:a16="http://schemas.microsoft.com/office/drawing/2014/main" id="{52B57EF4-20C5-499F-91E7-D5B35E879AA4}"/>
              </a:ext>
            </a:extLst>
          </p:cNvPr>
          <p:cNvSpPr>
            <a:spLocks xmlns:a="http://schemas.openxmlformats.org/drawingml/2006/main" noGrp="1"/>
          </p:cNvSpPr>
          <p:nvPr/>
        </p:nvSpPr>
        <p:spPr>
          <a:xfrm xmlns:a="http://schemas.openxmlformats.org/drawingml/2006/main">
            <a:off x="1143000" y="4762500"/>
            <a:ext cx="990600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19050">
            <a:solidFill>
              <a:srgbClr val="CBD5E1"/>
            </a:solidFill>
            <a:prstDash val="solid"/>
          </a:ln>
        </p:spPr>
      </p:sp>
      <p:sp>
        <p:nvSpPr>
          <p:cNvPr id="8" name="warm_2_support_text">
            <a:extLst xmlns:a="http://schemas.openxmlformats.org/drawingml/2006/main">
              <a:ext uri="{FF2B5EF4-FFF2-40B4-BE49-F238E27FC236}">
                <a16:creationId xmlns:a16="http://schemas.microsoft.com/office/drawing/2014/main" id="{DA4861CE-96EB-4934-9707-6139F2AEAB9F}"/>
              </a:ext>
            </a:extLst>
          </p:cNvPr>
          <p:cNvSpPr>
            <a:spLocks xmlns:a="http://schemas.openxmlformats.org/drawingml/2006/main" noGrp="1"/>
          </p:cNvSpPr>
          <p:nvPr/>
        </p:nvSpPr>
        <p:spPr>
          <a:xfrm xmlns:a="http://schemas.openxmlformats.org/drawingml/2006/main">
            <a:off x="1371600" y="4991100"/>
            <a:ext cx="944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000" b="0">
                <a:solidFill>
                  <a:srgbClr val="111827"/>
                </a:solidFill>
                <a:latin typeface="Trebuchet MS"/>
                <a:ea typeface="Trebuchet MS"/>
                <a:cs typeface="Trebuchet MS"/>
              </a:defRPr>
            </a:pPr>
            <a:r>
              <a:rPr sz="3000" b="0">
                <a:solidFill>
                  <a:srgbClr val="111827"/>
                </a:solidFill>
                <a:latin typeface="Trebuchet MS"/>
                <a:ea typeface="Trebuchet MS"/>
                <a:cs typeface="Trebuchet MS"/>
              </a:rPr>
              <a:t>Write both meanings.</a:t>
            </a:r>
          </a:p>
        </p:txBody>
      </p:sp>
    </p:spTree>
    <p:extLst>
      <p:ext uri="{BB962C8B-B14F-4D97-AF65-F5344CB8AC3E}">
        <p14:creationId xmlns:p14="http://schemas.microsoft.com/office/powerpoint/2010/main" val="850601365"/>
      </p:ext>
    </p:extLst>
  </p:cSld>
</p:sld>
</file>

<file path=ppt/slides/slide7.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7">
            <a:extLst xmlns:a="http://schemas.openxmlformats.org/drawingml/2006/main">
              <a:ext uri="{FF2B5EF4-FFF2-40B4-BE49-F238E27FC236}">
                <a16:creationId xmlns:a16="http://schemas.microsoft.com/office/drawing/2014/main" id="{2ACDAE7E-3153-405A-9E26-F7C8EA333F79}"/>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B7F3A"/>
          </a:solidFill>
          <a:ln xmlns:a="http://schemas.openxmlformats.org/drawingml/2006/main" w="0">
            <a:noFill/>
            <a:prstDash val="solid"/>
          </a:ln>
        </p:spPr>
      </p:sp>
      <p:sp>
        <p:nvSpPr>
          <p:cNvPr id="2" name="kicker_7">
            <a:extLst xmlns:a="http://schemas.openxmlformats.org/drawingml/2006/main">
              <a:ext uri="{FF2B5EF4-FFF2-40B4-BE49-F238E27FC236}">
                <a16:creationId xmlns:a16="http://schemas.microsoft.com/office/drawing/2014/main" id="{6CED69D4-7671-444D-B944-C91C15F5EC11}"/>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1B7F3A"/>
                </a:solidFill>
                <a:latin typeface="Trebuchet MS"/>
                <a:ea typeface="Trebuchet MS"/>
                <a:cs typeface="Trebuchet MS"/>
              </a:defRPr>
            </a:pPr>
            <a:r>
              <a:rPr sz="1800" b="1">
                <a:solidFill>
                  <a:srgbClr val="1B7F3A"/>
                </a:solidFill>
                <a:latin typeface="Trebuchet MS"/>
                <a:ea typeface="Trebuchet MS"/>
                <a:cs typeface="Trebuchet MS"/>
              </a:rPr>
              <a:t>LITERACY WARM-UP 2 OF 10 • ANSWER</a:t>
            </a:r>
          </a:p>
        </p:txBody>
      </p:sp>
      <p:sp>
        <p:nvSpPr>
          <p:cNvPr id="3" name="title_7">
            <a:extLst xmlns:a="http://schemas.openxmlformats.org/drawingml/2006/main">
              <a:ext uri="{FF2B5EF4-FFF2-40B4-BE49-F238E27FC236}">
                <a16:creationId xmlns:a16="http://schemas.microsoft.com/office/drawing/2014/main" id="{43D6EF2F-82B1-4181-8094-39A31908F891}"/>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The word parts explain the job</a:t>
            </a:r>
          </a:p>
        </p:txBody>
      </p:sp>
      <p:sp>
        <p:nvSpPr>
          <p:cNvPr id="4" name="page_7">
            <a:extLst xmlns:a="http://schemas.openxmlformats.org/drawingml/2006/main">
              <a:ext uri="{FF2B5EF4-FFF2-40B4-BE49-F238E27FC236}">
                <a16:creationId xmlns:a16="http://schemas.microsoft.com/office/drawing/2014/main" id="{2490188A-8BCE-433A-A30C-A4ECEB2BFDE0}"/>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7</a:t>
            </a:r>
          </a:p>
        </p:txBody>
      </p:sp>
      <p:sp>
        <p:nvSpPr>
          <p:cNvPr id="5" name="warm_2_answer_panel">
            <a:extLst xmlns:a="http://schemas.openxmlformats.org/drawingml/2006/main">
              <a:ext uri="{FF2B5EF4-FFF2-40B4-BE49-F238E27FC236}">
                <a16:creationId xmlns:a16="http://schemas.microsoft.com/office/drawing/2014/main" id="{E81CA1B8-C17F-42F8-9FFE-8D4B75133A3E}"/>
              </a:ext>
            </a:extLst>
          </p:cNvPr>
          <p:cNvSpPr>
            <a:spLocks xmlns:a="http://schemas.openxmlformats.org/drawingml/2006/main" noGrp="1"/>
          </p:cNvSpPr>
          <p:nvPr/>
        </p:nvSpPr>
        <p:spPr>
          <a:xfrm xmlns:a="http://schemas.openxmlformats.org/drawingml/2006/main">
            <a:off x="571500" y="1333500"/>
            <a:ext cx="11049000" cy="2571750"/>
          </a:xfrm>
          <a:prstGeom xmlns:a="http://schemas.openxmlformats.org/drawingml/2006/main" prst="roundRect">
            <a:avLst>
              <a:gd name="adj" fmla="val 5926"/>
            </a:avLst>
          </a:prstGeom>
          <a:solidFill xmlns:a="http://schemas.openxmlformats.org/drawingml/2006/main">
            <a:srgbClr val="EAF7EE"/>
          </a:solidFill>
          <a:ln xmlns:a="http://schemas.openxmlformats.org/drawingml/2006/main" w="19050">
            <a:solidFill>
              <a:srgbClr val="70A77C"/>
            </a:solidFill>
            <a:prstDash val="solid"/>
          </a:ln>
        </p:spPr>
      </p:sp>
      <p:sp>
        <p:nvSpPr>
          <p:cNvPr id="6" name="warm_2_answer_text">
            <a:extLst xmlns:a="http://schemas.openxmlformats.org/drawingml/2006/main">
              <a:ext uri="{FF2B5EF4-FFF2-40B4-BE49-F238E27FC236}">
                <a16:creationId xmlns:a16="http://schemas.microsoft.com/office/drawing/2014/main" id="{34453B94-B6B3-46B5-AD1B-503654F5668C}"/>
              </a:ext>
            </a:extLst>
          </p:cNvPr>
          <p:cNvSpPr>
            <a:spLocks xmlns:a="http://schemas.openxmlformats.org/drawingml/2006/main" noGrp="1"/>
          </p:cNvSpPr>
          <p:nvPr/>
        </p:nvSpPr>
        <p:spPr>
          <a:xfrm xmlns:a="http://schemas.openxmlformats.org/drawingml/2006/main">
            <a:off x="933450" y="1695450"/>
            <a:ext cx="103251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defRPr sz="4050" b="1">
                <a:solidFill>
                  <a:srgbClr val="111827"/>
                </a:solidFill>
                <a:latin typeface="Trebuchet MS"/>
                <a:ea typeface="Trebuchet MS"/>
                <a:cs typeface="Trebuchet MS"/>
              </a:defRPr>
            </a:pPr>
            <a:r>
              <a:rPr sz="5100" b="1">
                <a:solidFill>
                  <a:srgbClr val="1B7F3A"/>
                </a:solidFill>
                <a:latin typeface="Trebuchet MS"/>
                <a:ea typeface="Trebuchet MS"/>
                <a:cs typeface="Trebuchet MS"/>
              </a:rPr>
              <a:t>bio</a:t>
            </a:r>
            <a:r>
              <a:rPr>
                <a:latin typeface="Trebuchet MS"/>
                <a:ea typeface="Trebuchet MS"/>
                <a:cs typeface="Trebuchet MS"/>
              </a:rPr>
              <a:t> = life     •     </a:t>
            </a:r>
            <a:r>
              <a:rPr sz="5100" b="1">
                <a:solidFill>
                  <a:srgbClr val="1B7F3A"/>
                </a:solidFill>
                <a:latin typeface="Trebuchet MS"/>
                <a:ea typeface="Trebuchet MS"/>
                <a:cs typeface="Trebuchet MS"/>
              </a:rPr>
              <a:t>-logist</a:t>
            </a:r>
            <a:r>
              <a:rPr>
                <a:latin typeface="Trebuchet MS"/>
                <a:ea typeface="Trebuchet MS"/>
                <a:cs typeface="Trebuchet MS"/>
              </a:rPr>
              <a:t> = a person who studies a subject</a:t>
            </a:r>
          </a:p>
        </p:txBody>
      </p:sp>
      <p:sp>
        <p:nvSpPr>
          <p:cNvPr id="7" name="warm_2_cue_panel">
            <a:extLst xmlns:a="http://schemas.openxmlformats.org/drawingml/2006/main">
              <a:ext uri="{FF2B5EF4-FFF2-40B4-BE49-F238E27FC236}">
                <a16:creationId xmlns:a16="http://schemas.microsoft.com/office/drawing/2014/main" id="{A077F237-BFFE-4FC2-91F9-87146A777487}"/>
              </a:ext>
            </a:extLst>
          </p:cNvPr>
          <p:cNvSpPr>
            <a:spLocks xmlns:a="http://schemas.openxmlformats.org/drawingml/2006/main" noGrp="1"/>
          </p:cNvSpPr>
          <p:nvPr/>
        </p:nvSpPr>
        <p:spPr>
          <a:xfrm xmlns:a="http://schemas.openxmlformats.org/drawingml/2006/main">
            <a:off x="952500" y="4171950"/>
            <a:ext cx="10287000" cy="80010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19050">
            <a:solidFill>
              <a:srgbClr val="70A77C"/>
            </a:solidFill>
            <a:prstDash val="solid"/>
          </a:ln>
        </p:spPr>
      </p:sp>
      <p:sp>
        <p:nvSpPr>
          <p:cNvPr id="8" name="warm_2_cue_text">
            <a:extLst xmlns:a="http://schemas.openxmlformats.org/drawingml/2006/main">
              <a:ext uri="{FF2B5EF4-FFF2-40B4-BE49-F238E27FC236}">
                <a16:creationId xmlns:a16="http://schemas.microsoft.com/office/drawing/2014/main" id="{1DAC9A99-FC2D-484E-AD74-F2679307E17D}"/>
              </a:ext>
            </a:extLst>
          </p:cNvPr>
          <p:cNvSpPr>
            <a:spLocks xmlns:a="http://schemas.openxmlformats.org/drawingml/2006/main" noGrp="1"/>
          </p:cNvSpPr>
          <p:nvPr/>
        </p:nvSpPr>
        <p:spPr>
          <a:xfrm xmlns:a="http://schemas.openxmlformats.org/drawingml/2006/main">
            <a:off x="1143000" y="43624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1B7F3A"/>
                </a:solidFill>
                <a:latin typeface="Trebuchet MS"/>
                <a:ea typeface="Trebuchet MS"/>
                <a:cs typeface="Trebuchet MS"/>
              </a:defRPr>
            </a:pPr>
            <a:r>
              <a:rPr sz="2850" b="1">
                <a:solidFill>
                  <a:srgbClr val="1B7F3A"/>
                </a:solidFill>
                <a:latin typeface="Trebuchet MS"/>
                <a:ea typeface="Trebuchet MS"/>
                <a:cs typeface="Trebuchet MS"/>
              </a:rPr>
              <a:t>Meaning parts: bio + -logist</a:t>
            </a:r>
          </a:p>
        </p:txBody>
      </p:sp>
      <p:sp>
        <p:nvSpPr>
          <p:cNvPr id="9" name="warm_2_why_panel">
            <a:extLst xmlns:a="http://schemas.openxmlformats.org/drawingml/2006/main">
              <a:ext uri="{FF2B5EF4-FFF2-40B4-BE49-F238E27FC236}">
                <a16:creationId xmlns:a16="http://schemas.microsoft.com/office/drawing/2014/main" id="{2D035BB2-E63E-410F-A4C2-3889EF2522AA}"/>
              </a:ext>
            </a:extLst>
          </p:cNvPr>
          <p:cNvSpPr>
            <a:spLocks xmlns:a="http://schemas.openxmlformats.org/drawingml/2006/main" noGrp="1"/>
          </p:cNvSpPr>
          <p:nvPr/>
        </p:nvSpPr>
        <p:spPr>
          <a:xfrm xmlns:a="http://schemas.openxmlformats.org/drawingml/2006/main">
            <a:off x="952500" y="5181600"/>
            <a:ext cx="10287000" cy="9144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9050">
            <a:solidFill>
              <a:srgbClr val="CBD5E1"/>
            </a:solidFill>
            <a:prstDash val="solid"/>
          </a:ln>
        </p:spPr>
      </p:sp>
      <p:sp>
        <p:nvSpPr>
          <p:cNvPr id="10" name="warm_2_why_text">
            <a:extLst xmlns:a="http://schemas.openxmlformats.org/drawingml/2006/main">
              <a:ext uri="{FF2B5EF4-FFF2-40B4-BE49-F238E27FC236}">
                <a16:creationId xmlns:a16="http://schemas.microsoft.com/office/drawing/2014/main" id="{409D886A-0CD0-4E97-B441-5F374B6F7C2B}"/>
              </a:ext>
            </a:extLst>
          </p:cNvPr>
          <p:cNvSpPr>
            <a:spLocks xmlns:a="http://schemas.openxmlformats.org/drawingml/2006/main" noGrp="1"/>
          </p:cNvSpPr>
          <p:nvPr/>
        </p:nvSpPr>
        <p:spPr>
          <a:xfrm xmlns:a="http://schemas.openxmlformats.org/drawingml/2006/main">
            <a:off x="1143000" y="53721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0">
                <a:solidFill>
                  <a:srgbClr val="111827"/>
                </a:solidFill>
                <a:latin typeface="Trebuchet MS"/>
                <a:ea typeface="Trebuchet MS"/>
                <a:cs typeface="Trebuchet MS"/>
              </a:defRPr>
            </a:pPr>
            <a:r>
              <a:rPr sz="2850" b="0">
                <a:solidFill>
                  <a:srgbClr val="111827"/>
                </a:solidFill>
                <a:latin typeface="Trebuchet MS"/>
                <a:ea typeface="Trebuchet MS"/>
                <a:cs typeface="Trebuchet MS"/>
              </a:rPr>
              <a:t>Together, the parts show that a biologist studies living things.</a:t>
            </a:r>
          </a:p>
        </p:txBody>
      </p:sp>
    </p:spTree>
    <p:extLst>
      <p:ext uri="{BB962C8B-B14F-4D97-AF65-F5344CB8AC3E}">
        <p14:creationId xmlns:p14="http://schemas.microsoft.com/office/powerpoint/2010/main" val="2001640920"/>
      </p:ext>
    </p:extLst>
  </p:cSld>
</p:sld>
</file>

<file path=ppt/slides/slide8.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0" name="section_bar_8">
            <a:extLst xmlns:a="http://schemas.openxmlformats.org/drawingml/2006/main">
              <a:ext uri="{FF2B5EF4-FFF2-40B4-BE49-F238E27FC236}">
                <a16:creationId xmlns:a16="http://schemas.microsoft.com/office/drawing/2014/main" id="{073DAC55-F054-4813-8F5E-096EE54F8CF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D6A900"/>
          </a:solidFill>
          <a:ln xmlns:a="http://schemas.openxmlformats.org/drawingml/2006/main" w="0">
            <a:noFill/>
            <a:prstDash val="solid"/>
          </a:ln>
        </p:spPr>
      </p:sp>
      <p:sp>
        <p:nvSpPr>
          <p:cNvPr id="2" name="kicker_8">
            <a:extLst xmlns:a="http://schemas.openxmlformats.org/drawingml/2006/main">
              <a:ext uri="{FF2B5EF4-FFF2-40B4-BE49-F238E27FC236}">
                <a16:creationId xmlns:a16="http://schemas.microsoft.com/office/drawing/2014/main" id="{6FF96383-095B-42BC-87C8-B7A8A89A927C}"/>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D6A900"/>
                </a:solidFill>
                <a:latin typeface="Trebuchet MS"/>
                <a:ea typeface="Trebuchet MS"/>
                <a:cs typeface="Trebuchet MS"/>
              </a:defRPr>
            </a:pPr>
            <a:r>
              <a:rPr sz="1800" b="1">
                <a:solidFill>
                  <a:srgbClr val="D6A900"/>
                </a:solidFill>
                <a:latin typeface="Trebuchet MS"/>
                <a:ea typeface="Trebuchet MS"/>
                <a:cs typeface="Trebuchet MS"/>
              </a:rPr>
              <a:t>LITERACY WARM-UP 3 OF 10 • REMINDER</a:t>
            </a:r>
          </a:p>
        </p:txBody>
      </p:sp>
      <p:sp>
        <p:nvSpPr>
          <p:cNvPr id="3" name="title_8">
            <a:extLst xmlns:a="http://schemas.openxmlformats.org/drawingml/2006/main">
              <a:ext uri="{FF2B5EF4-FFF2-40B4-BE49-F238E27FC236}">
                <a16:creationId xmlns:a16="http://schemas.microsoft.com/office/drawing/2014/main" id="{F0FACB9E-7470-4161-B709-7D34C06B4692}"/>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Remember: commas separate items in a list</a:t>
            </a:r>
          </a:p>
        </p:txBody>
      </p:sp>
      <p:sp>
        <p:nvSpPr>
          <p:cNvPr id="4" name="page_8">
            <a:extLst xmlns:a="http://schemas.openxmlformats.org/drawingml/2006/main">
              <a:ext uri="{FF2B5EF4-FFF2-40B4-BE49-F238E27FC236}">
                <a16:creationId xmlns:a16="http://schemas.microsoft.com/office/drawing/2014/main" id="{D09A1139-AA0F-4487-AF7F-6A3CB7069094}"/>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8</a:t>
            </a:r>
          </a:p>
        </p:txBody>
      </p:sp>
      <p:sp>
        <p:nvSpPr>
          <p:cNvPr id="5" name="warm_3_rule_panel">
            <a:extLst xmlns:a="http://schemas.openxmlformats.org/drawingml/2006/main">
              <a:ext uri="{FF2B5EF4-FFF2-40B4-BE49-F238E27FC236}">
                <a16:creationId xmlns:a16="http://schemas.microsoft.com/office/drawing/2014/main" id="{AF9834AA-C6CF-4BD3-9F0F-63E3EA5C7823}"/>
              </a:ext>
            </a:extLst>
          </p:cNvPr>
          <p:cNvSpPr>
            <a:spLocks xmlns:a="http://schemas.openxmlformats.org/drawingml/2006/main" noGrp="1"/>
          </p:cNvSpPr>
          <p:nvPr/>
        </p:nvSpPr>
        <p:spPr>
          <a:xfrm xmlns:a="http://schemas.openxmlformats.org/drawingml/2006/main">
            <a:off x="571500" y="1257300"/>
            <a:ext cx="11049000" cy="2019300"/>
          </a:xfrm>
          <a:prstGeom xmlns:a="http://schemas.openxmlformats.org/drawingml/2006/main" prst="roundRect">
            <a:avLst>
              <a:gd name="adj" fmla="val 7547"/>
            </a:avLst>
          </a:prstGeom>
          <a:solidFill xmlns:a="http://schemas.openxmlformats.org/drawingml/2006/main">
            <a:srgbClr val="FFF3BF"/>
          </a:solidFill>
          <a:ln xmlns:a="http://schemas.openxmlformats.org/drawingml/2006/main" w="19050">
            <a:solidFill>
              <a:srgbClr val="D6A900"/>
            </a:solidFill>
            <a:prstDash val="solid"/>
          </a:ln>
        </p:spPr>
      </p:sp>
      <p:sp>
        <p:nvSpPr>
          <p:cNvPr id="6" name="warm_3_rule_text">
            <a:extLst xmlns:a="http://schemas.openxmlformats.org/drawingml/2006/main">
              <a:ext uri="{FF2B5EF4-FFF2-40B4-BE49-F238E27FC236}">
                <a16:creationId xmlns:a16="http://schemas.microsoft.com/office/drawing/2014/main" id="{5273CF81-F7E6-40F1-8372-D47C10891917}"/>
              </a:ext>
            </a:extLst>
          </p:cNvPr>
          <p:cNvSpPr>
            <a:spLocks xmlns:a="http://schemas.openxmlformats.org/drawingml/2006/main" noGrp="1"/>
          </p:cNvSpPr>
          <p:nvPr/>
        </p:nvSpPr>
        <p:spPr>
          <a:xfrm xmlns:a="http://schemas.openxmlformats.org/drawingml/2006/main">
            <a:off x="895350" y="1581150"/>
            <a:ext cx="104013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600" b="1">
                <a:solidFill>
                  <a:srgbClr val="3B2F00"/>
                </a:solidFill>
                <a:latin typeface="Trebuchet MS"/>
                <a:ea typeface="Trebuchet MS"/>
                <a:cs typeface="Trebuchet MS"/>
              </a:defRPr>
            </a:pPr>
            <a:r>
              <a:rPr sz="3600" b="1">
                <a:solidFill>
                  <a:srgbClr val="3B2F00"/>
                </a:solidFill>
                <a:latin typeface="Trebuchet MS"/>
                <a:ea typeface="Trebuchet MS"/>
                <a:cs typeface="Trebuchet MS"/>
              </a:rPr>
              <a:t>Put commas between the earlier items, then use and or or before the last item.</a:t>
            </a:r>
          </a:p>
        </p:txBody>
      </p:sp>
      <p:sp>
        <p:nvSpPr>
          <p:cNvPr id="7" name="warm_3_example_panel">
            <a:extLst xmlns:a="http://schemas.openxmlformats.org/drawingml/2006/main">
              <a:ext uri="{FF2B5EF4-FFF2-40B4-BE49-F238E27FC236}">
                <a16:creationId xmlns:a16="http://schemas.microsoft.com/office/drawing/2014/main" id="{73E75E9F-0A69-4FA5-BB02-4107D605EB5F}"/>
              </a:ext>
            </a:extLst>
          </p:cNvPr>
          <p:cNvSpPr>
            <a:spLocks xmlns:a="http://schemas.openxmlformats.org/drawingml/2006/main" noGrp="1"/>
          </p:cNvSpPr>
          <p:nvPr/>
        </p:nvSpPr>
        <p:spPr>
          <a:xfrm xmlns:a="http://schemas.openxmlformats.org/drawingml/2006/main">
            <a:off x="571500" y="3562350"/>
            <a:ext cx="11049000" cy="2114550"/>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19050">
            <a:solidFill>
              <a:srgbClr val="CBD5E1"/>
            </a:solidFill>
            <a:prstDash val="solid"/>
          </a:ln>
        </p:spPr>
      </p:sp>
      <p:sp>
        <p:nvSpPr>
          <p:cNvPr id="8" name="warm_3_example_text">
            <a:extLst xmlns:a="http://schemas.openxmlformats.org/drawingml/2006/main">
              <a:ext uri="{FF2B5EF4-FFF2-40B4-BE49-F238E27FC236}">
                <a16:creationId xmlns:a16="http://schemas.microsoft.com/office/drawing/2014/main" id="{9AF05E90-0E5A-4C04-988E-AC1171486DF4}"/>
              </a:ext>
            </a:extLst>
          </p:cNvPr>
          <p:cNvSpPr>
            <a:spLocks xmlns:a="http://schemas.openxmlformats.org/drawingml/2006/main" noGrp="1"/>
          </p:cNvSpPr>
          <p:nvPr/>
        </p:nvSpPr>
        <p:spPr>
          <a:xfrm xmlns:a="http://schemas.openxmlformats.org/drawingml/2006/main">
            <a:off x="895350" y="3886200"/>
            <a:ext cx="104013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150" b="0">
                <a:solidFill>
                  <a:srgbClr val="111827"/>
                </a:solidFill>
                <a:latin typeface="Trebuchet MS"/>
                <a:ea typeface="Trebuchet MS"/>
                <a:cs typeface="Trebuchet MS"/>
              </a:defRPr>
            </a:pPr>
            <a:r>
              <a:rPr sz="3150" b="0">
                <a:solidFill>
                  <a:srgbClr val="111827"/>
                </a:solidFill>
                <a:latin typeface="Trebuchet MS"/>
                <a:ea typeface="Trebuchet MS"/>
                <a:cs typeface="Trebuchet MS"/>
              </a:rPr>
              <a:t>Example: The kit contains a ruler, pencil and eraser.</a:t>
            </a:r>
          </a:p>
        </p:txBody>
      </p:sp>
      <p:sp>
        <p:nvSpPr>
          <p:cNvPr id="9" name="warm_3_cue">
            <a:extLst xmlns:a="http://schemas.openxmlformats.org/drawingml/2006/main">
              <a:ext uri="{FF2B5EF4-FFF2-40B4-BE49-F238E27FC236}">
                <a16:creationId xmlns:a16="http://schemas.microsoft.com/office/drawing/2014/main" id="{01690369-8DF1-44F7-A5C2-6448C6C84264}"/>
              </a:ext>
            </a:extLst>
          </p:cNvPr>
          <p:cNvSpPr>
            <a:spLocks xmlns:a="http://schemas.openxmlformats.org/drawingml/2006/main" noGrp="1"/>
          </p:cNvSpPr>
          <p:nvPr/>
        </p:nvSpPr>
        <p:spPr>
          <a:xfrm xmlns:a="http://schemas.openxmlformats.org/drawingml/2006/main">
            <a:off x="781050" y="58102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475569"/>
                </a:solidFill>
                <a:latin typeface="Trebuchet MS"/>
                <a:ea typeface="Trebuchet MS"/>
                <a:cs typeface="Trebuchet MS"/>
              </a:defRPr>
            </a:pPr>
            <a:r>
              <a:rPr sz="2850" b="1">
                <a:solidFill>
                  <a:srgbClr val="475569"/>
                </a:solidFill>
                <a:latin typeface="Trebuchet MS"/>
                <a:ea typeface="Trebuchet MS"/>
                <a:cs typeface="Trebuchet MS"/>
              </a:rPr>
              <a:t>Use the reminder to solve the next slide.</a:t>
            </a:r>
          </a:p>
        </p:txBody>
      </p:sp>
    </p:spTree>
    <p:extLst>
      <p:ext uri="{BB962C8B-B14F-4D97-AF65-F5344CB8AC3E}">
        <p14:creationId xmlns:p14="http://schemas.microsoft.com/office/powerpoint/2010/main" val="481636018"/>
      </p:ext>
    </p:extLst>
  </p:cSld>
</p:sld>
</file>

<file path=ppt/slides/slide9.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section_bar_9">
            <a:extLst xmlns:a="http://schemas.openxmlformats.org/drawingml/2006/main">
              <a:ext uri="{FF2B5EF4-FFF2-40B4-BE49-F238E27FC236}">
                <a16:creationId xmlns:a16="http://schemas.microsoft.com/office/drawing/2014/main" id="{3177C4B0-50FC-47AB-8675-06E4D1CD1BF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9">
            <a:extLst xmlns:a="http://schemas.openxmlformats.org/drawingml/2006/main">
              <a:ext uri="{FF2B5EF4-FFF2-40B4-BE49-F238E27FC236}">
                <a16:creationId xmlns:a16="http://schemas.microsoft.com/office/drawing/2014/main" id="{6EEA85D3-C013-4F2E-BD37-7BBF12F88ECC}"/>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005A9C"/>
                </a:solidFill>
                <a:latin typeface="Trebuchet MS"/>
                <a:ea typeface="Trebuchet MS"/>
                <a:cs typeface="Trebuchet MS"/>
              </a:defRPr>
            </a:pPr>
            <a:r>
              <a:rPr sz="1800" b="1">
                <a:solidFill>
                  <a:srgbClr val="005A9C"/>
                </a:solidFill>
                <a:latin typeface="Trebuchet MS"/>
                <a:ea typeface="Trebuchet MS"/>
                <a:cs typeface="Trebuchet MS"/>
              </a:rPr>
              <a:t>LITERACY WARM-UP 3 OF 10 • QUESTION</a:t>
            </a:r>
          </a:p>
        </p:txBody>
      </p:sp>
      <p:sp>
        <p:nvSpPr>
          <p:cNvPr id="3" name="title_9">
            <a:extLst xmlns:a="http://schemas.openxmlformats.org/drawingml/2006/main">
              <a:ext uri="{FF2B5EF4-FFF2-40B4-BE49-F238E27FC236}">
                <a16:creationId xmlns:a16="http://schemas.microsoft.com/office/drawing/2014/main" id="{629465A6-2415-4D63-9F69-ED9BEC831316}"/>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Add the missing commas</a:t>
            </a:r>
          </a:p>
        </p:txBody>
      </p:sp>
      <p:sp>
        <p:nvSpPr>
          <p:cNvPr id="4" name="page_9">
            <a:extLst xmlns:a="http://schemas.openxmlformats.org/drawingml/2006/main">
              <a:ext uri="{FF2B5EF4-FFF2-40B4-BE49-F238E27FC236}">
                <a16:creationId xmlns:a16="http://schemas.microsoft.com/office/drawing/2014/main" id="{D806F920-39A2-467F-88D7-26F5267E1DD6}"/>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9</a:t>
            </a:r>
          </a:p>
        </p:txBody>
      </p:sp>
      <p:sp>
        <p:nvSpPr>
          <p:cNvPr id="5" name="warm_3_question_panel">
            <a:extLst xmlns:a="http://schemas.openxmlformats.org/drawingml/2006/main">
              <a:ext uri="{FF2B5EF4-FFF2-40B4-BE49-F238E27FC236}">
                <a16:creationId xmlns:a16="http://schemas.microsoft.com/office/drawing/2014/main" id="{13A1300B-4DB3-4E11-AB98-A2800F3DEF1B}"/>
              </a:ext>
            </a:extLst>
          </p:cNvPr>
          <p:cNvSpPr>
            <a:spLocks xmlns:a="http://schemas.openxmlformats.org/drawingml/2006/main" noGrp="1"/>
          </p:cNvSpPr>
          <p:nvPr/>
        </p:nvSpPr>
        <p:spPr>
          <a:xfrm xmlns:a="http://schemas.openxmlformats.org/drawingml/2006/main">
            <a:off x="571500" y="1333500"/>
            <a:ext cx="11049000" cy="3162300"/>
          </a:xfrm>
          <a:prstGeom xmlns:a="http://schemas.openxmlformats.org/drawingml/2006/main" prst="roundRect">
            <a:avLst>
              <a:gd name="adj" fmla="val 4819"/>
            </a:avLst>
          </a:prstGeom>
          <a:solidFill xmlns:a="http://schemas.openxmlformats.org/drawingml/2006/main">
            <a:srgbClr val="EAF2F8"/>
          </a:solidFill>
          <a:ln xmlns:a="http://schemas.openxmlformats.org/drawingml/2006/main" w="19050">
            <a:solidFill>
              <a:srgbClr val="7AA7C7"/>
            </a:solidFill>
            <a:prstDash val="solid"/>
          </a:ln>
        </p:spPr>
      </p:sp>
      <p:sp>
        <p:nvSpPr>
          <p:cNvPr id="6" name="warm_3_question_text">
            <a:extLst xmlns:a="http://schemas.openxmlformats.org/drawingml/2006/main">
              <a:ext uri="{FF2B5EF4-FFF2-40B4-BE49-F238E27FC236}">
                <a16:creationId xmlns:a16="http://schemas.microsoft.com/office/drawing/2014/main" id="{FE6AD80D-1787-4351-A770-3C6B91DD2482}"/>
              </a:ext>
            </a:extLst>
          </p:cNvPr>
          <p:cNvSpPr>
            <a:spLocks xmlns:a="http://schemas.openxmlformats.org/drawingml/2006/main" noGrp="1"/>
          </p:cNvSpPr>
          <p:nvPr/>
        </p:nvSpPr>
        <p:spPr>
          <a:xfrm xmlns:a="http://schemas.openxmlformats.org/drawingml/2006/main">
            <a:off x="933450" y="1695450"/>
            <a:ext cx="103251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900" b="1">
                <a:solidFill>
                  <a:srgbClr val="103A5E"/>
                </a:solidFill>
                <a:latin typeface="Trebuchet MS"/>
                <a:ea typeface="Trebuchet MS"/>
                <a:cs typeface="Trebuchet MS"/>
              </a:defRPr>
            </a:pPr>
            <a:r>
              <a:rPr sz="3900" b="1">
                <a:solidFill>
                  <a:srgbClr val="103A5E"/>
                </a:solidFill>
                <a:latin typeface="Trebuchet MS"/>
                <a:ea typeface="Trebuchet MS"/>
                <a:cs typeface="Trebuchet MS"/>
              </a:rPr>
              <a:t>The camel has long legs thick eyelashes and wide feet.</a:t>
            </a:r>
          </a:p>
        </p:txBody>
      </p:sp>
      <p:sp>
        <p:nvSpPr>
          <p:cNvPr id="7" name="warm_3_support_panel">
            <a:extLst xmlns:a="http://schemas.openxmlformats.org/drawingml/2006/main">
              <a:ext uri="{FF2B5EF4-FFF2-40B4-BE49-F238E27FC236}">
                <a16:creationId xmlns:a16="http://schemas.microsoft.com/office/drawing/2014/main" id="{11849A97-BF79-40AA-9BD1-418F50B55794}"/>
              </a:ext>
            </a:extLst>
          </p:cNvPr>
          <p:cNvSpPr>
            <a:spLocks xmlns:a="http://schemas.openxmlformats.org/drawingml/2006/main" noGrp="1"/>
          </p:cNvSpPr>
          <p:nvPr/>
        </p:nvSpPr>
        <p:spPr>
          <a:xfrm xmlns:a="http://schemas.openxmlformats.org/drawingml/2006/main">
            <a:off x="1143000" y="4762500"/>
            <a:ext cx="990600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19050">
            <a:solidFill>
              <a:srgbClr val="CBD5E1"/>
            </a:solidFill>
            <a:prstDash val="solid"/>
          </a:ln>
        </p:spPr>
      </p:sp>
      <p:sp>
        <p:nvSpPr>
          <p:cNvPr id="8" name="warm_3_support_text">
            <a:extLst xmlns:a="http://schemas.openxmlformats.org/drawingml/2006/main">
              <a:ext uri="{FF2B5EF4-FFF2-40B4-BE49-F238E27FC236}">
                <a16:creationId xmlns:a16="http://schemas.microsoft.com/office/drawing/2014/main" id="{F54C869D-DF0B-4C30-8107-A7055DCCF64B}"/>
              </a:ext>
            </a:extLst>
          </p:cNvPr>
          <p:cNvSpPr>
            <a:spLocks xmlns:a="http://schemas.openxmlformats.org/drawingml/2006/main" noGrp="1"/>
          </p:cNvSpPr>
          <p:nvPr/>
        </p:nvSpPr>
        <p:spPr>
          <a:xfrm xmlns:a="http://schemas.openxmlformats.org/drawingml/2006/main">
            <a:off x="1371600" y="4991100"/>
            <a:ext cx="944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000" b="0">
                <a:solidFill>
                  <a:srgbClr val="111827"/>
                </a:solidFill>
                <a:latin typeface="Trebuchet MS"/>
                <a:ea typeface="Trebuchet MS"/>
                <a:cs typeface="Trebuchet MS"/>
              </a:defRPr>
            </a:pPr>
            <a:r>
              <a:rPr sz="3000" b="0">
                <a:solidFill>
                  <a:srgbClr val="111827"/>
                </a:solidFill>
                <a:latin typeface="Trebuchet MS"/>
                <a:ea typeface="Trebuchet MS"/>
                <a:cs typeface="Trebuchet MS"/>
              </a:rPr>
              <a:t>Write the complete corrected sentence.</a:t>
            </a:r>
          </a:p>
        </p:txBody>
      </p:sp>
    </p:spTree>
    <p:extLst>
      <p:ext uri="{BB962C8B-B14F-4D97-AF65-F5344CB8AC3E}">
        <p14:creationId xmlns:p14="http://schemas.microsoft.com/office/powerpoint/2010/main" val="869919407"/>
      </p:ext>
    </p:extLst>
  </p:cSld>
</p:sld>
</file>

<file path=ppt/slides/slide10.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10">
            <a:extLst xmlns:a="http://schemas.openxmlformats.org/drawingml/2006/main">
              <a:ext uri="{FF2B5EF4-FFF2-40B4-BE49-F238E27FC236}">
                <a16:creationId xmlns:a16="http://schemas.microsoft.com/office/drawing/2014/main" id="{BC54AF47-2D8C-4CB6-84C4-B749A40ACC8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B7F3A"/>
          </a:solidFill>
          <a:ln xmlns:a="http://schemas.openxmlformats.org/drawingml/2006/main" w="0">
            <a:noFill/>
            <a:prstDash val="solid"/>
          </a:ln>
        </p:spPr>
      </p:sp>
      <p:sp>
        <p:nvSpPr>
          <p:cNvPr id="2" name="kicker_10">
            <a:extLst xmlns:a="http://schemas.openxmlformats.org/drawingml/2006/main">
              <a:ext uri="{FF2B5EF4-FFF2-40B4-BE49-F238E27FC236}">
                <a16:creationId xmlns:a16="http://schemas.microsoft.com/office/drawing/2014/main" id="{44C75C6B-5C26-4971-AE57-22BC0449E68D}"/>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1B7F3A"/>
                </a:solidFill>
                <a:latin typeface="Trebuchet MS"/>
                <a:ea typeface="Trebuchet MS"/>
                <a:cs typeface="Trebuchet MS"/>
              </a:defRPr>
            </a:pPr>
            <a:r>
              <a:rPr sz="1800" b="1">
                <a:solidFill>
                  <a:srgbClr val="1B7F3A"/>
                </a:solidFill>
                <a:latin typeface="Trebuchet MS"/>
                <a:ea typeface="Trebuchet MS"/>
                <a:cs typeface="Trebuchet MS"/>
              </a:rPr>
              <a:t>LITERACY WARM-UP 3 OF 10 • ANSWER</a:t>
            </a:r>
          </a:p>
        </p:txBody>
      </p:sp>
      <p:sp>
        <p:nvSpPr>
          <p:cNvPr id="3" name="title_10">
            <a:extLst xmlns:a="http://schemas.openxmlformats.org/drawingml/2006/main">
              <a:ext uri="{FF2B5EF4-FFF2-40B4-BE49-F238E27FC236}">
                <a16:creationId xmlns:a16="http://schemas.microsoft.com/office/drawing/2014/main" id="{7B561709-B786-41CE-86ED-AEA02B96A2F7}"/>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The commas separate three features</a:t>
            </a:r>
          </a:p>
        </p:txBody>
      </p:sp>
      <p:sp>
        <p:nvSpPr>
          <p:cNvPr id="4" name="page_10">
            <a:extLst xmlns:a="http://schemas.openxmlformats.org/drawingml/2006/main">
              <a:ext uri="{FF2B5EF4-FFF2-40B4-BE49-F238E27FC236}">
                <a16:creationId xmlns:a16="http://schemas.microsoft.com/office/drawing/2014/main" id="{5EDC3CE2-2861-4602-95A9-0F81A9D8A493}"/>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10</a:t>
            </a:r>
          </a:p>
        </p:txBody>
      </p:sp>
      <p:sp>
        <p:nvSpPr>
          <p:cNvPr id="5" name="warm_3_answer_panel">
            <a:extLst xmlns:a="http://schemas.openxmlformats.org/drawingml/2006/main">
              <a:ext uri="{FF2B5EF4-FFF2-40B4-BE49-F238E27FC236}">
                <a16:creationId xmlns:a16="http://schemas.microsoft.com/office/drawing/2014/main" id="{DC9A004D-47C8-496A-BD5A-839561209A74}"/>
              </a:ext>
            </a:extLst>
          </p:cNvPr>
          <p:cNvSpPr>
            <a:spLocks xmlns:a="http://schemas.openxmlformats.org/drawingml/2006/main" noGrp="1"/>
          </p:cNvSpPr>
          <p:nvPr/>
        </p:nvSpPr>
        <p:spPr>
          <a:xfrm xmlns:a="http://schemas.openxmlformats.org/drawingml/2006/main">
            <a:off x="571500" y="1333500"/>
            <a:ext cx="11049000" cy="2571750"/>
          </a:xfrm>
          <a:prstGeom xmlns:a="http://schemas.openxmlformats.org/drawingml/2006/main" prst="roundRect">
            <a:avLst>
              <a:gd name="adj" fmla="val 5926"/>
            </a:avLst>
          </a:prstGeom>
          <a:solidFill xmlns:a="http://schemas.openxmlformats.org/drawingml/2006/main">
            <a:srgbClr val="EAF7EE"/>
          </a:solidFill>
          <a:ln xmlns:a="http://schemas.openxmlformats.org/drawingml/2006/main" w="19050">
            <a:solidFill>
              <a:srgbClr val="70A77C"/>
            </a:solidFill>
            <a:prstDash val="solid"/>
          </a:ln>
        </p:spPr>
      </p:sp>
      <p:sp>
        <p:nvSpPr>
          <p:cNvPr id="6" name="warm_3_answer_text">
            <a:extLst xmlns:a="http://schemas.openxmlformats.org/drawingml/2006/main">
              <a:ext uri="{FF2B5EF4-FFF2-40B4-BE49-F238E27FC236}">
                <a16:creationId xmlns:a16="http://schemas.microsoft.com/office/drawing/2014/main" id="{970C3784-F239-4DC8-AF23-1FB76421439F}"/>
              </a:ext>
            </a:extLst>
          </p:cNvPr>
          <p:cNvSpPr>
            <a:spLocks xmlns:a="http://schemas.openxmlformats.org/drawingml/2006/main" noGrp="1"/>
          </p:cNvSpPr>
          <p:nvPr/>
        </p:nvSpPr>
        <p:spPr>
          <a:xfrm xmlns:a="http://schemas.openxmlformats.org/drawingml/2006/main">
            <a:off x="933450" y="1695450"/>
            <a:ext cx="103251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defRPr sz="4050" b="1">
                <a:solidFill>
                  <a:srgbClr val="111827"/>
                </a:solidFill>
                <a:latin typeface="Trebuchet MS"/>
                <a:ea typeface="Trebuchet MS"/>
                <a:cs typeface="Trebuchet MS"/>
              </a:defRPr>
            </a:pPr>
            <a:r>
              <a:rPr>
                <a:latin typeface="Trebuchet MS"/>
                <a:ea typeface="Trebuchet MS"/>
                <a:cs typeface="Trebuchet MS"/>
              </a:rPr>
              <a:t>The camel has long legs</a:t>
            </a:r>
            <a:r>
              <a:rPr sz="5100" b="1">
                <a:solidFill>
                  <a:srgbClr val="1B7F3A"/>
                </a:solidFill>
                <a:latin typeface="Trebuchet MS"/>
                <a:ea typeface="Trebuchet MS"/>
                <a:cs typeface="Trebuchet MS"/>
              </a:rPr>
              <a:t>,</a:t>
            </a:r>
            <a:r>
              <a:rPr>
                <a:latin typeface="Trebuchet MS"/>
                <a:ea typeface="Trebuchet MS"/>
                <a:cs typeface="Trebuchet MS"/>
              </a:rPr>
              <a:t> thick eyelashes</a:t>
            </a:r>
            <a:r>
              <a:rPr sz="5100" b="1">
                <a:solidFill>
                  <a:srgbClr val="1B7F3A"/>
                </a:solidFill>
                <a:latin typeface="Trebuchet MS"/>
                <a:ea typeface="Trebuchet MS"/>
                <a:cs typeface="Trebuchet MS"/>
              </a:rPr>
              <a:t>,</a:t>
            </a:r>
            <a:r>
              <a:rPr>
                <a:latin typeface="Trebuchet MS"/>
                <a:ea typeface="Trebuchet MS"/>
                <a:cs typeface="Trebuchet MS"/>
              </a:rPr>
              <a:t> and wide feet.</a:t>
            </a:r>
          </a:p>
        </p:txBody>
      </p:sp>
      <p:sp>
        <p:nvSpPr>
          <p:cNvPr id="7" name="warm_3_cue_panel">
            <a:extLst xmlns:a="http://schemas.openxmlformats.org/drawingml/2006/main">
              <a:ext uri="{FF2B5EF4-FFF2-40B4-BE49-F238E27FC236}">
                <a16:creationId xmlns:a16="http://schemas.microsoft.com/office/drawing/2014/main" id="{06B6AD68-40C4-4C27-8678-CDD6604F4638}"/>
              </a:ext>
            </a:extLst>
          </p:cNvPr>
          <p:cNvSpPr>
            <a:spLocks xmlns:a="http://schemas.openxmlformats.org/drawingml/2006/main" noGrp="1"/>
          </p:cNvSpPr>
          <p:nvPr/>
        </p:nvSpPr>
        <p:spPr>
          <a:xfrm xmlns:a="http://schemas.openxmlformats.org/drawingml/2006/main">
            <a:off x="952500" y="4171950"/>
            <a:ext cx="10287000" cy="80010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19050">
            <a:solidFill>
              <a:srgbClr val="70A77C"/>
            </a:solidFill>
            <a:prstDash val="solid"/>
          </a:ln>
        </p:spPr>
      </p:sp>
      <p:sp>
        <p:nvSpPr>
          <p:cNvPr id="8" name="warm_3_cue_text">
            <a:extLst xmlns:a="http://schemas.openxmlformats.org/drawingml/2006/main">
              <a:ext uri="{FF2B5EF4-FFF2-40B4-BE49-F238E27FC236}">
                <a16:creationId xmlns:a16="http://schemas.microsoft.com/office/drawing/2014/main" id="{62E71016-F0F1-4F54-BFC9-4976FEBBBEF9}"/>
              </a:ext>
            </a:extLst>
          </p:cNvPr>
          <p:cNvSpPr>
            <a:spLocks xmlns:a="http://schemas.openxmlformats.org/drawingml/2006/main" noGrp="1"/>
          </p:cNvSpPr>
          <p:nvPr/>
        </p:nvSpPr>
        <p:spPr>
          <a:xfrm xmlns:a="http://schemas.openxmlformats.org/drawingml/2006/main">
            <a:off x="1143000" y="43624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1B7F3A"/>
                </a:solidFill>
                <a:latin typeface="Trebuchet MS"/>
                <a:ea typeface="Trebuchet MS"/>
                <a:cs typeface="Trebuchet MS"/>
              </a:defRPr>
            </a:pPr>
            <a:r>
              <a:rPr sz="2850" b="1">
                <a:solidFill>
                  <a:srgbClr val="1B7F3A"/>
                </a:solidFill>
                <a:latin typeface="Trebuchet MS"/>
                <a:ea typeface="Trebuchet MS"/>
                <a:cs typeface="Trebuchet MS"/>
              </a:rPr>
              <a:t>Added commas: after legs and after eyelashes</a:t>
            </a:r>
          </a:p>
        </p:txBody>
      </p:sp>
      <p:sp>
        <p:nvSpPr>
          <p:cNvPr id="9" name="warm_3_why_panel">
            <a:extLst xmlns:a="http://schemas.openxmlformats.org/drawingml/2006/main">
              <a:ext uri="{FF2B5EF4-FFF2-40B4-BE49-F238E27FC236}">
                <a16:creationId xmlns:a16="http://schemas.microsoft.com/office/drawing/2014/main" id="{60B3D2DE-3616-4FD7-8EC0-B1884F27B298}"/>
              </a:ext>
            </a:extLst>
          </p:cNvPr>
          <p:cNvSpPr>
            <a:spLocks xmlns:a="http://schemas.openxmlformats.org/drawingml/2006/main" noGrp="1"/>
          </p:cNvSpPr>
          <p:nvPr/>
        </p:nvSpPr>
        <p:spPr>
          <a:xfrm xmlns:a="http://schemas.openxmlformats.org/drawingml/2006/main">
            <a:off x="952500" y="5181600"/>
            <a:ext cx="10287000" cy="9144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9050">
            <a:solidFill>
              <a:srgbClr val="CBD5E1"/>
            </a:solidFill>
            <a:prstDash val="solid"/>
          </a:ln>
        </p:spPr>
      </p:sp>
      <p:sp>
        <p:nvSpPr>
          <p:cNvPr id="10" name="warm_3_why_text">
            <a:extLst xmlns:a="http://schemas.openxmlformats.org/drawingml/2006/main">
              <a:ext uri="{FF2B5EF4-FFF2-40B4-BE49-F238E27FC236}">
                <a16:creationId xmlns:a16="http://schemas.microsoft.com/office/drawing/2014/main" id="{E08270A1-DACA-4A53-9C96-146650032849}"/>
              </a:ext>
            </a:extLst>
          </p:cNvPr>
          <p:cNvSpPr>
            <a:spLocks xmlns:a="http://schemas.openxmlformats.org/drawingml/2006/main" noGrp="1"/>
          </p:cNvSpPr>
          <p:nvPr/>
        </p:nvSpPr>
        <p:spPr>
          <a:xfrm xmlns:a="http://schemas.openxmlformats.org/drawingml/2006/main">
            <a:off x="1143000" y="53721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0">
                <a:solidFill>
                  <a:srgbClr val="111827"/>
                </a:solidFill>
                <a:latin typeface="Trebuchet MS"/>
                <a:ea typeface="Trebuchet MS"/>
                <a:cs typeface="Trebuchet MS"/>
              </a:defRPr>
            </a:pPr>
            <a:r>
              <a:rPr sz="2850" b="0">
                <a:solidFill>
                  <a:srgbClr val="111827"/>
                </a:solidFill>
                <a:latin typeface="Trebuchet MS"/>
                <a:ea typeface="Trebuchet MS"/>
                <a:cs typeface="Trebuchet MS"/>
              </a:rPr>
              <a:t>The commas separate the earlier items. The word and introduces the last item.</a:t>
            </a:r>
          </a:p>
        </p:txBody>
      </p:sp>
    </p:spTree>
    <p:extLst>
      <p:ext uri="{BB962C8B-B14F-4D97-AF65-F5344CB8AC3E}">
        <p14:creationId xmlns:p14="http://schemas.microsoft.com/office/powerpoint/2010/main" val="1325856960"/>
      </p:ext>
    </p:extLst>
  </p:cSld>
</p:sld>
</file>

<file path=ppt/slides/slide11.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0" name="section_bar_11">
            <a:extLst xmlns:a="http://schemas.openxmlformats.org/drawingml/2006/main">
              <a:ext uri="{FF2B5EF4-FFF2-40B4-BE49-F238E27FC236}">
                <a16:creationId xmlns:a16="http://schemas.microsoft.com/office/drawing/2014/main" id="{89F20375-D280-4055-B3F6-78752023BF42}"/>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D6A900"/>
          </a:solidFill>
          <a:ln xmlns:a="http://schemas.openxmlformats.org/drawingml/2006/main" w="0">
            <a:noFill/>
            <a:prstDash val="solid"/>
          </a:ln>
        </p:spPr>
      </p:sp>
      <p:sp>
        <p:nvSpPr>
          <p:cNvPr id="2" name="kicker_11">
            <a:extLst xmlns:a="http://schemas.openxmlformats.org/drawingml/2006/main">
              <a:ext uri="{FF2B5EF4-FFF2-40B4-BE49-F238E27FC236}">
                <a16:creationId xmlns:a16="http://schemas.microsoft.com/office/drawing/2014/main" id="{ADB737ED-D4D1-4577-874B-299477B1EEEC}"/>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D6A900"/>
                </a:solidFill>
                <a:latin typeface="Trebuchet MS"/>
                <a:ea typeface="Trebuchet MS"/>
                <a:cs typeface="Trebuchet MS"/>
              </a:defRPr>
            </a:pPr>
            <a:r>
              <a:rPr sz="1800" b="1">
                <a:solidFill>
                  <a:srgbClr val="D6A900"/>
                </a:solidFill>
                <a:latin typeface="Trebuchet MS"/>
                <a:ea typeface="Trebuchet MS"/>
                <a:cs typeface="Trebuchet MS"/>
              </a:rPr>
              <a:t>LITERACY WARM-UP 4 OF 10 • REMINDER</a:t>
            </a:r>
          </a:p>
        </p:txBody>
      </p:sp>
      <p:sp>
        <p:nvSpPr>
          <p:cNvPr id="3" name="title_11">
            <a:extLst xmlns:a="http://schemas.openxmlformats.org/drawingml/2006/main">
              <a:ext uri="{FF2B5EF4-FFF2-40B4-BE49-F238E27FC236}">
                <a16:creationId xmlns:a16="http://schemas.microsoft.com/office/drawing/2014/main" id="{F3D73C7F-A8FC-4C94-A48E-E12DBFF6AEB0}"/>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Remember: because gives a reason</a:t>
            </a:r>
          </a:p>
        </p:txBody>
      </p:sp>
      <p:sp>
        <p:nvSpPr>
          <p:cNvPr id="4" name="page_11">
            <a:extLst xmlns:a="http://schemas.openxmlformats.org/drawingml/2006/main">
              <a:ext uri="{FF2B5EF4-FFF2-40B4-BE49-F238E27FC236}">
                <a16:creationId xmlns:a16="http://schemas.microsoft.com/office/drawing/2014/main" id="{17D6EF7C-FE8A-494F-896C-8FEE364B5BFD}"/>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11</a:t>
            </a:r>
          </a:p>
        </p:txBody>
      </p:sp>
      <p:sp>
        <p:nvSpPr>
          <p:cNvPr id="5" name="warm_4_rule_panel">
            <a:extLst xmlns:a="http://schemas.openxmlformats.org/drawingml/2006/main">
              <a:ext uri="{FF2B5EF4-FFF2-40B4-BE49-F238E27FC236}">
                <a16:creationId xmlns:a16="http://schemas.microsoft.com/office/drawing/2014/main" id="{300E9B05-6FE8-4CFF-A675-FC508769E261}"/>
              </a:ext>
            </a:extLst>
          </p:cNvPr>
          <p:cNvSpPr>
            <a:spLocks xmlns:a="http://schemas.openxmlformats.org/drawingml/2006/main" noGrp="1"/>
          </p:cNvSpPr>
          <p:nvPr/>
        </p:nvSpPr>
        <p:spPr>
          <a:xfrm xmlns:a="http://schemas.openxmlformats.org/drawingml/2006/main">
            <a:off x="571500" y="1257300"/>
            <a:ext cx="11049000" cy="2019300"/>
          </a:xfrm>
          <a:prstGeom xmlns:a="http://schemas.openxmlformats.org/drawingml/2006/main" prst="roundRect">
            <a:avLst>
              <a:gd name="adj" fmla="val 7547"/>
            </a:avLst>
          </a:prstGeom>
          <a:solidFill xmlns:a="http://schemas.openxmlformats.org/drawingml/2006/main">
            <a:srgbClr val="FFF3BF"/>
          </a:solidFill>
          <a:ln xmlns:a="http://schemas.openxmlformats.org/drawingml/2006/main" w="19050">
            <a:solidFill>
              <a:srgbClr val="D6A900"/>
            </a:solidFill>
            <a:prstDash val="solid"/>
          </a:ln>
        </p:spPr>
      </p:sp>
      <p:sp>
        <p:nvSpPr>
          <p:cNvPr id="6" name="warm_4_rule_text">
            <a:extLst xmlns:a="http://schemas.openxmlformats.org/drawingml/2006/main">
              <a:ext uri="{FF2B5EF4-FFF2-40B4-BE49-F238E27FC236}">
                <a16:creationId xmlns:a16="http://schemas.microsoft.com/office/drawing/2014/main" id="{0CB81856-4101-445C-8C21-DA492B752A93}"/>
              </a:ext>
            </a:extLst>
          </p:cNvPr>
          <p:cNvSpPr>
            <a:spLocks xmlns:a="http://schemas.openxmlformats.org/drawingml/2006/main" noGrp="1"/>
          </p:cNvSpPr>
          <p:nvPr/>
        </p:nvSpPr>
        <p:spPr>
          <a:xfrm xmlns:a="http://schemas.openxmlformats.org/drawingml/2006/main">
            <a:off x="895350" y="1581150"/>
            <a:ext cx="104013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600" b="1">
                <a:solidFill>
                  <a:srgbClr val="3B2F00"/>
                </a:solidFill>
                <a:latin typeface="Trebuchet MS"/>
                <a:ea typeface="Trebuchet MS"/>
                <a:cs typeface="Trebuchet MS"/>
              </a:defRPr>
            </a:pPr>
            <a:r>
              <a:rPr sz="3600" b="1">
                <a:solidFill>
                  <a:srgbClr val="3B2F00"/>
                </a:solidFill>
                <a:latin typeface="Trebuchet MS"/>
                <a:ea typeface="Trebuchet MS"/>
                <a:cs typeface="Trebuchet MS"/>
              </a:rPr>
              <a:t>Use because to connect a statement with the reason it is true.</a:t>
            </a:r>
          </a:p>
        </p:txBody>
      </p:sp>
      <p:sp>
        <p:nvSpPr>
          <p:cNvPr id="7" name="warm_4_example_panel">
            <a:extLst xmlns:a="http://schemas.openxmlformats.org/drawingml/2006/main">
              <a:ext uri="{FF2B5EF4-FFF2-40B4-BE49-F238E27FC236}">
                <a16:creationId xmlns:a16="http://schemas.microsoft.com/office/drawing/2014/main" id="{26F3FEE6-C3A0-4105-AB6D-12C253D6D368}"/>
              </a:ext>
            </a:extLst>
          </p:cNvPr>
          <p:cNvSpPr>
            <a:spLocks xmlns:a="http://schemas.openxmlformats.org/drawingml/2006/main" noGrp="1"/>
          </p:cNvSpPr>
          <p:nvPr/>
        </p:nvSpPr>
        <p:spPr>
          <a:xfrm xmlns:a="http://schemas.openxmlformats.org/drawingml/2006/main">
            <a:off x="571500" y="3562350"/>
            <a:ext cx="11049000" cy="2114550"/>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19050">
            <a:solidFill>
              <a:srgbClr val="CBD5E1"/>
            </a:solidFill>
            <a:prstDash val="solid"/>
          </a:ln>
        </p:spPr>
      </p:sp>
      <p:sp>
        <p:nvSpPr>
          <p:cNvPr id="8" name="warm_4_example_text">
            <a:extLst xmlns:a="http://schemas.openxmlformats.org/drawingml/2006/main">
              <a:ext uri="{FF2B5EF4-FFF2-40B4-BE49-F238E27FC236}">
                <a16:creationId xmlns:a16="http://schemas.microsoft.com/office/drawing/2014/main" id="{201B0189-56C6-40D7-89BB-4C926550A675}"/>
              </a:ext>
            </a:extLst>
          </p:cNvPr>
          <p:cNvSpPr>
            <a:spLocks xmlns:a="http://schemas.openxmlformats.org/drawingml/2006/main" noGrp="1"/>
          </p:cNvSpPr>
          <p:nvPr/>
        </p:nvSpPr>
        <p:spPr>
          <a:xfrm xmlns:a="http://schemas.openxmlformats.org/drawingml/2006/main">
            <a:off x="895350" y="3886200"/>
            <a:ext cx="104013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150" b="0">
                <a:solidFill>
                  <a:srgbClr val="111827"/>
                </a:solidFill>
                <a:latin typeface="Trebuchet MS"/>
                <a:ea typeface="Trebuchet MS"/>
                <a:cs typeface="Trebuchet MS"/>
              </a:defRPr>
            </a:pPr>
            <a:r>
              <a:rPr sz="3150" b="0">
                <a:solidFill>
                  <a:srgbClr val="111827"/>
                </a:solidFill>
                <a:latin typeface="Trebuchet MS"/>
                <a:ea typeface="Trebuchet MS"/>
                <a:cs typeface="Trebuchet MS"/>
              </a:rPr>
              <a:t>Example: Leaves tilt because they grow towards the light.</a:t>
            </a:r>
          </a:p>
        </p:txBody>
      </p:sp>
      <p:sp>
        <p:nvSpPr>
          <p:cNvPr id="9" name="warm_4_cue">
            <a:extLst xmlns:a="http://schemas.openxmlformats.org/drawingml/2006/main">
              <a:ext uri="{FF2B5EF4-FFF2-40B4-BE49-F238E27FC236}">
                <a16:creationId xmlns:a16="http://schemas.microsoft.com/office/drawing/2014/main" id="{31DAB6CF-5C0C-421C-B357-225ABB91B58D}"/>
              </a:ext>
            </a:extLst>
          </p:cNvPr>
          <p:cNvSpPr>
            <a:spLocks xmlns:a="http://schemas.openxmlformats.org/drawingml/2006/main" noGrp="1"/>
          </p:cNvSpPr>
          <p:nvPr/>
        </p:nvSpPr>
        <p:spPr>
          <a:xfrm xmlns:a="http://schemas.openxmlformats.org/drawingml/2006/main">
            <a:off x="781050" y="58102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475569"/>
                </a:solidFill>
                <a:latin typeface="Trebuchet MS"/>
                <a:ea typeface="Trebuchet MS"/>
                <a:cs typeface="Trebuchet MS"/>
              </a:defRPr>
            </a:pPr>
            <a:r>
              <a:rPr sz="2850" b="1">
                <a:solidFill>
                  <a:srgbClr val="475569"/>
                </a:solidFill>
                <a:latin typeface="Trebuchet MS"/>
                <a:ea typeface="Trebuchet MS"/>
                <a:cs typeface="Trebuchet MS"/>
              </a:rPr>
              <a:t>Use the reminder to solve the next slide.</a:t>
            </a:r>
          </a:p>
        </p:txBody>
      </p:sp>
    </p:spTree>
    <p:extLst>
      <p:ext uri="{BB962C8B-B14F-4D97-AF65-F5344CB8AC3E}">
        <p14:creationId xmlns:p14="http://schemas.microsoft.com/office/powerpoint/2010/main" val="1119057788"/>
      </p:ext>
    </p:extLst>
  </p:cSld>
</p:sld>
</file>

<file path=ppt/slides/slide1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section_bar_12">
            <a:extLst xmlns:a="http://schemas.openxmlformats.org/drawingml/2006/main">
              <a:ext uri="{FF2B5EF4-FFF2-40B4-BE49-F238E27FC236}">
                <a16:creationId xmlns:a16="http://schemas.microsoft.com/office/drawing/2014/main" id="{B92719D8-7166-4A4E-A103-B8BC515F81E7}"/>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12">
            <a:extLst xmlns:a="http://schemas.openxmlformats.org/drawingml/2006/main">
              <a:ext uri="{FF2B5EF4-FFF2-40B4-BE49-F238E27FC236}">
                <a16:creationId xmlns:a16="http://schemas.microsoft.com/office/drawing/2014/main" id="{6494C5CD-B146-4C3A-B69F-ADEC5118B7DF}"/>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005A9C"/>
                </a:solidFill>
                <a:latin typeface="Trebuchet MS"/>
                <a:ea typeface="Trebuchet MS"/>
                <a:cs typeface="Trebuchet MS"/>
              </a:defRPr>
            </a:pPr>
            <a:r>
              <a:rPr sz="1800" b="1">
                <a:solidFill>
                  <a:srgbClr val="005A9C"/>
                </a:solidFill>
                <a:latin typeface="Trebuchet MS"/>
                <a:ea typeface="Trebuchet MS"/>
                <a:cs typeface="Trebuchet MS"/>
              </a:rPr>
              <a:t>LITERACY WARM-UP 4 OF 10 • QUESTION</a:t>
            </a:r>
          </a:p>
        </p:txBody>
      </p:sp>
      <p:sp>
        <p:nvSpPr>
          <p:cNvPr id="3" name="title_12">
            <a:extLst xmlns:a="http://schemas.openxmlformats.org/drawingml/2006/main">
              <a:ext uri="{FF2B5EF4-FFF2-40B4-BE49-F238E27FC236}">
                <a16:creationId xmlns:a16="http://schemas.microsoft.com/office/drawing/2014/main" id="{D088EB5A-9790-46C2-B11D-1ED90D404023}"/>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Join the ideas with because</a:t>
            </a:r>
          </a:p>
        </p:txBody>
      </p:sp>
      <p:sp>
        <p:nvSpPr>
          <p:cNvPr id="4" name="page_12">
            <a:extLst xmlns:a="http://schemas.openxmlformats.org/drawingml/2006/main">
              <a:ext uri="{FF2B5EF4-FFF2-40B4-BE49-F238E27FC236}">
                <a16:creationId xmlns:a16="http://schemas.microsoft.com/office/drawing/2014/main" id="{A374C419-6064-431B-A192-188CF228D3C4}"/>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12</a:t>
            </a:r>
          </a:p>
        </p:txBody>
      </p:sp>
      <p:sp>
        <p:nvSpPr>
          <p:cNvPr id="5" name="warm_4_question_panel">
            <a:extLst xmlns:a="http://schemas.openxmlformats.org/drawingml/2006/main">
              <a:ext uri="{FF2B5EF4-FFF2-40B4-BE49-F238E27FC236}">
                <a16:creationId xmlns:a16="http://schemas.microsoft.com/office/drawing/2014/main" id="{8DDFDA33-F52C-4EE6-BC0B-CE8BE3018421}"/>
              </a:ext>
            </a:extLst>
          </p:cNvPr>
          <p:cNvSpPr>
            <a:spLocks xmlns:a="http://schemas.openxmlformats.org/drawingml/2006/main" noGrp="1"/>
          </p:cNvSpPr>
          <p:nvPr/>
        </p:nvSpPr>
        <p:spPr>
          <a:xfrm xmlns:a="http://schemas.openxmlformats.org/drawingml/2006/main">
            <a:off x="571500" y="1333500"/>
            <a:ext cx="11049000" cy="3162300"/>
          </a:xfrm>
          <a:prstGeom xmlns:a="http://schemas.openxmlformats.org/drawingml/2006/main" prst="roundRect">
            <a:avLst>
              <a:gd name="adj" fmla="val 4819"/>
            </a:avLst>
          </a:prstGeom>
          <a:solidFill xmlns:a="http://schemas.openxmlformats.org/drawingml/2006/main">
            <a:srgbClr val="EAF2F8"/>
          </a:solidFill>
          <a:ln xmlns:a="http://schemas.openxmlformats.org/drawingml/2006/main" w="19050">
            <a:solidFill>
              <a:srgbClr val="7AA7C7"/>
            </a:solidFill>
            <a:prstDash val="solid"/>
          </a:ln>
        </p:spPr>
      </p:sp>
      <p:sp>
        <p:nvSpPr>
          <p:cNvPr id="6" name="warm_4_question_text">
            <a:extLst xmlns:a="http://schemas.openxmlformats.org/drawingml/2006/main">
              <a:ext uri="{FF2B5EF4-FFF2-40B4-BE49-F238E27FC236}">
                <a16:creationId xmlns:a16="http://schemas.microsoft.com/office/drawing/2014/main" id="{50ACFA34-2B2F-4AF4-BECA-C18510174DAC}"/>
              </a:ext>
            </a:extLst>
          </p:cNvPr>
          <p:cNvSpPr>
            <a:spLocks xmlns:a="http://schemas.openxmlformats.org/drawingml/2006/main" noGrp="1"/>
          </p:cNvSpPr>
          <p:nvPr/>
        </p:nvSpPr>
        <p:spPr>
          <a:xfrm xmlns:a="http://schemas.openxmlformats.org/drawingml/2006/main">
            <a:off x="933450" y="1695450"/>
            <a:ext cx="103251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900" b="1">
                <a:solidFill>
                  <a:srgbClr val="103A5E"/>
                </a:solidFill>
                <a:latin typeface="Trebuchet MS"/>
                <a:ea typeface="Trebuchet MS"/>
                <a:cs typeface="Trebuchet MS"/>
              </a:defRPr>
            </a:pPr>
            <a:r>
              <a:rPr sz="3900" b="1">
                <a:solidFill>
                  <a:srgbClr val="103A5E"/>
                </a:solidFill>
                <a:latin typeface="Trebuchet MS"/>
                <a:ea typeface="Trebuchet MS"/>
                <a:cs typeface="Trebuchet MS"/>
              </a:rPr>
              <a:t>Mangrove roots slow waves. They form a tangled barrier.</a:t>
            </a:r>
          </a:p>
        </p:txBody>
      </p:sp>
      <p:sp>
        <p:nvSpPr>
          <p:cNvPr id="7" name="warm_4_support_panel">
            <a:extLst xmlns:a="http://schemas.openxmlformats.org/drawingml/2006/main">
              <a:ext uri="{FF2B5EF4-FFF2-40B4-BE49-F238E27FC236}">
                <a16:creationId xmlns:a16="http://schemas.microsoft.com/office/drawing/2014/main" id="{A3DCD905-C054-4BAE-8388-9AE5DF4A84F9}"/>
              </a:ext>
            </a:extLst>
          </p:cNvPr>
          <p:cNvSpPr>
            <a:spLocks xmlns:a="http://schemas.openxmlformats.org/drawingml/2006/main" noGrp="1"/>
          </p:cNvSpPr>
          <p:nvPr/>
        </p:nvSpPr>
        <p:spPr>
          <a:xfrm xmlns:a="http://schemas.openxmlformats.org/drawingml/2006/main">
            <a:off x="1143000" y="4762500"/>
            <a:ext cx="990600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19050">
            <a:solidFill>
              <a:srgbClr val="CBD5E1"/>
            </a:solidFill>
            <a:prstDash val="solid"/>
          </a:ln>
        </p:spPr>
      </p:sp>
      <p:sp>
        <p:nvSpPr>
          <p:cNvPr id="8" name="warm_4_support_text">
            <a:extLst xmlns:a="http://schemas.openxmlformats.org/drawingml/2006/main">
              <a:ext uri="{FF2B5EF4-FFF2-40B4-BE49-F238E27FC236}">
                <a16:creationId xmlns:a16="http://schemas.microsoft.com/office/drawing/2014/main" id="{674C7BAD-4F19-4B72-9B0D-2A7E8CB4D868}"/>
              </a:ext>
            </a:extLst>
          </p:cNvPr>
          <p:cNvSpPr>
            <a:spLocks xmlns:a="http://schemas.openxmlformats.org/drawingml/2006/main" noGrp="1"/>
          </p:cNvSpPr>
          <p:nvPr/>
        </p:nvSpPr>
        <p:spPr>
          <a:xfrm xmlns:a="http://schemas.openxmlformats.org/drawingml/2006/main">
            <a:off x="1371600" y="4991100"/>
            <a:ext cx="944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000" b="0">
                <a:solidFill>
                  <a:srgbClr val="111827"/>
                </a:solidFill>
                <a:latin typeface="Trebuchet MS"/>
                <a:ea typeface="Trebuchet MS"/>
                <a:cs typeface="Trebuchet MS"/>
              </a:defRPr>
            </a:pPr>
            <a:r>
              <a:rPr sz="3000" b="0">
                <a:solidFill>
                  <a:srgbClr val="111827"/>
                </a:solidFill>
                <a:latin typeface="Trebuchet MS"/>
                <a:ea typeface="Trebuchet MS"/>
                <a:cs typeface="Trebuchet MS"/>
              </a:rPr>
              <a:t>Write one complete sentence that explains the reason.</a:t>
            </a:r>
          </a:p>
        </p:txBody>
      </p:sp>
    </p:spTree>
    <p:extLst>
      <p:ext uri="{BB962C8B-B14F-4D97-AF65-F5344CB8AC3E}">
        <p14:creationId xmlns:p14="http://schemas.microsoft.com/office/powerpoint/2010/main" val="161114632"/>
      </p:ext>
    </p:extLst>
  </p:cSld>
</p:sld>
</file>

<file path=ppt/slides/slide13.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13">
            <a:extLst xmlns:a="http://schemas.openxmlformats.org/drawingml/2006/main">
              <a:ext uri="{FF2B5EF4-FFF2-40B4-BE49-F238E27FC236}">
                <a16:creationId xmlns:a16="http://schemas.microsoft.com/office/drawing/2014/main" id="{1F729E75-2A28-4906-B2E0-6D1DD36A426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B7F3A"/>
          </a:solidFill>
          <a:ln xmlns:a="http://schemas.openxmlformats.org/drawingml/2006/main" w="0">
            <a:noFill/>
            <a:prstDash val="solid"/>
          </a:ln>
        </p:spPr>
      </p:sp>
      <p:sp>
        <p:nvSpPr>
          <p:cNvPr id="2" name="kicker_13">
            <a:extLst xmlns:a="http://schemas.openxmlformats.org/drawingml/2006/main">
              <a:ext uri="{FF2B5EF4-FFF2-40B4-BE49-F238E27FC236}">
                <a16:creationId xmlns:a16="http://schemas.microsoft.com/office/drawing/2014/main" id="{ADC23A16-1983-464C-A4C6-3AE04279B1C1}"/>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1B7F3A"/>
                </a:solidFill>
                <a:latin typeface="Trebuchet MS"/>
                <a:ea typeface="Trebuchet MS"/>
                <a:cs typeface="Trebuchet MS"/>
              </a:defRPr>
            </a:pPr>
            <a:r>
              <a:rPr sz="1800" b="1">
                <a:solidFill>
                  <a:srgbClr val="1B7F3A"/>
                </a:solidFill>
                <a:latin typeface="Trebuchet MS"/>
                <a:ea typeface="Trebuchet MS"/>
                <a:cs typeface="Trebuchet MS"/>
              </a:rPr>
              <a:t>LITERACY WARM-UP 4 OF 10 • ANSWER</a:t>
            </a:r>
          </a:p>
        </p:txBody>
      </p:sp>
      <p:sp>
        <p:nvSpPr>
          <p:cNvPr id="3" name="title_13">
            <a:extLst xmlns:a="http://schemas.openxmlformats.org/drawingml/2006/main">
              <a:ext uri="{FF2B5EF4-FFF2-40B4-BE49-F238E27FC236}">
                <a16:creationId xmlns:a16="http://schemas.microsoft.com/office/drawing/2014/main" id="{890648A5-0780-4733-80FF-3ACF11F61B5A}"/>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The joined sentence explains why</a:t>
            </a:r>
          </a:p>
        </p:txBody>
      </p:sp>
      <p:sp>
        <p:nvSpPr>
          <p:cNvPr id="4" name="page_13">
            <a:extLst xmlns:a="http://schemas.openxmlformats.org/drawingml/2006/main">
              <a:ext uri="{FF2B5EF4-FFF2-40B4-BE49-F238E27FC236}">
                <a16:creationId xmlns:a16="http://schemas.microsoft.com/office/drawing/2014/main" id="{4A5F7920-A125-429B-96E4-B5CB6D92FA40}"/>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13</a:t>
            </a:r>
          </a:p>
        </p:txBody>
      </p:sp>
      <p:sp>
        <p:nvSpPr>
          <p:cNvPr id="5" name="warm_4_answer_panel">
            <a:extLst xmlns:a="http://schemas.openxmlformats.org/drawingml/2006/main">
              <a:ext uri="{FF2B5EF4-FFF2-40B4-BE49-F238E27FC236}">
                <a16:creationId xmlns:a16="http://schemas.microsoft.com/office/drawing/2014/main" id="{E05FF06F-9D23-441F-9F4E-4F45BE4C6812}"/>
              </a:ext>
            </a:extLst>
          </p:cNvPr>
          <p:cNvSpPr>
            <a:spLocks xmlns:a="http://schemas.openxmlformats.org/drawingml/2006/main" noGrp="1"/>
          </p:cNvSpPr>
          <p:nvPr/>
        </p:nvSpPr>
        <p:spPr>
          <a:xfrm xmlns:a="http://schemas.openxmlformats.org/drawingml/2006/main">
            <a:off x="571500" y="1333500"/>
            <a:ext cx="11049000" cy="2571750"/>
          </a:xfrm>
          <a:prstGeom xmlns:a="http://schemas.openxmlformats.org/drawingml/2006/main" prst="roundRect">
            <a:avLst>
              <a:gd name="adj" fmla="val 5926"/>
            </a:avLst>
          </a:prstGeom>
          <a:solidFill xmlns:a="http://schemas.openxmlformats.org/drawingml/2006/main">
            <a:srgbClr val="EAF7EE"/>
          </a:solidFill>
          <a:ln xmlns:a="http://schemas.openxmlformats.org/drawingml/2006/main" w="19050">
            <a:solidFill>
              <a:srgbClr val="70A77C"/>
            </a:solidFill>
            <a:prstDash val="solid"/>
          </a:ln>
        </p:spPr>
      </p:sp>
      <p:sp>
        <p:nvSpPr>
          <p:cNvPr id="6" name="warm_4_answer_text">
            <a:extLst xmlns:a="http://schemas.openxmlformats.org/drawingml/2006/main">
              <a:ext uri="{FF2B5EF4-FFF2-40B4-BE49-F238E27FC236}">
                <a16:creationId xmlns:a16="http://schemas.microsoft.com/office/drawing/2014/main" id="{CE7ECC79-024E-434E-AFEB-BD47E72EAD2D}"/>
              </a:ext>
            </a:extLst>
          </p:cNvPr>
          <p:cNvSpPr>
            <a:spLocks xmlns:a="http://schemas.openxmlformats.org/drawingml/2006/main" noGrp="1"/>
          </p:cNvSpPr>
          <p:nvPr/>
        </p:nvSpPr>
        <p:spPr>
          <a:xfrm xmlns:a="http://schemas.openxmlformats.org/drawingml/2006/main">
            <a:off x="933450" y="1695450"/>
            <a:ext cx="103251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defRPr sz="4050" b="1">
                <a:solidFill>
                  <a:srgbClr val="111827"/>
                </a:solidFill>
                <a:latin typeface="Trebuchet MS"/>
                <a:ea typeface="Trebuchet MS"/>
                <a:cs typeface="Trebuchet MS"/>
              </a:defRPr>
            </a:pPr>
            <a:r>
              <a:rPr>
                <a:latin typeface="Trebuchet MS"/>
                <a:ea typeface="Trebuchet MS"/>
                <a:cs typeface="Trebuchet MS"/>
              </a:rPr>
              <a:t>Mangrove roots slow waves </a:t>
            </a:r>
            <a:r>
              <a:rPr sz="5100" b="1">
                <a:solidFill>
                  <a:srgbClr val="1B7F3A"/>
                </a:solidFill>
                <a:latin typeface="Trebuchet MS"/>
                <a:ea typeface="Trebuchet MS"/>
                <a:cs typeface="Trebuchet MS"/>
              </a:rPr>
              <a:t>because</a:t>
            </a:r>
            <a:r>
              <a:rPr>
                <a:latin typeface="Trebuchet MS"/>
                <a:ea typeface="Trebuchet MS"/>
                <a:cs typeface="Trebuchet MS"/>
              </a:rPr>
              <a:t> they form a tangled barrier.</a:t>
            </a:r>
          </a:p>
        </p:txBody>
      </p:sp>
      <p:sp>
        <p:nvSpPr>
          <p:cNvPr id="7" name="warm_4_cue_panel">
            <a:extLst xmlns:a="http://schemas.openxmlformats.org/drawingml/2006/main">
              <a:ext uri="{FF2B5EF4-FFF2-40B4-BE49-F238E27FC236}">
                <a16:creationId xmlns:a16="http://schemas.microsoft.com/office/drawing/2014/main" id="{31E3A4DB-53A0-4A8E-977C-53C21C0B61DE}"/>
              </a:ext>
            </a:extLst>
          </p:cNvPr>
          <p:cNvSpPr>
            <a:spLocks xmlns:a="http://schemas.openxmlformats.org/drawingml/2006/main" noGrp="1"/>
          </p:cNvSpPr>
          <p:nvPr/>
        </p:nvSpPr>
        <p:spPr>
          <a:xfrm xmlns:a="http://schemas.openxmlformats.org/drawingml/2006/main">
            <a:off x="952500" y="4171950"/>
            <a:ext cx="10287000" cy="80010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19050">
            <a:solidFill>
              <a:srgbClr val="70A77C"/>
            </a:solidFill>
            <a:prstDash val="solid"/>
          </a:ln>
        </p:spPr>
      </p:sp>
      <p:sp>
        <p:nvSpPr>
          <p:cNvPr id="8" name="warm_4_cue_text">
            <a:extLst xmlns:a="http://schemas.openxmlformats.org/drawingml/2006/main">
              <a:ext uri="{FF2B5EF4-FFF2-40B4-BE49-F238E27FC236}">
                <a16:creationId xmlns:a16="http://schemas.microsoft.com/office/drawing/2014/main" id="{8AEE1C44-9C98-413D-B7A1-FB01F169BA3E}"/>
              </a:ext>
            </a:extLst>
          </p:cNvPr>
          <p:cNvSpPr>
            <a:spLocks xmlns:a="http://schemas.openxmlformats.org/drawingml/2006/main" noGrp="1"/>
          </p:cNvSpPr>
          <p:nvPr/>
        </p:nvSpPr>
        <p:spPr>
          <a:xfrm xmlns:a="http://schemas.openxmlformats.org/drawingml/2006/main">
            <a:off x="1143000" y="43624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1B7F3A"/>
                </a:solidFill>
                <a:latin typeface="Trebuchet MS"/>
                <a:ea typeface="Trebuchet MS"/>
                <a:cs typeface="Trebuchet MS"/>
              </a:defRPr>
            </a:pPr>
            <a:r>
              <a:rPr sz="2850" b="1">
                <a:solidFill>
                  <a:srgbClr val="1B7F3A"/>
                </a:solidFill>
                <a:latin typeface="Trebuchet MS"/>
                <a:ea typeface="Trebuchet MS"/>
                <a:cs typeface="Trebuchet MS"/>
              </a:rPr>
              <a:t>Linking word: because</a:t>
            </a:r>
          </a:p>
        </p:txBody>
      </p:sp>
      <p:sp>
        <p:nvSpPr>
          <p:cNvPr id="9" name="warm_4_why_panel">
            <a:extLst xmlns:a="http://schemas.openxmlformats.org/drawingml/2006/main">
              <a:ext uri="{FF2B5EF4-FFF2-40B4-BE49-F238E27FC236}">
                <a16:creationId xmlns:a16="http://schemas.microsoft.com/office/drawing/2014/main" id="{FC10A199-5401-4441-B966-0B23F105DC5B}"/>
              </a:ext>
            </a:extLst>
          </p:cNvPr>
          <p:cNvSpPr>
            <a:spLocks xmlns:a="http://schemas.openxmlformats.org/drawingml/2006/main" noGrp="1"/>
          </p:cNvSpPr>
          <p:nvPr/>
        </p:nvSpPr>
        <p:spPr>
          <a:xfrm xmlns:a="http://schemas.openxmlformats.org/drawingml/2006/main">
            <a:off x="952500" y="5181600"/>
            <a:ext cx="10287000" cy="9144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9050">
            <a:solidFill>
              <a:srgbClr val="CBD5E1"/>
            </a:solidFill>
            <a:prstDash val="solid"/>
          </a:ln>
        </p:spPr>
      </p:sp>
      <p:sp>
        <p:nvSpPr>
          <p:cNvPr id="10" name="warm_4_why_text">
            <a:extLst xmlns:a="http://schemas.openxmlformats.org/drawingml/2006/main">
              <a:ext uri="{FF2B5EF4-FFF2-40B4-BE49-F238E27FC236}">
                <a16:creationId xmlns:a16="http://schemas.microsoft.com/office/drawing/2014/main" id="{4A453085-0AE1-4BC8-A2FE-1F1D72BC30CB}"/>
              </a:ext>
            </a:extLst>
          </p:cNvPr>
          <p:cNvSpPr>
            <a:spLocks xmlns:a="http://schemas.openxmlformats.org/drawingml/2006/main" noGrp="1"/>
          </p:cNvSpPr>
          <p:nvPr/>
        </p:nvSpPr>
        <p:spPr>
          <a:xfrm xmlns:a="http://schemas.openxmlformats.org/drawingml/2006/main">
            <a:off x="1143000" y="53721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0">
                <a:solidFill>
                  <a:srgbClr val="111827"/>
                </a:solidFill>
                <a:latin typeface="Trebuchet MS"/>
                <a:ea typeface="Trebuchet MS"/>
                <a:cs typeface="Trebuchet MS"/>
              </a:defRPr>
            </a:pPr>
            <a:r>
              <a:rPr sz="2850" b="0">
                <a:solidFill>
                  <a:srgbClr val="111827"/>
                </a:solidFill>
                <a:latin typeface="Trebuchet MS"/>
                <a:ea typeface="Trebuchet MS"/>
                <a:cs typeface="Trebuchet MS"/>
              </a:rPr>
              <a:t>The second idea gives the reason the roots slow waves.</a:t>
            </a:r>
          </a:p>
        </p:txBody>
      </p:sp>
    </p:spTree>
    <p:extLst>
      <p:ext uri="{BB962C8B-B14F-4D97-AF65-F5344CB8AC3E}">
        <p14:creationId xmlns:p14="http://schemas.microsoft.com/office/powerpoint/2010/main" val="1379079473"/>
      </p:ext>
    </p:extLst>
  </p:cSld>
</p:sld>
</file>

<file path=ppt/slides/slide14.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0" name="section_bar_14">
            <a:extLst xmlns:a="http://schemas.openxmlformats.org/drawingml/2006/main">
              <a:ext uri="{FF2B5EF4-FFF2-40B4-BE49-F238E27FC236}">
                <a16:creationId xmlns:a16="http://schemas.microsoft.com/office/drawing/2014/main" id="{EB513281-5BCA-4C1F-B3AB-938FDC407CF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D6A900"/>
          </a:solidFill>
          <a:ln xmlns:a="http://schemas.openxmlformats.org/drawingml/2006/main" w="0">
            <a:noFill/>
            <a:prstDash val="solid"/>
          </a:ln>
        </p:spPr>
      </p:sp>
      <p:sp>
        <p:nvSpPr>
          <p:cNvPr id="2" name="kicker_14">
            <a:extLst xmlns:a="http://schemas.openxmlformats.org/drawingml/2006/main">
              <a:ext uri="{FF2B5EF4-FFF2-40B4-BE49-F238E27FC236}">
                <a16:creationId xmlns:a16="http://schemas.microsoft.com/office/drawing/2014/main" id="{A7B45D96-E9D9-4E8C-9677-A1FDC19AAF56}"/>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D6A900"/>
                </a:solidFill>
                <a:latin typeface="Trebuchet MS"/>
                <a:ea typeface="Trebuchet MS"/>
                <a:cs typeface="Trebuchet MS"/>
              </a:defRPr>
            </a:pPr>
            <a:r>
              <a:rPr sz="1800" b="1">
                <a:solidFill>
                  <a:srgbClr val="D6A900"/>
                </a:solidFill>
                <a:latin typeface="Trebuchet MS"/>
                <a:ea typeface="Trebuchet MS"/>
                <a:cs typeface="Trebuchet MS"/>
              </a:rPr>
              <a:t>LITERACY WARM-UP 5 OF 10 • REMINDER</a:t>
            </a:r>
          </a:p>
        </p:txBody>
      </p:sp>
      <p:sp>
        <p:nvSpPr>
          <p:cNvPr id="3" name="title_14">
            <a:extLst xmlns:a="http://schemas.openxmlformats.org/drawingml/2006/main">
              <a:ext uri="{FF2B5EF4-FFF2-40B4-BE49-F238E27FC236}">
                <a16:creationId xmlns:a16="http://schemas.microsoft.com/office/drawing/2014/main" id="{CD66A8EC-BA2A-49D3-9BDA-A3C7131F485D}"/>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Remember: a pronoun must point clearly</a:t>
            </a:r>
          </a:p>
        </p:txBody>
      </p:sp>
      <p:sp>
        <p:nvSpPr>
          <p:cNvPr id="4" name="page_14">
            <a:extLst xmlns:a="http://schemas.openxmlformats.org/drawingml/2006/main">
              <a:ext uri="{FF2B5EF4-FFF2-40B4-BE49-F238E27FC236}">
                <a16:creationId xmlns:a16="http://schemas.microsoft.com/office/drawing/2014/main" id="{79047325-3E2F-4287-AFFC-5901A6410056}"/>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14</a:t>
            </a:r>
          </a:p>
        </p:txBody>
      </p:sp>
      <p:sp>
        <p:nvSpPr>
          <p:cNvPr id="5" name="warm_5_rule_panel">
            <a:extLst xmlns:a="http://schemas.openxmlformats.org/drawingml/2006/main">
              <a:ext uri="{FF2B5EF4-FFF2-40B4-BE49-F238E27FC236}">
                <a16:creationId xmlns:a16="http://schemas.microsoft.com/office/drawing/2014/main" id="{F2951E3F-3563-47BA-8A42-FFA0C5AB36F4}"/>
              </a:ext>
            </a:extLst>
          </p:cNvPr>
          <p:cNvSpPr>
            <a:spLocks xmlns:a="http://schemas.openxmlformats.org/drawingml/2006/main" noGrp="1"/>
          </p:cNvSpPr>
          <p:nvPr/>
        </p:nvSpPr>
        <p:spPr>
          <a:xfrm xmlns:a="http://schemas.openxmlformats.org/drawingml/2006/main">
            <a:off x="571500" y="1257300"/>
            <a:ext cx="11049000" cy="2019300"/>
          </a:xfrm>
          <a:prstGeom xmlns:a="http://schemas.openxmlformats.org/drawingml/2006/main" prst="roundRect">
            <a:avLst>
              <a:gd name="adj" fmla="val 7547"/>
            </a:avLst>
          </a:prstGeom>
          <a:solidFill xmlns:a="http://schemas.openxmlformats.org/drawingml/2006/main">
            <a:srgbClr val="FFF3BF"/>
          </a:solidFill>
          <a:ln xmlns:a="http://schemas.openxmlformats.org/drawingml/2006/main" w="19050">
            <a:solidFill>
              <a:srgbClr val="D6A900"/>
            </a:solidFill>
            <a:prstDash val="solid"/>
          </a:ln>
        </p:spPr>
      </p:sp>
      <p:sp>
        <p:nvSpPr>
          <p:cNvPr id="6" name="warm_5_rule_text">
            <a:extLst xmlns:a="http://schemas.openxmlformats.org/drawingml/2006/main">
              <a:ext uri="{FF2B5EF4-FFF2-40B4-BE49-F238E27FC236}">
                <a16:creationId xmlns:a16="http://schemas.microsoft.com/office/drawing/2014/main" id="{637DE543-519E-43C4-B202-6DB16D108AAB}"/>
              </a:ext>
            </a:extLst>
          </p:cNvPr>
          <p:cNvSpPr>
            <a:spLocks xmlns:a="http://schemas.openxmlformats.org/drawingml/2006/main" noGrp="1"/>
          </p:cNvSpPr>
          <p:nvPr/>
        </p:nvSpPr>
        <p:spPr>
          <a:xfrm xmlns:a="http://schemas.openxmlformats.org/drawingml/2006/main">
            <a:off x="895350" y="1581150"/>
            <a:ext cx="104013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600" b="1">
                <a:solidFill>
                  <a:srgbClr val="3B2F00"/>
                </a:solidFill>
                <a:latin typeface="Trebuchet MS"/>
                <a:ea typeface="Trebuchet MS"/>
                <a:cs typeface="Trebuchet MS"/>
              </a:defRPr>
            </a:pPr>
            <a:r>
              <a:rPr sz="3600" b="1">
                <a:solidFill>
                  <a:srgbClr val="3B2F00"/>
                </a:solidFill>
                <a:latin typeface="Trebuchet MS"/>
                <a:ea typeface="Trebuchet MS"/>
                <a:cs typeface="Trebuchet MS"/>
              </a:rPr>
              <a:t>A pronoun replaces a noun, but the reader must know which noun it means.</a:t>
            </a:r>
          </a:p>
        </p:txBody>
      </p:sp>
      <p:sp>
        <p:nvSpPr>
          <p:cNvPr id="7" name="warm_5_example_panel">
            <a:extLst xmlns:a="http://schemas.openxmlformats.org/drawingml/2006/main">
              <a:ext uri="{FF2B5EF4-FFF2-40B4-BE49-F238E27FC236}">
                <a16:creationId xmlns:a16="http://schemas.microsoft.com/office/drawing/2014/main" id="{C3D10943-3BBB-4A51-BBB3-B2C74CA3D405}"/>
              </a:ext>
            </a:extLst>
          </p:cNvPr>
          <p:cNvSpPr>
            <a:spLocks xmlns:a="http://schemas.openxmlformats.org/drawingml/2006/main" noGrp="1"/>
          </p:cNvSpPr>
          <p:nvPr/>
        </p:nvSpPr>
        <p:spPr>
          <a:xfrm xmlns:a="http://schemas.openxmlformats.org/drawingml/2006/main">
            <a:off x="571500" y="3562350"/>
            <a:ext cx="11049000" cy="2114550"/>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19050">
            <a:solidFill>
              <a:srgbClr val="CBD5E1"/>
            </a:solidFill>
            <a:prstDash val="solid"/>
          </a:ln>
        </p:spPr>
      </p:sp>
      <p:sp>
        <p:nvSpPr>
          <p:cNvPr id="8" name="warm_5_example_text">
            <a:extLst xmlns:a="http://schemas.openxmlformats.org/drawingml/2006/main">
              <a:ext uri="{FF2B5EF4-FFF2-40B4-BE49-F238E27FC236}">
                <a16:creationId xmlns:a16="http://schemas.microsoft.com/office/drawing/2014/main" id="{37C4DE85-0C43-4B39-AEE2-D4AB054BD553}"/>
              </a:ext>
            </a:extLst>
          </p:cNvPr>
          <p:cNvSpPr>
            <a:spLocks xmlns:a="http://schemas.openxmlformats.org/drawingml/2006/main" noGrp="1"/>
          </p:cNvSpPr>
          <p:nvPr/>
        </p:nvSpPr>
        <p:spPr>
          <a:xfrm xmlns:a="http://schemas.openxmlformats.org/drawingml/2006/main">
            <a:off x="895350" y="3886200"/>
            <a:ext cx="104013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150" b="0">
                <a:solidFill>
                  <a:srgbClr val="111827"/>
                </a:solidFill>
                <a:latin typeface="Trebuchet MS"/>
                <a:ea typeface="Trebuchet MS"/>
                <a:cs typeface="Trebuchet MS"/>
              </a:defRPr>
            </a:pPr>
            <a:r>
              <a:rPr sz="3150" b="0">
                <a:solidFill>
                  <a:srgbClr val="111827"/>
                </a:solidFill>
                <a:latin typeface="Trebuchet MS"/>
                <a:ea typeface="Trebuchet MS"/>
                <a:cs typeface="Trebuchet MS"/>
              </a:rPr>
              <a:t>Example: The emu spreads its wings. Here, its means the emu.</a:t>
            </a:r>
          </a:p>
        </p:txBody>
      </p:sp>
      <p:sp>
        <p:nvSpPr>
          <p:cNvPr id="9" name="warm_5_cue">
            <a:extLst xmlns:a="http://schemas.openxmlformats.org/drawingml/2006/main">
              <a:ext uri="{FF2B5EF4-FFF2-40B4-BE49-F238E27FC236}">
                <a16:creationId xmlns:a16="http://schemas.microsoft.com/office/drawing/2014/main" id="{037C5E2D-EB20-4D71-84CA-39E116419337}"/>
              </a:ext>
            </a:extLst>
          </p:cNvPr>
          <p:cNvSpPr>
            <a:spLocks xmlns:a="http://schemas.openxmlformats.org/drawingml/2006/main" noGrp="1"/>
          </p:cNvSpPr>
          <p:nvPr/>
        </p:nvSpPr>
        <p:spPr>
          <a:xfrm xmlns:a="http://schemas.openxmlformats.org/drawingml/2006/main">
            <a:off x="781050" y="58102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475569"/>
                </a:solidFill>
                <a:latin typeface="Trebuchet MS"/>
                <a:ea typeface="Trebuchet MS"/>
                <a:cs typeface="Trebuchet MS"/>
              </a:defRPr>
            </a:pPr>
            <a:r>
              <a:rPr sz="2850" b="1">
                <a:solidFill>
                  <a:srgbClr val="475569"/>
                </a:solidFill>
                <a:latin typeface="Trebuchet MS"/>
                <a:ea typeface="Trebuchet MS"/>
                <a:cs typeface="Trebuchet MS"/>
              </a:rPr>
              <a:t>Use the reminder to solve the next slide.</a:t>
            </a:r>
          </a:p>
        </p:txBody>
      </p:sp>
    </p:spTree>
    <p:extLst>
      <p:ext uri="{BB962C8B-B14F-4D97-AF65-F5344CB8AC3E}">
        <p14:creationId xmlns:p14="http://schemas.microsoft.com/office/powerpoint/2010/main" val="1800462433"/>
      </p:ext>
    </p:extLst>
  </p:cSld>
</p:sld>
</file>

<file path=ppt/slides/slide15.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section_bar_15">
            <a:extLst xmlns:a="http://schemas.openxmlformats.org/drawingml/2006/main">
              <a:ext uri="{FF2B5EF4-FFF2-40B4-BE49-F238E27FC236}">
                <a16:creationId xmlns:a16="http://schemas.microsoft.com/office/drawing/2014/main" id="{A9268278-FC8C-4815-9E95-98C4230B09A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15">
            <a:extLst xmlns:a="http://schemas.openxmlformats.org/drawingml/2006/main">
              <a:ext uri="{FF2B5EF4-FFF2-40B4-BE49-F238E27FC236}">
                <a16:creationId xmlns:a16="http://schemas.microsoft.com/office/drawing/2014/main" id="{134FB512-BB22-414A-AB1E-8127ED4D21D8}"/>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005A9C"/>
                </a:solidFill>
                <a:latin typeface="Trebuchet MS"/>
                <a:ea typeface="Trebuchet MS"/>
                <a:cs typeface="Trebuchet MS"/>
              </a:defRPr>
            </a:pPr>
            <a:r>
              <a:rPr sz="1800" b="1">
                <a:solidFill>
                  <a:srgbClr val="005A9C"/>
                </a:solidFill>
                <a:latin typeface="Trebuchet MS"/>
                <a:ea typeface="Trebuchet MS"/>
                <a:cs typeface="Trebuchet MS"/>
              </a:rPr>
              <a:t>LITERACY WARM-UP 5 OF 10 • QUESTION</a:t>
            </a:r>
          </a:p>
        </p:txBody>
      </p:sp>
      <p:sp>
        <p:nvSpPr>
          <p:cNvPr id="3" name="title_15">
            <a:extLst xmlns:a="http://schemas.openxmlformats.org/drawingml/2006/main">
              <a:ext uri="{FF2B5EF4-FFF2-40B4-BE49-F238E27FC236}">
                <a16:creationId xmlns:a16="http://schemas.microsoft.com/office/drawing/2014/main" id="{5EC633E1-2E81-4B4D-ABFD-1054274B1D38}"/>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Find the noun the pronoun replaces</a:t>
            </a:r>
          </a:p>
        </p:txBody>
      </p:sp>
      <p:sp>
        <p:nvSpPr>
          <p:cNvPr id="4" name="page_15">
            <a:extLst xmlns:a="http://schemas.openxmlformats.org/drawingml/2006/main">
              <a:ext uri="{FF2B5EF4-FFF2-40B4-BE49-F238E27FC236}">
                <a16:creationId xmlns:a16="http://schemas.microsoft.com/office/drawing/2014/main" id="{53075EBB-840B-43A7-81F2-D9F0ECC0DA4F}"/>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15</a:t>
            </a:r>
          </a:p>
        </p:txBody>
      </p:sp>
      <p:sp>
        <p:nvSpPr>
          <p:cNvPr id="5" name="warm_5_question_panel">
            <a:extLst xmlns:a="http://schemas.openxmlformats.org/drawingml/2006/main">
              <a:ext uri="{FF2B5EF4-FFF2-40B4-BE49-F238E27FC236}">
                <a16:creationId xmlns:a16="http://schemas.microsoft.com/office/drawing/2014/main" id="{4C795F1E-7D57-43C5-8114-27515E8FD925}"/>
              </a:ext>
            </a:extLst>
          </p:cNvPr>
          <p:cNvSpPr>
            <a:spLocks xmlns:a="http://schemas.openxmlformats.org/drawingml/2006/main" noGrp="1"/>
          </p:cNvSpPr>
          <p:nvPr/>
        </p:nvSpPr>
        <p:spPr>
          <a:xfrm xmlns:a="http://schemas.openxmlformats.org/drawingml/2006/main">
            <a:off x="571500" y="1333500"/>
            <a:ext cx="11049000" cy="3162300"/>
          </a:xfrm>
          <a:prstGeom xmlns:a="http://schemas.openxmlformats.org/drawingml/2006/main" prst="roundRect">
            <a:avLst>
              <a:gd name="adj" fmla="val 4819"/>
            </a:avLst>
          </a:prstGeom>
          <a:solidFill xmlns:a="http://schemas.openxmlformats.org/drawingml/2006/main">
            <a:srgbClr val="EAF2F8"/>
          </a:solidFill>
          <a:ln xmlns:a="http://schemas.openxmlformats.org/drawingml/2006/main" w="19050">
            <a:solidFill>
              <a:srgbClr val="7AA7C7"/>
            </a:solidFill>
            <a:prstDash val="solid"/>
          </a:ln>
        </p:spPr>
      </p:sp>
      <p:sp>
        <p:nvSpPr>
          <p:cNvPr id="6" name="warm_5_question_text">
            <a:extLst xmlns:a="http://schemas.openxmlformats.org/drawingml/2006/main">
              <a:ext uri="{FF2B5EF4-FFF2-40B4-BE49-F238E27FC236}">
                <a16:creationId xmlns:a16="http://schemas.microsoft.com/office/drawing/2014/main" id="{0915A540-B51D-4BD1-A902-04B49A9194D5}"/>
              </a:ext>
            </a:extLst>
          </p:cNvPr>
          <p:cNvSpPr>
            <a:spLocks xmlns:a="http://schemas.openxmlformats.org/drawingml/2006/main" noGrp="1"/>
          </p:cNvSpPr>
          <p:nvPr/>
        </p:nvSpPr>
        <p:spPr>
          <a:xfrm xmlns:a="http://schemas.openxmlformats.org/drawingml/2006/main">
            <a:off x="933450" y="1695450"/>
            <a:ext cx="103251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900" b="1">
                <a:solidFill>
                  <a:srgbClr val="103A5E"/>
                </a:solidFill>
                <a:latin typeface="Trebuchet MS"/>
                <a:ea typeface="Trebuchet MS"/>
                <a:cs typeface="Trebuchet MS"/>
              </a:defRPr>
            </a:pPr>
            <a:r>
              <a:rPr sz="3900" b="1">
                <a:solidFill>
                  <a:srgbClr val="103A5E"/>
                </a:solidFill>
                <a:latin typeface="Trebuchet MS"/>
                <a:ea typeface="Trebuchet MS"/>
                <a:cs typeface="Trebuchet MS"/>
              </a:rPr>
              <a:t>The quokka stores food in its cheeks. What does its refer to?</a:t>
            </a:r>
          </a:p>
        </p:txBody>
      </p:sp>
      <p:sp>
        <p:nvSpPr>
          <p:cNvPr id="7" name="warm_5_support_panel">
            <a:extLst xmlns:a="http://schemas.openxmlformats.org/drawingml/2006/main">
              <a:ext uri="{FF2B5EF4-FFF2-40B4-BE49-F238E27FC236}">
                <a16:creationId xmlns:a16="http://schemas.microsoft.com/office/drawing/2014/main" id="{CD287A83-CA3B-4DE1-9AEA-244FCB1D6B1E}"/>
              </a:ext>
            </a:extLst>
          </p:cNvPr>
          <p:cNvSpPr>
            <a:spLocks xmlns:a="http://schemas.openxmlformats.org/drawingml/2006/main" noGrp="1"/>
          </p:cNvSpPr>
          <p:nvPr/>
        </p:nvSpPr>
        <p:spPr>
          <a:xfrm xmlns:a="http://schemas.openxmlformats.org/drawingml/2006/main">
            <a:off x="1143000" y="4762500"/>
            <a:ext cx="990600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19050">
            <a:solidFill>
              <a:srgbClr val="CBD5E1"/>
            </a:solidFill>
            <a:prstDash val="solid"/>
          </a:ln>
        </p:spPr>
      </p:sp>
      <p:sp>
        <p:nvSpPr>
          <p:cNvPr id="8" name="warm_5_support_text">
            <a:extLst xmlns:a="http://schemas.openxmlformats.org/drawingml/2006/main">
              <a:ext uri="{FF2B5EF4-FFF2-40B4-BE49-F238E27FC236}">
                <a16:creationId xmlns:a16="http://schemas.microsoft.com/office/drawing/2014/main" id="{73D877CC-D065-4F45-8077-3A114FA03134}"/>
              </a:ext>
            </a:extLst>
          </p:cNvPr>
          <p:cNvSpPr>
            <a:spLocks xmlns:a="http://schemas.openxmlformats.org/drawingml/2006/main" noGrp="1"/>
          </p:cNvSpPr>
          <p:nvPr/>
        </p:nvSpPr>
        <p:spPr>
          <a:xfrm xmlns:a="http://schemas.openxmlformats.org/drawingml/2006/main">
            <a:off x="1371600" y="4991100"/>
            <a:ext cx="944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000" b="0">
                <a:solidFill>
                  <a:srgbClr val="111827"/>
                </a:solidFill>
                <a:latin typeface="Trebuchet MS"/>
                <a:ea typeface="Trebuchet MS"/>
                <a:cs typeface="Trebuchet MS"/>
              </a:defRPr>
            </a:pPr>
            <a:r>
              <a:rPr sz="3000" b="0">
                <a:solidFill>
                  <a:srgbClr val="111827"/>
                </a:solidFill>
                <a:latin typeface="Trebuchet MS"/>
                <a:ea typeface="Trebuchet MS"/>
                <a:cs typeface="Trebuchet MS"/>
              </a:rPr>
              <a:t>Write the noun.</a:t>
            </a:r>
          </a:p>
        </p:txBody>
      </p:sp>
    </p:spTree>
    <p:extLst>
      <p:ext uri="{BB962C8B-B14F-4D97-AF65-F5344CB8AC3E}">
        <p14:creationId xmlns:p14="http://schemas.microsoft.com/office/powerpoint/2010/main" val="2047489157"/>
      </p:ext>
    </p:extLst>
  </p:cSld>
</p:sld>
</file>

<file path=ppt/slides/slide16.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16">
            <a:extLst xmlns:a="http://schemas.openxmlformats.org/drawingml/2006/main">
              <a:ext uri="{FF2B5EF4-FFF2-40B4-BE49-F238E27FC236}">
                <a16:creationId xmlns:a16="http://schemas.microsoft.com/office/drawing/2014/main" id="{8F336450-89C9-4495-AB4A-459E2EA01E4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B7F3A"/>
          </a:solidFill>
          <a:ln xmlns:a="http://schemas.openxmlformats.org/drawingml/2006/main" w="0">
            <a:noFill/>
            <a:prstDash val="solid"/>
          </a:ln>
        </p:spPr>
      </p:sp>
      <p:sp>
        <p:nvSpPr>
          <p:cNvPr id="2" name="kicker_16">
            <a:extLst xmlns:a="http://schemas.openxmlformats.org/drawingml/2006/main">
              <a:ext uri="{FF2B5EF4-FFF2-40B4-BE49-F238E27FC236}">
                <a16:creationId xmlns:a16="http://schemas.microsoft.com/office/drawing/2014/main" id="{119FC7DC-F161-4C30-9BF6-16DE1393B616}"/>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1B7F3A"/>
                </a:solidFill>
                <a:latin typeface="Trebuchet MS"/>
                <a:ea typeface="Trebuchet MS"/>
                <a:cs typeface="Trebuchet MS"/>
              </a:defRPr>
            </a:pPr>
            <a:r>
              <a:rPr sz="1800" b="1">
                <a:solidFill>
                  <a:srgbClr val="1B7F3A"/>
                </a:solidFill>
                <a:latin typeface="Trebuchet MS"/>
                <a:ea typeface="Trebuchet MS"/>
                <a:cs typeface="Trebuchet MS"/>
              </a:rPr>
              <a:t>LITERACY WARM-UP 5 OF 10 • ANSWER</a:t>
            </a:r>
          </a:p>
        </p:txBody>
      </p:sp>
      <p:sp>
        <p:nvSpPr>
          <p:cNvPr id="3" name="title_16">
            <a:extLst xmlns:a="http://schemas.openxmlformats.org/drawingml/2006/main">
              <a:ext uri="{FF2B5EF4-FFF2-40B4-BE49-F238E27FC236}">
                <a16:creationId xmlns:a16="http://schemas.microsoft.com/office/drawing/2014/main" id="{43915099-1F6E-4F2D-BD06-BC250FB7506A}"/>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The pronoun points to the quokka</a:t>
            </a:r>
          </a:p>
        </p:txBody>
      </p:sp>
      <p:sp>
        <p:nvSpPr>
          <p:cNvPr id="4" name="page_16">
            <a:extLst xmlns:a="http://schemas.openxmlformats.org/drawingml/2006/main">
              <a:ext uri="{FF2B5EF4-FFF2-40B4-BE49-F238E27FC236}">
                <a16:creationId xmlns:a16="http://schemas.microsoft.com/office/drawing/2014/main" id="{4002C021-6C31-42B3-9108-8CBED004DB67}"/>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16</a:t>
            </a:r>
          </a:p>
        </p:txBody>
      </p:sp>
      <p:sp>
        <p:nvSpPr>
          <p:cNvPr id="5" name="warm_5_answer_panel">
            <a:extLst xmlns:a="http://schemas.openxmlformats.org/drawingml/2006/main">
              <a:ext uri="{FF2B5EF4-FFF2-40B4-BE49-F238E27FC236}">
                <a16:creationId xmlns:a16="http://schemas.microsoft.com/office/drawing/2014/main" id="{4F449B98-B124-4545-A8EB-934C85FD2A33}"/>
              </a:ext>
            </a:extLst>
          </p:cNvPr>
          <p:cNvSpPr>
            <a:spLocks xmlns:a="http://schemas.openxmlformats.org/drawingml/2006/main" noGrp="1"/>
          </p:cNvSpPr>
          <p:nvPr/>
        </p:nvSpPr>
        <p:spPr>
          <a:xfrm xmlns:a="http://schemas.openxmlformats.org/drawingml/2006/main">
            <a:off x="571500" y="1333500"/>
            <a:ext cx="11049000" cy="2571750"/>
          </a:xfrm>
          <a:prstGeom xmlns:a="http://schemas.openxmlformats.org/drawingml/2006/main" prst="roundRect">
            <a:avLst>
              <a:gd name="adj" fmla="val 5926"/>
            </a:avLst>
          </a:prstGeom>
          <a:solidFill xmlns:a="http://schemas.openxmlformats.org/drawingml/2006/main">
            <a:srgbClr val="EAF7EE"/>
          </a:solidFill>
          <a:ln xmlns:a="http://schemas.openxmlformats.org/drawingml/2006/main" w="19050">
            <a:solidFill>
              <a:srgbClr val="70A77C"/>
            </a:solidFill>
            <a:prstDash val="solid"/>
          </a:ln>
        </p:spPr>
      </p:sp>
      <p:sp>
        <p:nvSpPr>
          <p:cNvPr id="6" name="warm_5_answer_text">
            <a:extLst xmlns:a="http://schemas.openxmlformats.org/drawingml/2006/main">
              <a:ext uri="{FF2B5EF4-FFF2-40B4-BE49-F238E27FC236}">
                <a16:creationId xmlns:a16="http://schemas.microsoft.com/office/drawing/2014/main" id="{33CA60AE-E715-4611-9A52-DDF70AF59A8E}"/>
              </a:ext>
            </a:extLst>
          </p:cNvPr>
          <p:cNvSpPr>
            <a:spLocks xmlns:a="http://schemas.openxmlformats.org/drawingml/2006/main" noGrp="1"/>
          </p:cNvSpPr>
          <p:nvPr/>
        </p:nvSpPr>
        <p:spPr>
          <a:xfrm xmlns:a="http://schemas.openxmlformats.org/drawingml/2006/main">
            <a:off x="933450" y="1695450"/>
            <a:ext cx="103251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defRPr sz="4050" b="1">
                <a:solidFill>
                  <a:srgbClr val="111827"/>
                </a:solidFill>
                <a:latin typeface="Trebuchet MS"/>
                <a:ea typeface="Trebuchet MS"/>
                <a:cs typeface="Trebuchet MS"/>
              </a:defRPr>
            </a:pPr>
            <a:r>
              <a:rPr>
                <a:latin typeface="Trebuchet MS"/>
                <a:ea typeface="Trebuchet MS"/>
                <a:cs typeface="Trebuchet MS"/>
              </a:rPr>
              <a:t>its = </a:t>
            </a:r>
            <a:r>
              <a:rPr sz="5100" b="1">
                <a:solidFill>
                  <a:srgbClr val="1B7F3A"/>
                </a:solidFill>
                <a:latin typeface="Trebuchet MS"/>
                <a:ea typeface="Trebuchet MS"/>
                <a:cs typeface="Trebuchet MS"/>
              </a:rPr>
              <a:t>the quokka</a:t>
            </a:r>
          </a:p>
        </p:txBody>
      </p:sp>
      <p:sp>
        <p:nvSpPr>
          <p:cNvPr id="7" name="warm_5_cue_panel">
            <a:extLst xmlns:a="http://schemas.openxmlformats.org/drawingml/2006/main">
              <a:ext uri="{FF2B5EF4-FFF2-40B4-BE49-F238E27FC236}">
                <a16:creationId xmlns:a16="http://schemas.microsoft.com/office/drawing/2014/main" id="{44E1A975-C5AE-4A1A-A349-E7D05B3890FE}"/>
              </a:ext>
            </a:extLst>
          </p:cNvPr>
          <p:cNvSpPr>
            <a:spLocks xmlns:a="http://schemas.openxmlformats.org/drawingml/2006/main" noGrp="1"/>
          </p:cNvSpPr>
          <p:nvPr/>
        </p:nvSpPr>
        <p:spPr>
          <a:xfrm xmlns:a="http://schemas.openxmlformats.org/drawingml/2006/main">
            <a:off x="952500" y="4171950"/>
            <a:ext cx="10287000" cy="80010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19050">
            <a:solidFill>
              <a:srgbClr val="70A77C"/>
            </a:solidFill>
            <a:prstDash val="solid"/>
          </a:ln>
        </p:spPr>
      </p:sp>
      <p:sp>
        <p:nvSpPr>
          <p:cNvPr id="8" name="warm_5_cue_text">
            <a:extLst xmlns:a="http://schemas.openxmlformats.org/drawingml/2006/main">
              <a:ext uri="{FF2B5EF4-FFF2-40B4-BE49-F238E27FC236}">
                <a16:creationId xmlns:a16="http://schemas.microsoft.com/office/drawing/2014/main" id="{E99216D0-BE20-4209-86FC-E9D7197DE0C1}"/>
              </a:ext>
            </a:extLst>
          </p:cNvPr>
          <p:cNvSpPr>
            <a:spLocks xmlns:a="http://schemas.openxmlformats.org/drawingml/2006/main" noGrp="1"/>
          </p:cNvSpPr>
          <p:nvPr/>
        </p:nvSpPr>
        <p:spPr>
          <a:xfrm xmlns:a="http://schemas.openxmlformats.org/drawingml/2006/main">
            <a:off x="1143000" y="43624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1B7F3A"/>
                </a:solidFill>
                <a:latin typeface="Trebuchet MS"/>
                <a:ea typeface="Trebuchet MS"/>
                <a:cs typeface="Trebuchet MS"/>
              </a:defRPr>
            </a:pPr>
            <a:r>
              <a:rPr sz="2850" b="1">
                <a:solidFill>
                  <a:srgbClr val="1B7F3A"/>
                </a:solidFill>
                <a:latin typeface="Trebuchet MS"/>
                <a:ea typeface="Trebuchet MS"/>
                <a:cs typeface="Trebuchet MS"/>
              </a:rPr>
              <a:t>Pronoun reference: its means the quokka</a:t>
            </a:r>
          </a:p>
        </p:txBody>
      </p:sp>
      <p:sp>
        <p:nvSpPr>
          <p:cNvPr id="9" name="warm_5_why_panel">
            <a:extLst xmlns:a="http://schemas.openxmlformats.org/drawingml/2006/main">
              <a:ext uri="{FF2B5EF4-FFF2-40B4-BE49-F238E27FC236}">
                <a16:creationId xmlns:a16="http://schemas.microsoft.com/office/drawing/2014/main" id="{337FCCDA-E3E8-49E8-810E-672FBEF1BA6F}"/>
              </a:ext>
            </a:extLst>
          </p:cNvPr>
          <p:cNvSpPr>
            <a:spLocks xmlns:a="http://schemas.openxmlformats.org/drawingml/2006/main" noGrp="1"/>
          </p:cNvSpPr>
          <p:nvPr/>
        </p:nvSpPr>
        <p:spPr>
          <a:xfrm xmlns:a="http://schemas.openxmlformats.org/drawingml/2006/main">
            <a:off x="952500" y="5181600"/>
            <a:ext cx="10287000" cy="9144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9050">
            <a:solidFill>
              <a:srgbClr val="CBD5E1"/>
            </a:solidFill>
            <a:prstDash val="solid"/>
          </a:ln>
        </p:spPr>
      </p:sp>
      <p:sp>
        <p:nvSpPr>
          <p:cNvPr id="10" name="warm_5_why_text">
            <a:extLst xmlns:a="http://schemas.openxmlformats.org/drawingml/2006/main">
              <a:ext uri="{FF2B5EF4-FFF2-40B4-BE49-F238E27FC236}">
                <a16:creationId xmlns:a16="http://schemas.microsoft.com/office/drawing/2014/main" id="{14A5BF4E-AF60-4BBA-9758-16F2B5568FBD}"/>
              </a:ext>
            </a:extLst>
          </p:cNvPr>
          <p:cNvSpPr>
            <a:spLocks xmlns:a="http://schemas.openxmlformats.org/drawingml/2006/main" noGrp="1"/>
          </p:cNvSpPr>
          <p:nvPr/>
        </p:nvSpPr>
        <p:spPr>
          <a:xfrm xmlns:a="http://schemas.openxmlformats.org/drawingml/2006/main">
            <a:off x="1143000" y="53721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0">
                <a:solidFill>
                  <a:srgbClr val="111827"/>
                </a:solidFill>
                <a:latin typeface="Trebuchet MS"/>
                <a:ea typeface="Trebuchet MS"/>
                <a:cs typeface="Trebuchet MS"/>
              </a:defRPr>
            </a:pPr>
            <a:r>
              <a:rPr sz="2850" b="0">
                <a:solidFill>
                  <a:srgbClr val="111827"/>
                </a:solidFill>
                <a:latin typeface="Trebuchet MS"/>
                <a:ea typeface="Trebuchet MS"/>
                <a:cs typeface="Trebuchet MS"/>
              </a:rPr>
              <a:t>The pronoun its tells us the cheeks belong to the quokka.</a:t>
            </a:r>
          </a:p>
        </p:txBody>
      </p:sp>
    </p:spTree>
    <p:extLst>
      <p:ext uri="{BB962C8B-B14F-4D97-AF65-F5344CB8AC3E}">
        <p14:creationId xmlns:p14="http://schemas.microsoft.com/office/powerpoint/2010/main" val="766383537"/>
      </p:ext>
    </p:extLst>
  </p:cSld>
</p:sld>
</file>

<file path=ppt/slides/slide17.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0" name="section_bar_17">
            <a:extLst xmlns:a="http://schemas.openxmlformats.org/drawingml/2006/main">
              <a:ext uri="{FF2B5EF4-FFF2-40B4-BE49-F238E27FC236}">
                <a16:creationId xmlns:a16="http://schemas.microsoft.com/office/drawing/2014/main" id="{78441953-86AE-423B-B5B0-E0AC8C9B7E4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D6A900"/>
          </a:solidFill>
          <a:ln xmlns:a="http://schemas.openxmlformats.org/drawingml/2006/main" w="0">
            <a:noFill/>
            <a:prstDash val="solid"/>
          </a:ln>
        </p:spPr>
      </p:sp>
      <p:sp>
        <p:nvSpPr>
          <p:cNvPr id="2" name="kicker_17">
            <a:extLst xmlns:a="http://schemas.openxmlformats.org/drawingml/2006/main">
              <a:ext uri="{FF2B5EF4-FFF2-40B4-BE49-F238E27FC236}">
                <a16:creationId xmlns:a16="http://schemas.microsoft.com/office/drawing/2014/main" id="{CB1776F9-15F3-47C2-9FA5-DC3610426CFA}"/>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D6A900"/>
                </a:solidFill>
                <a:latin typeface="Trebuchet MS"/>
                <a:ea typeface="Trebuchet MS"/>
                <a:cs typeface="Trebuchet MS"/>
              </a:defRPr>
            </a:pPr>
            <a:r>
              <a:rPr sz="1800" b="1">
                <a:solidFill>
                  <a:srgbClr val="D6A900"/>
                </a:solidFill>
                <a:latin typeface="Trebuchet MS"/>
                <a:ea typeface="Trebuchet MS"/>
                <a:cs typeface="Trebuchet MS"/>
              </a:rPr>
              <a:t>LITERACY WARM-UP 6 OF 10 • REMINDER</a:t>
            </a:r>
          </a:p>
        </p:txBody>
      </p:sp>
      <p:sp>
        <p:nvSpPr>
          <p:cNvPr id="3" name="title_17">
            <a:extLst xmlns:a="http://schemas.openxmlformats.org/drawingml/2006/main">
              <a:ext uri="{FF2B5EF4-FFF2-40B4-BE49-F238E27FC236}">
                <a16:creationId xmlns:a16="http://schemas.microsoft.com/office/drawing/2014/main" id="{F2790EBF-7F75-4F38-82C2-76F020C7BB88}"/>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Remember: facts can be checked</a:t>
            </a:r>
          </a:p>
        </p:txBody>
      </p:sp>
      <p:sp>
        <p:nvSpPr>
          <p:cNvPr id="4" name="page_17">
            <a:extLst xmlns:a="http://schemas.openxmlformats.org/drawingml/2006/main">
              <a:ext uri="{FF2B5EF4-FFF2-40B4-BE49-F238E27FC236}">
                <a16:creationId xmlns:a16="http://schemas.microsoft.com/office/drawing/2014/main" id="{3310C48A-C095-4FFC-BBE3-3EE9EE022CD3}"/>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17</a:t>
            </a:r>
          </a:p>
        </p:txBody>
      </p:sp>
      <p:sp>
        <p:nvSpPr>
          <p:cNvPr id="5" name="warm_6_rule_panel">
            <a:extLst xmlns:a="http://schemas.openxmlformats.org/drawingml/2006/main">
              <a:ext uri="{FF2B5EF4-FFF2-40B4-BE49-F238E27FC236}">
                <a16:creationId xmlns:a16="http://schemas.microsoft.com/office/drawing/2014/main" id="{9EF1270A-4FC5-47EA-811F-45B254F8A886}"/>
              </a:ext>
            </a:extLst>
          </p:cNvPr>
          <p:cNvSpPr>
            <a:spLocks xmlns:a="http://schemas.openxmlformats.org/drawingml/2006/main" noGrp="1"/>
          </p:cNvSpPr>
          <p:nvPr/>
        </p:nvSpPr>
        <p:spPr>
          <a:xfrm xmlns:a="http://schemas.openxmlformats.org/drawingml/2006/main">
            <a:off x="571500" y="1257300"/>
            <a:ext cx="11049000" cy="2019300"/>
          </a:xfrm>
          <a:prstGeom xmlns:a="http://schemas.openxmlformats.org/drawingml/2006/main" prst="roundRect">
            <a:avLst>
              <a:gd name="adj" fmla="val 7547"/>
            </a:avLst>
          </a:prstGeom>
          <a:solidFill xmlns:a="http://schemas.openxmlformats.org/drawingml/2006/main">
            <a:srgbClr val="FFF3BF"/>
          </a:solidFill>
          <a:ln xmlns:a="http://schemas.openxmlformats.org/drawingml/2006/main" w="19050">
            <a:solidFill>
              <a:srgbClr val="D6A900"/>
            </a:solidFill>
            <a:prstDash val="solid"/>
          </a:ln>
        </p:spPr>
      </p:sp>
      <p:sp>
        <p:nvSpPr>
          <p:cNvPr id="6" name="warm_6_rule_text">
            <a:extLst xmlns:a="http://schemas.openxmlformats.org/drawingml/2006/main">
              <a:ext uri="{FF2B5EF4-FFF2-40B4-BE49-F238E27FC236}">
                <a16:creationId xmlns:a16="http://schemas.microsoft.com/office/drawing/2014/main" id="{EB918585-FE67-4DAA-9B6B-5CA0EC32388B}"/>
              </a:ext>
            </a:extLst>
          </p:cNvPr>
          <p:cNvSpPr>
            <a:spLocks xmlns:a="http://schemas.openxmlformats.org/drawingml/2006/main" noGrp="1"/>
          </p:cNvSpPr>
          <p:nvPr/>
        </p:nvSpPr>
        <p:spPr>
          <a:xfrm xmlns:a="http://schemas.openxmlformats.org/drawingml/2006/main">
            <a:off x="895350" y="1581150"/>
            <a:ext cx="104013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600" b="1">
                <a:solidFill>
                  <a:srgbClr val="3B2F00"/>
                </a:solidFill>
                <a:latin typeface="Trebuchet MS"/>
                <a:ea typeface="Trebuchet MS"/>
                <a:cs typeface="Trebuchet MS"/>
              </a:defRPr>
            </a:pPr>
            <a:r>
              <a:rPr sz="3600" b="1">
                <a:solidFill>
                  <a:srgbClr val="3B2F00"/>
                </a:solidFill>
                <a:latin typeface="Trebuchet MS"/>
                <a:ea typeface="Trebuchet MS"/>
                <a:cs typeface="Trebuchet MS"/>
              </a:rPr>
              <a:t>An information report uses objective statements, not personal judgements.</a:t>
            </a:r>
          </a:p>
        </p:txBody>
      </p:sp>
      <p:sp>
        <p:nvSpPr>
          <p:cNvPr id="7" name="warm_6_example_panel">
            <a:extLst xmlns:a="http://schemas.openxmlformats.org/drawingml/2006/main">
              <a:ext uri="{FF2B5EF4-FFF2-40B4-BE49-F238E27FC236}">
                <a16:creationId xmlns:a16="http://schemas.microsoft.com/office/drawing/2014/main" id="{284A94AE-0E2C-4591-B7FB-37D900040586}"/>
              </a:ext>
            </a:extLst>
          </p:cNvPr>
          <p:cNvSpPr>
            <a:spLocks xmlns:a="http://schemas.openxmlformats.org/drawingml/2006/main" noGrp="1"/>
          </p:cNvSpPr>
          <p:nvPr/>
        </p:nvSpPr>
        <p:spPr>
          <a:xfrm xmlns:a="http://schemas.openxmlformats.org/drawingml/2006/main">
            <a:off x="571500" y="3562350"/>
            <a:ext cx="11049000" cy="2114550"/>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19050">
            <a:solidFill>
              <a:srgbClr val="CBD5E1"/>
            </a:solidFill>
            <a:prstDash val="solid"/>
          </a:ln>
        </p:spPr>
      </p:sp>
      <p:sp>
        <p:nvSpPr>
          <p:cNvPr id="8" name="warm_6_example_text">
            <a:extLst xmlns:a="http://schemas.openxmlformats.org/drawingml/2006/main">
              <a:ext uri="{FF2B5EF4-FFF2-40B4-BE49-F238E27FC236}">
                <a16:creationId xmlns:a16="http://schemas.microsoft.com/office/drawing/2014/main" id="{971679BE-DA78-4CB9-8400-C9583B6DCCB4}"/>
              </a:ext>
            </a:extLst>
          </p:cNvPr>
          <p:cNvSpPr>
            <a:spLocks xmlns:a="http://schemas.openxmlformats.org/drawingml/2006/main" noGrp="1"/>
          </p:cNvSpPr>
          <p:nvPr/>
        </p:nvSpPr>
        <p:spPr>
          <a:xfrm xmlns:a="http://schemas.openxmlformats.org/drawingml/2006/main">
            <a:off x="895350" y="3886200"/>
            <a:ext cx="104013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150" b="0">
                <a:solidFill>
                  <a:srgbClr val="111827"/>
                </a:solidFill>
                <a:latin typeface="Trebuchet MS"/>
                <a:ea typeface="Trebuchet MS"/>
                <a:cs typeface="Trebuchet MS"/>
              </a:defRPr>
            </a:pPr>
            <a:r>
              <a:rPr sz="3150" b="0">
                <a:solidFill>
                  <a:srgbClr val="111827"/>
                </a:solidFill>
                <a:latin typeface="Trebuchet MS"/>
                <a:ea typeface="Trebuchet MS"/>
                <a:cs typeface="Trebuchet MS"/>
              </a:rPr>
              <a:t>Fact: Coral reefs shelter many sea animals. Opinion: Coral reefs are the best habitats.</a:t>
            </a:r>
          </a:p>
        </p:txBody>
      </p:sp>
      <p:sp>
        <p:nvSpPr>
          <p:cNvPr id="9" name="warm_6_cue">
            <a:extLst xmlns:a="http://schemas.openxmlformats.org/drawingml/2006/main">
              <a:ext uri="{FF2B5EF4-FFF2-40B4-BE49-F238E27FC236}">
                <a16:creationId xmlns:a16="http://schemas.microsoft.com/office/drawing/2014/main" id="{CC9FD066-0C6F-4C29-A96C-6385D8430885}"/>
              </a:ext>
            </a:extLst>
          </p:cNvPr>
          <p:cNvSpPr>
            <a:spLocks xmlns:a="http://schemas.openxmlformats.org/drawingml/2006/main" noGrp="1"/>
          </p:cNvSpPr>
          <p:nvPr/>
        </p:nvSpPr>
        <p:spPr>
          <a:xfrm xmlns:a="http://schemas.openxmlformats.org/drawingml/2006/main">
            <a:off x="781050" y="58102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475569"/>
                </a:solidFill>
                <a:latin typeface="Trebuchet MS"/>
                <a:ea typeface="Trebuchet MS"/>
                <a:cs typeface="Trebuchet MS"/>
              </a:defRPr>
            </a:pPr>
            <a:r>
              <a:rPr sz="2850" b="1">
                <a:solidFill>
                  <a:srgbClr val="475569"/>
                </a:solidFill>
                <a:latin typeface="Trebuchet MS"/>
                <a:ea typeface="Trebuchet MS"/>
                <a:cs typeface="Trebuchet MS"/>
              </a:rPr>
              <a:t>Use the reminder to solve the next slide.</a:t>
            </a:r>
          </a:p>
        </p:txBody>
      </p:sp>
    </p:spTree>
    <p:extLst>
      <p:ext uri="{BB962C8B-B14F-4D97-AF65-F5344CB8AC3E}">
        <p14:creationId xmlns:p14="http://schemas.microsoft.com/office/powerpoint/2010/main" val="2089697324"/>
      </p:ext>
    </p:extLst>
  </p:cSld>
</p:sld>
</file>

<file path=ppt/slides/slide18.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section_bar_18">
            <a:extLst xmlns:a="http://schemas.openxmlformats.org/drawingml/2006/main">
              <a:ext uri="{FF2B5EF4-FFF2-40B4-BE49-F238E27FC236}">
                <a16:creationId xmlns:a16="http://schemas.microsoft.com/office/drawing/2014/main" id="{A4825C85-B006-419C-A4C2-05A086E69142}"/>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18">
            <a:extLst xmlns:a="http://schemas.openxmlformats.org/drawingml/2006/main">
              <a:ext uri="{FF2B5EF4-FFF2-40B4-BE49-F238E27FC236}">
                <a16:creationId xmlns:a16="http://schemas.microsoft.com/office/drawing/2014/main" id="{629F0F95-512D-430D-BBCB-3E2AE8A79E7D}"/>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005A9C"/>
                </a:solidFill>
                <a:latin typeface="Trebuchet MS"/>
                <a:ea typeface="Trebuchet MS"/>
                <a:cs typeface="Trebuchet MS"/>
              </a:defRPr>
            </a:pPr>
            <a:r>
              <a:rPr sz="1800" b="1">
                <a:solidFill>
                  <a:srgbClr val="005A9C"/>
                </a:solidFill>
                <a:latin typeface="Trebuchet MS"/>
                <a:ea typeface="Trebuchet MS"/>
                <a:cs typeface="Trebuchet MS"/>
              </a:rPr>
              <a:t>LITERACY WARM-UP 6 OF 10 • QUESTION</a:t>
            </a:r>
          </a:p>
        </p:txBody>
      </p:sp>
      <p:sp>
        <p:nvSpPr>
          <p:cNvPr id="3" name="title_18">
            <a:extLst xmlns:a="http://schemas.openxmlformats.org/drawingml/2006/main">
              <a:ext uri="{FF2B5EF4-FFF2-40B4-BE49-F238E27FC236}">
                <a16:creationId xmlns:a16="http://schemas.microsoft.com/office/drawing/2014/main" id="{CBA47050-0A2D-4741-91B5-6BDC8D2B8923}"/>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Choose the factual statement</a:t>
            </a:r>
          </a:p>
        </p:txBody>
      </p:sp>
      <p:sp>
        <p:nvSpPr>
          <p:cNvPr id="4" name="page_18">
            <a:extLst xmlns:a="http://schemas.openxmlformats.org/drawingml/2006/main">
              <a:ext uri="{FF2B5EF4-FFF2-40B4-BE49-F238E27FC236}">
                <a16:creationId xmlns:a16="http://schemas.microsoft.com/office/drawing/2014/main" id="{0DFBBB40-8391-43D0-B2B9-6BE3891A3A14}"/>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18</a:t>
            </a:r>
          </a:p>
        </p:txBody>
      </p:sp>
      <p:sp>
        <p:nvSpPr>
          <p:cNvPr id="5" name="warm_6_question_panel">
            <a:extLst xmlns:a="http://schemas.openxmlformats.org/drawingml/2006/main">
              <a:ext uri="{FF2B5EF4-FFF2-40B4-BE49-F238E27FC236}">
                <a16:creationId xmlns:a16="http://schemas.microsoft.com/office/drawing/2014/main" id="{5645EC5D-5867-4592-B0BA-1FA742A1FCE8}"/>
              </a:ext>
            </a:extLst>
          </p:cNvPr>
          <p:cNvSpPr>
            <a:spLocks xmlns:a="http://schemas.openxmlformats.org/drawingml/2006/main" noGrp="1"/>
          </p:cNvSpPr>
          <p:nvPr/>
        </p:nvSpPr>
        <p:spPr>
          <a:xfrm xmlns:a="http://schemas.openxmlformats.org/drawingml/2006/main">
            <a:off x="571500" y="1333500"/>
            <a:ext cx="11049000" cy="3162300"/>
          </a:xfrm>
          <a:prstGeom xmlns:a="http://schemas.openxmlformats.org/drawingml/2006/main" prst="roundRect">
            <a:avLst>
              <a:gd name="adj" fmla="val 4819"/>
            </a:avLst>
          </a:prstGeom>
          <a:solidFill xmlns:a="http://schemas.openxmlformats.org/drawingml/2006/main">
            <a:srgbClr val="EAF2F8"/>
          </a:solidFill>
          <a:ln xmlns:a="http://schemas.openxmlformats.org/drawingml/2006/main" w="19050">
            <a:solidFill>
              <a:srgbClr val="7AA7C7"/>
            </a:solidFill>
            <a:prstDash val="solid"/>
          </a:ln>
        </p:spPr>
      </p:sp>
      <p:sp>
        <p:nvSpPr>
          <p:cNvPr id="6" name="warm_6_question_text">
            <a:extLst xmlns:a="http://schemas.openxmlformats.org/drawingml/2006/main">
              <a:ext uri="{FF2B5EF4-FFF2-40B4-BE49-F238E27FC236}">
                <a16:creationId xmlns:a16="http://schemas.microsoft.com/office/drawing/2014/main" id="{A9138A1E-6B81-4A3B-B6E4-DE68787CE0D7}"/>
              </a:ext>
            </a:extLst>
          </p:cNvPr>
          <p:cNvSpPr>
            <a:spLocks xmlns:a="http://schemas.openxmlformats.org/drawingml/2006/main" noGrp="1"/>
          </p:cNvSpPr>
          <p:nvPr/>
        </p:nvSpPr>
        <p:spPr>
          <a:xfrm xmlns:a="http://schemas.openxmlformats.org/drawingml/2006/main">
            <a:off x="933450" y="1695450"/>
            <a:ext cx="103251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900" b="1">
                <a:solidFill>
                  <a:srgbClr val="103A5E"/>
                </a:solidFill>
                <a:latin typeface="Trebuchet MS"/>
                <a:ea typeface="Trebuchet MS"/>
                <a:cs typeface="Trebuchet MS"/>
              </a:defRPr>
            </a:pPr>
            <a:r>
              <a:rPr sz="3900" b="1">
                <a:solidFill>
                  <a:srgbClr val="103A5E"/>
                </a:solidFill>
                <a:latin typeface="Trebuchet MS"/>
                <a:ea typeface="Trebuchet MS"/>
                <a:cs typeface="Trebuchet MS"/>
              </a:rPr>
              <a:t>A. Uruguay's grasslands are the most beautiful in the world.</a:t>
            </a:r>
          </a:p>
          <a:p xmlns:a="http://schemas.openxmlformats.org/drawingml/2006/main">
            <a:pPr algn="ctr">
              <a:lnSpc>
                <a:spcPct val="108000"/>
              </a:lnSpc>
              <a:buNone/>
              <a:defRPr sz="3900" b="1">
                <a:solidFill>
                  <a:srgbClr val="103A5E"/>
                </a:solidFill>
                <a:latin typeface="Trebuchet MS"/>
                <a:ea typeface="Trebuchet MS"/>
                <a:cs typeface="Trebuchet MS"/>
              </a:defRPr>
            </a:pPr>
            <a:r>
              <a:rPr sz="3900" b="1">
                <a:solidFill>
                  <a:srgbClr val="103A5E"/>
                </a:solidFill>
                <a:latin typeface="Trebuchet MS"/>
                <a:ea typeface="Trebuchet MS"/>
                <a:cs typeface="Trebuchet MS"/>
              </a:rPr>
              <a:t>B. Uruguay has grasslands crossed by rivers and streams.</a:t>
            </a:r>
          </a:p>
        </p:txBody>
      </p:sp>
      <p:sp>
        <p:nvSpPr>
          <p:cNvPr id="7" name="warm_6_support_panel">
            <a:extLst xmlns:a="http://schemas.openxmlformats.org/drawingml/2006/main">
              <a:ext uri="{FF2B5EF4-FFF2-40B4-BE49-F238E27FC236}">
                <a16:creationId xmlns:a16="http://schemas.microsoft.com/office/drawing/2014/main" id="{FF7A57FF-92EC-4AA9-B96F-56DF891689B9}"/>
              </a:ext>
            </a:extLst>
          </p:cNvPr>
          <p:cNvSpPr>
            <a:spLocks xmlns:a="http://schemas.openxmlformats.org/drawingml/2006/main" noGrp="1"/>
          </p:cNvSpPr>
          <p:nvPr/>
        </p:nvSpPr>
        <p:spPr>
          <a:xfrm xmlns:a="http://schemas.openxmlformats.org/drawingml/2006/main">
            <a:off x="1143000" y="4762500"/>
            <a:ext cx="990600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19050">
            <a:solidFill>
              <a:srgbClr val="CBD5E1"/>
            </a:solidFill>
            <a:prstDash val="solid"/>
          </a:ln>
        </p:spPr>
      </p:sp>
      <p:sp>
        <p:nvSpPr>
          <p:cNvPr id="8" name="warm_6_support_text">
            <a:extLst xmlns:a="http://schemas.openxmlformats.org/drawingml/2006/main">
              <a:ext uri="{FF2B5EF4-FFF2-40B4-BE49-F238E27FC236}">
                <a16:creationId xmlns:a16="http://schemas.microsoft.com/office/drawing/2014/main" id="{9F63E4AF-A1A1-4D70-A4BA-743515D526B3}"/>
              </a:ext>
            </a:extLst>
          </p:cNvPr>
          <p:cNvSpPr>
            <a:spLocks xmlns:a="http://schemas.openxmlformats.org/drawingml/2006/main" noGrp="1"/>
          </p:cNvSpPr>
          <p:nvPr/>
        </p:nvSpPr>
        <p:spPr>
          <a:xfrm xmlns:a="http://schemas.openxmlformats.org/drawingml/2006/main">
            <a:off x="1371600" y="4991100"/>
            <a:ext cx="944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000" b="0">
                <a:solidFill>
                  <a:srgbClr val="111827"/>
                </a:solidFill>
                <a:latin typeface="Trebuchet MS"/>
                <a:ea typeface="Trebuchet MS"/>
                <a:cs typeface="Trebuchet MS"/>
              </a:defRPr>
            </a:pPr>
            <a:r>
              <a:rPr sz="3000" b="0">
                <a:solidFill>
                  <a:srgbClr val="111827"/>
                </a:solidFill>
                <a:latin typeface="Trebuchet MS"/>
                <a:ea typeface="Trebuchet MS"/>
                <a:cs typeface="Trebuchet MS"/>
              </a:rPr>
              <a:t>Write A or B and give one reason.</a:t>
            </a:r>
          </a:p>
        </p:txBody>
      </p:sp>
    </p:spTree>
    <p:extLst>
      <p:ext uri="{BB962C8B-B14F-4D97-AF65-F5344CB8AC3E}">
        <p14:creationId xmlns:p14="http://schemas.microsoft.com/office/powerpoint/2010/main" val="1864785787"/>
      </p:ext>
    </p:extLst>
  </p:cSld>
</p:sld>
</file>

<file path=ppt/slides/slide19.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19">
            <a:extLst xmlns:a="http://schemas.openxmlformats.org/drawingml/2006/main">
              <a:ext uri="{FF2B5EF4-FFF2-40B4-BE49-F238E27FC236}">
                <a16:creationId xmlns:a16="http://schemas.microsoft.com/office/drawing/2014/main" id="{8A83C6A4-41AE-4DF6-A0F5-DE3FB051EEF9}"/>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B7F3A"/>
          </a:solidFill>
          <a:ln xmlns:a="http://schemas.openxmlformats.org/drawingml/2006/main" w="0">
            <a:noFill/>
            <a:prstDash val="solid"/>
          </a:ln>
        </p:spPr>
      </p:sp>
      <p:sp>
        <p:nvSpPr>
          <p:cNvPr id="2" name="kicker_19">
            <a:extLst xmlns:a="http://schemas.openxmlformats.org/drawingml/2006/main">
              <a:ext uri="{FF2B5EF4-FFF2-40B4-BE49-F238E27FC236}">
                <a16:creationId xmlns:a16="http://schemas.microsoft.com/office/drawing/2014/main" id="{96499B11-1005-40C4-A55D-4090B6C511C1}"/>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1B7F3A"/>
                </a:solidFill>
                <a:latin typeface="Trebuchet MS"/>
                <a:ea typeface="Trebuchet MS"/>
                <a:cs typeface="Trebuchet MS"/>
              </a:defRPr>
            </a:pPr>
            <a:r>
              <a:rPr sz="1800" b="1">
                <a:solidFill>
                  <a:srgbClr val="1B7F3A"/>
                </a:solidFill>
                <a:latin typeface="Trebuchet MS"/>
                <a:ea typeface="Trebuchet MS"/>
                <a:cs typeface="Trebuchet MS"/>
              </a:rPr>
              <a:t>LITERACY WARM-UP 6 OF 10 • ANSWER</a:t>
            </a:r>
          </a:p>
        </p:txBody>
      </p:sp>
      <p:sp>
        <p:nvSpPr>
          <p:cNvPr id="3" name="title_19">
            <a:extLst xmlns:a="http://schemas.openxmlformats.org/drawingml/2006/main">
              <a:ext uri="{FF2B5EF4-FFF2-40B4-BE49-F238E27FC236}">
                <a16:creationId xmlns:a16="http://schemas.microsoft.com/office/drawing/2014/main" id="{2366F082-1184-478C-B03D-EF6D8B5A84B5}"/>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B is the factual statement</a:t>
            </a:r>
          </a:p>
        </p:txBody>
      </p:sp>
      <p:sp>
        <p:nvSpPr>
          <p:cNvPr id="4" name="page_19">
            <a:extLst xmlns:a="http://schemas.openxmlformats.org/drawingml/2006/main">
              <a:ext uri="{FF2B5EF4-FFF2-40B4-BE49-F238E27FC236}">
                <a16:creationId xmlns:a16="http://schemas.microsoft.com/office/drawing/2014/main" id="{ADEC914C-12CA-4F97-AF6A-F823B7F537E5}"/>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19</a:t>
            </a:r>
          </a:p>
        </p:txBody>
      </p:sp>
      <p:sp>
        <p:nvSpPr>
          <p:cNvPr id="5" name="warm_6_answer_panel">
            <a:extLst xmlns:a="http://schemas.openxmlformats.org/drawingml/2006/main">
              <a:ext uri="{FF2B5EF4-FFF2-40B4-BE49-F238E27FC236}">
                <a16:creationId xmlns:a16="http://schemas.microsoft.com/office/drawing/2014/main" id="{698538F8-E399-4874-9813-D688C9FEB7BA}"/>
              </a:ext>
            </a:extLst>
          </p:cNvPr>
          <p:cNvSpPr>
            <a:spLocks xmlns:a="http://schemas.openxmlformats.org/drawingml/2006/main" noGrp="1"/>
          </p:cNvSpPr>
          <p:nvPr/>
        </p:nvSpPr>
        <p:spPr>
          <a:xfrm xmlns:a="http://schemas.openxmlformats.org/drawingml/2006/main">
            <a:off x="571500" y="1333500"/>
            <a:ext cx="11049000" cy="2571750"/>
          </a:xfrm>
          <a:prstGeom xmlns:a="http://schemas.openxmlformats.org/drawingml/2006/main" prst="roundRect">
            <a:avLst>
              <a:gd name="adj" fmla="val 5926"/>
            </a:avLst>
          </a:prstGeom>
          <a:solidFill xmlns:a="http://schemas.openxmlformats.org/drawingml/2006/main">
            <a:srgbClr val="EAF7EE"/>
          </a:solidFill>
          <a:ln xmlns:a="http://schemas.openxmlformats.org/drawingml/2006/main" w="19050">
            <a:solidFill>
              <a:srgbClr val="70A77C"/>
            </a:solidFill>
            <a:prstDash val="solid"/>
          </a:ln>
        </p:spPr>
      </p:sp>
      <p:sp>
        <p:nvSpPr>
          <p:cNvPr id="6" name="warm_6_answer_text">
            <a:extLst xmlns:a="http://schemas.openxmlformats.org/drawingml/2006/main">
              <a:ext uri="{FF2B5EF4-FFF2-40B4-BE49-F238E27FC236}">
                <a16:creationId xmlns:a16="http://schemas.microsoft.com/office/drawing/2014/main" id="{7EFD5DFB-D8B9-41DD-9A28-A1B8149C3F7B}"/>
              </a:ext>
            </a:extLst>
          </p:cNvPr>
          <p:cNvSpPr>
            <a:spLocks xmlns:a="http://schemas.openxmlformats.org/drawingml/2006/main" noGrp="1"/>
          </p:cNvSpPr>
          <p:nvPr/>
        </p:nvSpPr>
        <p:spPr>
          <a:xfrm xmlns:a="http://schemas.openxmlformats.org/drawingml/2006/main">
            <a:off x="933450" y="1695450"/>
            <a:ext cx="103251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defRPr sz="4050" b="1">
                <a:solidFill>
                  <a:srgbClr val="111827"/>
                </a:solidFill>
                <a:latin typeface="Trebuchet MS"/>
                <a:ea typeface="Trebuchet MS"/>
                <a:cs typeface="Trebuchet MS"/>
              </a:defRPr>
            </a:pPr>
            <a:r>
              <a:rPr>
                <a:latin typeface="Trebuchet MS"/>
                <a:ea typeface="Trebuchet MS"/>
                <a:cs typeface="Trebuchet MS"/>
              </a:rPr>
              <a:t>B. </a:t>
            </a:r>
            <a:r>
              <a:rPr sz="4350" b="1">
                <a:solidFill>
                  <a:srgbClr val="1B7F3A"/>
                </a:solidFill>
                <a:latin typeface="Trebuchet MS"/>
                <a:ea typeface="Trebuchet MS"/>
                <a:cs typeface="Trebuchet MS"/>
              </a:rPr>
              <a:t>Uruguay has grasslands crossed by rivers and streams.</a:t>
            </a:r>
          </a:p>
        </p:txBody>
      </p:sp>
      <p:sp>
        <p:nvSpPr>
          <p:cNvPr id="7" name="warm_6_cue_panel">
            <a:extLst xmlns:a="http://schemas.openxmlformats.org/drawingml/2006/main">
              <a:ext uri="{FF2B5EF4-FFF2-40B4-BE49-F238E27FC236}">
                <a16:creationId xmlns:a16="http://schemas.microsoft.com/office/drawing/2014/main" id="{1489CDCB-9687-4598-81FB-2EC2247224E0}"/>
              </a:ext>
            </a:extLst>
          </p:cNvPr>
          <p:cNvSpPr>
            <a:spLocks xmlns:a="http://schemas.openxmlformats.org/drawingml/2006/main" noGrp="1"/>
          </p:cNvSpPr>
          <p:nvPr/>
        </p:nvSpPr>
        <p:spPr>
          <a:xfrm xmlns:a="http://schemas.openxmlformats.org/drawingml/2006/main">
            <a:off x="952500" y="4171950"/>
            <a:ext cx="10287000" cy="80010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19050">
            <a:solidFill>
              <a:srgbClr val="70A77C"/>
            </a:solidFill>
            <a:prstDash val="solid"/>
          </a:ln>
        </p:spPr>
      </p:sp>
      <p:sp>
        <p:nvSpPr>
          <p:cNvPr id="8" name="warm_6_cue_text">
            <a:extLst xmlns:a="http://schemas.openxmlformats.org/drawingml/2006/main">
              <a:ext uri="{FF2B5EF4-FFF2-40B4-BE49-F238E27FC236}">
                <a16:creationId xmlns:a16="http://schemas.microsoft.com/office/drawing/2014/main" id="{3F1E4FFC-44A8-42A9-B1EE-DF5730D3F1B2}"/>
              </a:ext>
            </a:extLst>
          </p:cNvPr>
          <p:cNvSpPr>
            <a:spLocks xmlns:a="http://schemas.openxmlformats.org/drawingml/2006/main" noGrp="1"/>
          </p:cNvSpPr>
          <p:nvPr/>
        </p:nvSpPr>
        <p:spPr>
          <a:xfrm xmlns:a="http://schemas.openxmlformats.org/drawingml/2006/main">
            <a:off x="1143000" y="43624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1B7F3A"/>
                </a:solidFill>
                <a:latin typeface="Trebuchet MS"/>
                <a:ea typeface="Trebuchet MS"/>
                <a:cs typeface="Trebuchet MS"/>
              </a:defRPr>
            </a:pPr>
            <a:r>
              <a:rPr sz="2850" b="1">
                <a:solidFill>
                  <a:srgbClr val="1B7F3A"/>
                </a:solidFill>
                <a:latin typeface="Trebuchet MS"/>
                <a:ea typeface="Trebuchet MS"/>
                <a:cs typeface="Trebuchet MS"/>
              </a:rPr>
              <a:t>Factual wording: can be checked</a:t>
            </a:r>
          </a:p>
        </p:txBody>
      </p:sp>
      <p:sp>
        <p:nvSpPr>
          <p:cNvPr id="9" name="warm_6_why_panel">
            <a:extLst xmlns:a="http://schemas.openxmlformats.org/drawingml/2006/main">
              <a:ext uri="{FF2B5EF4-FFF2-40B4-BE49-F238E27FC236}">
                <a16:creationId xmlns:a16="http://schemas.microsoft.com/office/drawing/2014/main" id="{81401A43-A023-4A1A-AE79-7009E172C2B5}"/>
              </a:ext>
            </a:extLst>
          </p:cNvPr>
          <p:cNvSpPr>
            <a:spLocks xmlns:a="http://schemas.openxmlformats.org/drawingml/2006/main" noGrp="1"/>
          </p:cNvSpPr>
          <p:nvPr/>
        </p:nvSpPr>
        <p:spPr>
          <a:xfrm xmlns:a="http://schemas.openxmlformats.org/drawingml/2006/main">
            <a:off x="952500" y="5181600"/>
            <a:ext cx="10287000" cy="9144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9050">
            <a:solidFill>
              <a:srgbClr val="CBD5E1"/>
            </a:solidFill>
            <a:prstDash val="solid"/>
          </a:ln>
        </p:spPr>
      </p:sp>
      <p:sp>
        <p:nvSpPr>
          <p:cNvPr id="10" name="warm_6_why_text">
            <a:extLst xmlns:a="http://schemas.openxmlformats.org/drawingml/2006/main">
              <a:ext uri="{FF2B5EF4-FFF2-40B4-BE49-F238E27FC236}">
                <a16:creationId xmlns:a16="http://schemas.microsoft.com/office/drawing/2014/main" id="{E8FBED93-65FE-4C2F-9111-864606E11B39}"/>
              </a:ext>
            </a:extLst>
          </p:cNvPr>
          <p:cNvSpPr>
            <a:spLocks xmlns:a="http://schemas.openxmlformats.org/drawingml/2006/main" noGrp="1"/>
          </p:cNvSpPr>
          <p:nvPr/>
        </p:nvSpPr>
        <p:spPr>
          <a:xfrm xmlns:a="http://schemas.openxmlformats.org/drawingml/2006/main">
            <a:off x="1143000" y="53721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0">
                <a:solidFill>
                  <a:srgbClr val="111827"/>
                </a:solidFill>
                <a:latin typeface="Trebuchet MS"/>
                <a:ea typeface="Trebuchet MS"/>
                <a:cs typeface="Trebuchet MS"/>
              </a:defRPr>
            </a:pPr>
            <a:r>
              <a:rPr sz="2850" b="0">
                <a:solidFill>
                  <a:srgbClr val="111827"/>
                </a:solidFill>
                <a:latin typeface="Trebuchet MS"/>
                <a:ea typeface="Trebuchet MS"/>
                <a:cs typeface="Trebuchet MS"/>
              </a:rPr>
              <a:t>B names features that can be checked; most beautiful is a judgement.</a:t>
            </a:r>
          </a:p>
        </p:txBody>
      </p:sp>
    </p:spTree>
    <p:extLst>
      <p:ext uri="{BB962C8B-B14F-4D97-AF65-F5344CB8AC3E}">
        <p14:creationId xmlns:p14="http://schemas.microsoft.com/office/powerpoint/2010/main" val="1436555659"/>
      </p:ext>
    </p:extLst>
  </p:cSld>
</p:sld>
</file>

<file path=ppt/slides/slide20.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0" name="section_bar_20">
            <a:extLst xmlns:a="http://schemas.openxmlformats.org/drawingml/2006/main">
              <a:ext uri="{FF2B5EF4-FFF2-40B4-BE49-F238E27FC236}">
                <a16:creationId xmlns:a16="http://schemas.microsoft.com/office/drawing/2014/main" id="{7DCD144D-241C-4668-ADFA-4616CBFD213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D6A900"/>
          </a:solidFill>
          <a:ln xmlns:a="http://schemas.openxmlformats.org/drawingml/2006/main" w="0">
            <a:noFill/>
            <a:prstDash val="solid"/>
          </a:ln>
        </p:spPr>
      </p:sp>
      <p:sp>
        <p:nvSpPr>
          <p:cNvPr id="2" name="kicker_20">
            <a:extLst xmlns:a="http://schemas.openxmlformats.org/drawingml/2006/main">
              <a:ext uri="{FF2B5EF4-FFF2-40B4-BE49-F238E27FC236}">
                <a16:creationId xmlns:a16="http://schemas.microsoft.com/office/drawing/2014/main" id="{C0455916-8DC4-4D0B-9245-B659401F2C83}"/>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D6A900"/>
                </a:solidFill>
                <a:latin typeface="Trebuchet MS"/>
                <a:ea typeface="Trebuchet MS"/>
                <a:cs typeface="Trebuchet MS"/>
              </a:defRPr>
            </a:pPr>
            <a:r>
              <a:rPr sz="1800" b="1">
                <a:solidFill>
                  <a:srgbClr val="D6A900"/>
                </a:solidFill>
                <a:latin typeface="Trebuchet MS"/>
                <a:ea typeface="Trebuchet MS"/>
                <a:cs typeface="Trebuchet MS"/>
              </a:rPr>
              <a:t>LITERACY WARM-UP 7 OF 10 • REMINDER</a:t>
            </a:r>
          </a:p>
        </p:txBody>
      </p:sp>
      <p:sp>
        <p:nvSpPr>
          <p:cNvPr id="3" name="title_20">
            <a:extLst xmlns:a="http://schemas.openxmlformats.org/drawingml/2006/main">
              <a:ext uri="{FF2B5EF4-FFF2-40B4-BE49-F238E27FC236}">
                <a16:creationId xmlns:a16="http://schemas.microsoft.com/office/drawing/2014/main" id="{9B889246-3E18-4E35-9B32-F8E48705E833}"/>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Remember: exact verbs name the process</a:t>
            </a:r>
          </a:p>
        </p:txBody>
      </p:sp>
      <p:sp>
        <p:nvSpPr>
          <p:cNvPr id="4" name="page_20">
            <a:extLst xmlns:a="http://schemas.openxmlformats.org/drawingml/2006/main">
              <a:ext uri="{FF2B5EF4-FFF2-40B4-BE49-F238E27FC236}">
                <a16:creationId xmlns:a16="http://schemas.microsoft.com/office/drawing/2014/main" id="{30C37142-DC16-4BD9-BF3D-08465C3C166D}"/>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20</a:t>
            </a:r>
          </a:p>
        </p:txBody>
      </p:sp>
      <p:sp>
        <p:nvSpPr>
          <p:cNvPr id="5" name="warm_7_rule_panel">
            <a:extLst xmlns:a="http://schemas.openxmlformats.org/drawingml/2006/main">
              <a:ext uri="{FF2B5EF4-FFF2-40B4-BE49-F238E27FC236}">
                <a16:creationId xmlns:a16="http://schemas.microsoft.com/office/drawing/2014/main" id="{A68A3547-EB2C-45B8-B991-30425C7FE390}"/>
              </a:ext>
            </a:extLst>
          </p:cNvPr>
          <p:cNvSpPr>
            <a:spLocks xmlns:a="http://schemas.openxmlformats.org/drawingml/2006/main" noGrp="1"/>
          </p:cNvSpPr>
          <p:nvPr/>
        </p:nvSpPr>
        <p:spPr>
          <a:xfrm xmlns:a="http://schemas.openxmlformats.org/drawingml/2006/main">
            <a:off x="571500" y="1257300"/>
            <a:ext cx="11049000" cy="2019300"/>
          </a:xfrm>
          <a:prstGeom xmlns:a="http://schemas.openxmlformats.org/drawingml/2006/main" prst="roundRect">
            <a:avLst>
              <a:gd name="adj" fmla="val 7547"/>
            </a:avLst>
          </a:prstGeom>
          <a:solidFill xmlns:a="http://schemas.openxmlformats.org/drawingml/2006/main">
            <a:srgbClr val="FFF3BF"/>
          </a:solidFill>
          <a:ln xmlns:a="http://schemas.openxmlformats.org/drawingml/2006/main" w="19050">
            <a:solidFill>
              <a:srgbClr val="D6A900"/>
            </a:solidFill>
            <a:prstDash val="solid"/>
          </a:ln>
        </p:spPr>
      </p:sp>
      <p:sp>
        <p:nvSpPr>
          <p:cNvPr id="6" name="warm_7_rule_text">
            <a:extLst xmlns:a="http://schemas.openxmlformats.org/drawingml/2006/main">
              <a:ext uri="{FF2B5EF4-FFF2-40B4-BE49-F238E27FC236}">
                <a16:creationId xmlns:a16="http://schemas.microsoft.com/office/drawing/2014/main" id="{609950A1-CBA7-4E9A-8202-110EC956A3C4}"/>
              </a:ext>
            </a:extLst>
          </p:cNvPr>
          <p:cNvSpPr>
            <a:spLocks xmlns:a="http://schemas.openxmlformats.org/drawingml/2006/main" noGrp="1"/>
          </p:cNvSpPr>
          <p:nvPr/>
        </p:nvSpPr>
        <p:spPr>
          <a:xfrm xmlns:a="http://schemas.openxmlformats.org/drawingml/2006/main">
            <a:off x="895350" y="1581150"/>
            <a:ext cx="104013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600" b="1">
                <a:solidFill>
                  <a:srgbClr val="3B2F00"/>
                </a:solidFill>
                <a:latin typeface="Trebuchet MS"/>
                <a:ea typeface="Trebuchet MS"/>
                <a:cs typeface="Trebuchet MS"/>
              </a:defRPr>
            </a:pPr>
            <a:r>
              <a:rPr sz="3600" b="1">
                <a:solidFill>
                  <a:srgbClr val="3B2F00"/>
                </a:solidFill>
                <a:latin typeface="Trebuchet MS"/>
                <a:ea typeface="Trebuchet MS"/>
                <a:cs typeface="Trebuchet MS"/>
              </a:rPr>
              <a:t>A precise verb tells the reader exactly what happens.</a:t>
            </a:r>
          </a:p>
        </p:txBody>
      </p:sp>
      <p:sp>
        <p:nvSpPr>
          <p:cNvPr id="7" name="warm_7_example_panel">
            <a:extLst xmlns:a="http://schemas.openxmlformats.org/drawingml/2006/main">
              <a:ext uri="{FF2B5EF4-FFF2-40B4-BE49-F238E27FC236}">
                <a16:creationId xmlns:a16="http://schemas.microsoft.com/office/drawing/2014/main" id="{732D3C53-ACA9-4700-A1B7-2A9B04B0C6C0}"/>
              </a:ext>
            </a:extLst>
          </p:cNvPr>
          <p:cNvSpPr>
            <a:spLocks xmlns:a="http://schemas.openxmlformats.org/drawingml/2006/main" noGrp="1"/>
          </p:cNvSpPr>
          <p:nvPr/>
        </p:nvSpPr>
        <p:spPr>
          <a:xfrm xmlns:a="http://schemas.openxmlformats.org/drawingml/2006/main">
            <a:off x="571500" y="3562350"/>
            <a:ext cx="11049000" cy="2114550"/>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19050">
            <a:solidFill>
              <a:srgbClr val="CBD5E1"/>
            </a:solidFill>
            <a:prstDash val="solid"/>
          </a:ln>
        </p:spPr>
      </p:sp>
      <p:sp>
        <p:nvSpPr>
          <p:cNvPr id="8" name="warm_7_example_text">
            <a:extLst xmlns:a="http://schemas.openxmlformats.org/drawingml/2006/main">
              <a:ext uri="{FF2B5EF4-FFF2-40B4-BE49-F238E27FC236}">
                <a16:creationId xmlns:a16="http://schemas.microsoft.com/office/drawing/2014/main" id="{3D381C89-699A-43E2-AEC0-718E7B05C086}"/>
              </a:ext>
            </a:extLst>
          </p:cNvPr>
          <p:cNvSpPr>
            <a:spLocks xmlns:a="http://schemas.openxmlformats.org/drawingml/2006/main" noGrp="1"/>
          </p:cNvSpPr>
          <p:nvPr/>
        </p:nvSpPr>
        <p:spPr>
          <a:xfrm xmlns:a="http://schemas.openxmlformats.org/drawingml/2006/main">
            <a:off x="895350" y="3886200"/>
            <a:ext cx="104013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150" b="0">
                <a:solidFill>
                  <a:srgbClr val="111827"/>
                </a:solidFill>
                <a:latin typeface="Trebuchet MS"/>
                <a:ea typeface="Trebuchet MS"/>
                <a:cs typeface="Trebuchet MS"/>
              </a:defRPr>
            </a:pPr>
            <a:r>
              <a:rPr sz="3150" b="0">
                <a:solidFill>
                  <a:srgbClr val="111827"/>
                </a:solidFill>
                <a:latin typeface="Trebuchet MS"/>
                <a:ea typeface="Trebuchet MS"/>
                <a:cs typeface="Trebuchet MS"/>
              </a:rPr>
              <a:t>Example: Roots take in water. More precise: Roots absorb water.</a:t>
            </a:r>
          </a:p>
        </p:txBody>
      </p:sp>
      <p:sp>
        <p:nvSpPr>
          <p:cNvPr id="9" name="warm_7_cue">
            <a:extLst xmlns:a="http://schemas.openxmlformats.org/drawingml/2006/main">
              <a:ext uri="{FF2B5EF4-FFF2-40B4-BE49-F238E27FC236}">
                <a16:creationId xmlns:a16="http://schemas.microsoft.com/office/drawing/2014/main" id="{114D9AD3-D490-4785-A46D-C6DB6C8C5833}"/>
              </a:ext>
            </a:extLst>
          </p:cNvPr>
          <p:cNvSpPr>
            <a:spLocks xmlns:a="http://schemas.openxmlformats.org/drawingml/2006/main" noGrp="1"/>
          </p:cNvSpPr>
          <p:nvPr/>
        </p:nvSpPr>
        <p:spPr>
          <a:xfrm xmlns:a="http://schemas.openxmlformats.org/drawingml/2006/main">
            <a:off x="781050" y="58102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475569"/>
                </a:solidFill>
                <a:latin typeface="Trebuchet MS"/>
                <a:ea typeface="Trebuchet MS"/>
                <a:cs typeface="Trebuchet MS"/>
              </a:defRPr>
            </a:pPr>
            <a:r>
              <a:rPr sz="2850" b="1">
                <a:solidFill>
                  <a:srgbClr val="475569"/>
                </a:solidFill>
                <a:latin typeface="Trebuchet MS"/>
                <a:ea typeface="Trebuchet MS"/>
                <a:cs typeface="Trebuchet MS"/>
              </a:rPr>
              <a:t>Use the reminder to solve the next slide.</a:t>
            </a:r>
          </a:p>
        </p:txBody>
      </p:sp>
    </p:spTree>
    <p:extLst>
      <p:ext uri="{BB962C8B-B14F-4D97-AF65-F5344CB8AC3E}">
        <p14:creationId xmlns:p14="http://schemas.microsoft.com/office/powerpoint/2010/main" val="81378428"/>
      </p:ext>
    </p:extLst>
  </p:cSld>
</p:sld>
</file>

<file path=ppt/slides/slide21.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section_bar_21">
            <a:extLst xmlns:a="http://schemas.openxmlformats.org/drawingml/2006/main">
              <a:ext uri="{FF2B5EF4-FFF2-40B4-BE49-F238E27FC236}">
                <a16:creationId xmlns:a16="http://schemas.microsoft.com/office/drawing/2014/main" id="{BB327191-E1CF-4F35-8963-6D0BB1F1429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21">
            <a:extLst xmlns:a="http://schemas.openxmlformats.org/drawingml/2006/main">
              <a:ext uri="{FF2B5EF4-FFF2-40B4-BE49-F238E27FC236}">
                <a16:creationId xmlns:a16="http://schemas.microsoft.com/office/drawing/2014/main" id="{79C599AC-121C-4720-BBC7-27C475997E99}"/>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005A9C"/>
                </a:solidFill>
                <a:latin typeface="Trebuchet MS"/>
                <a:ea typeface="Trebuchet MS"/>
                <a:cs typeface="Trebuchet MS"/>
              </a:defRPr>
            </a:pPr>
            <a:r>
              <a:rPr sz="1800" b="1">
                <a:solidFill>
                  <a:srgbClr val="005A9C"/>
                </a:solidFill>
                <a:latin typeface="Trebuchet MS"/>
                <a:ea typeface="Trebuchet MS"/>
                <a:cs typeface="Trebuchet MS"/>
              </a:rPr>
              <a:t>LITERACY WARM-UP 7 OF 10 • QUESTION</a:t>
            </a:r>
          </a:p>
        </p:txBody>
      </p:sp>
      <p:sp>
        <p:nvSpPr>
          <p:cNvPr id="3" name="title_21">
            <a:extLst xmlns:a="http://schemas.openxmlformats.org/drawingml/2006/main">
              <a:ext uri="{FF2B5EF4-FFF2-40B4-BE49-F238E27FC236}">
                <a16:creationId xmlns:a16="http://schemas.microsoft.com/office/drawing/2014/main" id="{D81B7942-1A57-4942-AD9A-B5671AD5790C}"/>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Choose the precise process verb</a:t>
            </a:r>
          </a:p>
        </p:txBody>
      </p:sp>
      <p:sp>
        <p:nvSpPr>
          <p:cNvPr id="4" name="page_21">
            <a:extLst xmlns:a="http://schemas.openxmlformats.org/drawingml/2006/main">
              <a:ext uri="{FF2B5EF4-FFF2-40B4-BE49-F238E27FC236}">
                <a16:creationId xmlns:a16="http://schemas.microsoft.com/office/drawing/2014/main" id="{0C905DDF-CF52-4FFD-9F81-22A79F637D26}"/>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21</a:t>
            </a:r>
          </a:p>
        </p:txBody>
      </p:sp>
      <p:sp>
        <p:nvSpPr>
          <p:cNvPr id="5" name="warm_7_question_panel">
            <a:extLst xmlns:a="http://schemas.openxmlformats.org/drawingml/2006/main">
              <a:ext uri="{FF2B5EF4-FFF2-40B4-BE49-F238E27FC236}">
                <a16:creationId xmlns:a16="http://schemas.microsoft.com/office/drawing/2014/main" id="{0C297558-8463-4C4A-B5A6-D9BADDA338C6}"/>
              </a:ext>
            </a:extLst>
          </p:cNvPr>
          <p:cNvSpPr>
            <a:spLocks xmlns:a="http://schemas.openxmlformats.org/drawingml/2006/main" noGrp="1"/>
          </p:cNvSpPr>
          <p:nvPr/>
        </p:nvSpPr>
        <p:spPr>
          <a:xfrm xmlns:a="http://schemas.openxmlformats.org/drawingml/2006/main">
            <a:off x="571500" y="1333500"/>
            <a:ext cx="11049000" cy="3162300"/>
          </a:xfrm>
          <a:prstGeom xmlns:a="http://schemas.openxmlformats.org/drawingml/2006/main" prst="roundRect">
            <a:avLst>
              <a:gd name="adj" fmla="val 4819"/>
            </a:avLst>
          </a:prstGeom>
          <a:solidFill xmlns:a="http://schemas.openxmlformats.org/drawingml/2006/main">
            <a:srgbClr val="EAF2F8"/>
          </a:solidFill>
          <a:ln xmlns:a="http://schemas.openxmlformats.org/drawingml/2006/main" w="19050">
            <a:solidFill>
              <a:srgbClr val="7AA7C7"/>
            </a:solidFill>
            <a:prstDash val="solid"/>
          </a:ln>
        </p:spPr>
      </p:sp>
      <p:sp>
        <p:nvSpPr>
          <p:cNvPr id="6" name="warm_7_question_text">
            <a:extLst xmlns:a="http://schemas.openxmlformats.org/drawingml/2006/main">
              <a:ext uri="{FF2B5EF4-FFF2-40B4-BE49-F238E27FC236}">
                <a16:creationId xmlns:a16="http://schemas.microsoft.com/office/drawing/2014/main" id="{EE804B91-490E-4707-B4D1-948C0191DBB8}"/>
              </a:ext>
            </a:extLst>
          </p:cNvPr>
          <p:cNvSpPr>
            <a:spLocks xmlns:a="http://schemas.openxmlformats.org/drawingml/2006/main" noGrp="1"/>
          </p:cNvSpPr>
          <p:nvPr/>
        </p:nvSpPr>
        <p:spPr>
          <a:xfrm xmlns:a="http://schemas.openxmlformats.org/drawingml/2006/main">
            <a:off x="933450" y="1695450"/>
            <a:ext cx="103251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900" b="1">
                <a:solidFill>
                  <a:srgbClr val="103A5E"/>
                </a:solidFill>
                <a:latin typeface="Trebuchet MS"/>
                <a:ea typeface="Trebuchet MS"/>
                <a:cs typeface="Trebuchet MS"/>
              </a:defRPr>
            </a:pPr>
            <a:r>
              <a:rPr sz="3900" b="1">
                <a:solidFill>
                  <a:srgbClr val="103A5E"/>
                </a:solidFill>
                <a:latin typeface="Trebuchet MS"/>
                <a:ea typeface="Trebuchet MS"/>
                <a:cs typeface="Trebuchet MS"/>
              </a:rPr>
              <a:t>Water ___ from the surface when heated.</a:t>
            </a:r>
          </a:p>
        </p:txBody>
      </p:sp>
      <p:sp>
        <p:nvSpPr>
          <p:cNvPr id="7" name="warm_7_support_panel">
            <a:extLst xmlns:a="http://schemas.openxmlformats.org/drawingml/2006/main">
              <a:ext uri="{FF2B5EF4-FFF2-40B4-BE49-F238E27FC236}">
                <a16:creationId xmlns:a16="http://schemas.microsoft.com/office/drawing/2014/main" id="{716F6787-9E71-4C8E-B44C-65DE8F45167C}"/>
              </a:ext>
            </a:extLst>
          </p:cNvPr>
          <p:cNvSpPr>
            <a:spLocks xmlns:a="http://schemas.openxmlformats.org/drawingml/2006/main" noGrp="1"/>
          </p:cNvSpPr>
          <p:nvPr/>
        </p:nvSpPr>
        <p:spPr>
          <a:xfrm xmlns:a="http://schemas.openxmlformats.org/drawingml/2006/main">
            <a:off x="1143000" y="4762500"/>
            <a:ext cx="990600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19050">
            <a:solidFill>
              <a:srgbClr val="CBD5E1"/>
            </a:solidFill>
            <a:prstDash val="solid"/>
          </a:ln>
        </p:spPr>
      </p:sp>
      <p:sp>
        <p:nvSpPr>
          <p:cNvPr id="8" name="warm_7_support_text">
            <a:extLst xmlns:a="http://schemas.openxmlformats.org/drawingml/2006/main">
              <a:ext uri="{FF2B5EF4-FFF2-40B4-BE49-F238E27FC236}">
                <a16:creationId xmlns:a16="http://schemas.microsoft.com/office/drawing/2014/main" id="{3D5DE5A5-F8FB-4CCA-A492-6721F8AC7BB0}"/>
              </a:ext>
            </a:extLst>
          </p:cNvPr>
          <p:cNvSpPr>
            <a:spLocks xmlns:a="http://schemas.openxmlformats.org/drawingml/2006/main" noGrp="1"/>
          </p:cNvSpPr>
          <p:nvPr/>
        </p:nvSpPr>
        <p:spPr>
          <a:xfrm xmlns:a="http://schemas.openxmlformats.org/drawingml/2006/main">
            <a:off x="1371600" y="4991100"/>
            <a:ext cx="944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000" b="0">
                <a:solidFill>
                  <a:srgbClr val="111827"/>
                </a:solidFill>
                <a:latin typeface="Trebuchet MS"/>
                <a:ea typeface="Trebuchet MS"/>
                <a:cs typeface="Trebuchet MS"/>
              </a:defRPr>
            </a:pPr>
            <a:r>
              <a:rPr sz="3000" b="0">
                <a:solidFill>
                  <a:srgbClr val="111827"/>
                </a:solidFill>
                <a:latin typeface="Trebuchet MS"/>
                <a:ea typeface="Trebuchet MS"/>
                <a:cs typeface="Trebuchet MS"/>
              </a:rPr>
              <a:t>Choose: disappears • evaporates</a:t>
            </a:r>
          </a:p>
          <a:p xmlns:a="http://schemas.openxmlformats.org/drawingml/2006/main">
            <a:pPr algn="ctr">
              <a:lnSpc>
                <a:spcPct val="108000"/>
              </a:lnSpc>
              <a:buNone/>
              <a:defRPr sz="3000" b="0">
                <a:solidFill>
                  <a:srgbClr val="111827"/>
                </a:solidFill>
                <a:latin typeface="Trebuchet MS"/>
                <a:ea typeface="Trebuchet MS"/>
                <a:cs typeface="Trebuchet MS"/>
              </a:defRPr>
            </a:pPr>
            <a:r>
              <a:rPr sz="3000" b="0">
                <a:solidFill>
                  <a:srgbClr val="111827"/>
                </a:solidFill>
                <a:latin typeface="Trebuchet MS"/>
                <a:ea typeface="Trebuchet MS"/>
                <a:cs typeface="Trebuchet MS"/>
              </a:rPr>
              <a:t>Write the complete sentence.</a:t>
            </a:r>
          </a:p>
        </p:txBody>
      </p:sp>
    </p:spTree>
    <p:extLst>
      <p:ext uri="{BB962C8B-B14F-4D97-AF65-F5344CB8AC3E}">
        <p14:creationId xmlns:p14="http://schemas.microsoft.com/office/powerpoint/2010/main" val="2143322460"/>
      </p:ext>
    </p:extLst>
  </p:cSld>
</p:sld>
</file>

<file path=ppt/slides/slide2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22">
            <a:extLst xmlns:a="http://schemas.openxmlformats.org/drawingml/2006/main">
              <a:ext uri="{FF2B5EF4-FFF2-40B4-BE49-F238E27FC236}">
                <a16:creationId xmlns:a16="http://schemas.microsoft.com/office/drawing/2014/main" id="{6B17644A-80B1-4952-981C-01C493CC244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B7F3A"/>
          </a:solidFill>
          <a:ln xmlns:a="http://schemas.openxmlformats.org/drawingml/2006/main" w="0">
            <a:noFill/>
            <a:prstDash val="solid"/>
          </a:ln>
        </p:spPr>
      </p:sp>
      <p:sp>
        <p:nvSpPr>
          <p:cNvPr id="2" name="kicker_22">
            <a:extLst xmlns:a="http://schemas.openxmlformats.org/drawingml/2006/main">
              <a:ext uri="{FF2B5EF4-FFF2-40B4-BE49-F238E27FC236}">
                <a16:creationId xmlns:a16="http://schemas.microsoft.com/office/drawing/2014/main" id="{44042B4D-FF1A-4293-B0EC-EB7F36B3F076}"/>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1B7F3A"/>
                </a:solidFill>
                <a:latin typeface="Trebuchet MS"/>
                <a:ea typeface="Trebuchet MS"/>
                <a:cs typeface="Trebuchet MS"/>
              </a:defRPr>
            </a:pPr>
            <a:r>
              <a:rPr sz="1800" b="1">
                <a:solidFill>
                  <a:srgbClr val="1B7F3A"/>
                </a:solidFill>
                <a:latin typeface="Trebuchet MS"/>
                <a:ea typeface="Trebuchet MS"/>
                <a:cs typeface="Trebuchet MS"/>
              </a:rPr>
              <a:t>LITERACY WARM-UP 7 OF 10 • ANSWER</a:t>
            </a:r>
          </a:p>
        </p:txBody>
      </p:sp>
      <p:sp>
        <p:nvSpPr>
          <p:cNvPr id="3" name="title_22">
            <a:extLst xmlns:a="http://schemas.openxmlformats.org/drawingml/2006/main">
              <a:ext uri="{FF2B5EF4-FFF2-40B4-BE49-F238E27FC236}">
                <a16:creationId xmlns:a16="http://schemas.microsoft.com/office/drawing/2014/main" id="{56262DD6-59FC-4B39-B084-C36B19DA3143}"/>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Evaporates names the process</a:t>
            </a:r>
          </a:p>
        </p:txBody>
      </p:sp>
      <p:sp>
        <p:nvSpPr>
          <p:cNvPr id="4" name="page_22">
            <a:extLst xmlns:a="http://schemas.openxmlformats.org/drawingml/2006/main">
              <a:ext uri="{FF2B5EF4-FFF2-40B4-BE49-F238E27FC236}">
                <a16:creationId xmlns:a16="http://schemas.microsoft.com/office/drawing/2014/main" id="{3B262D40-6FF8-4E74-9FBB-59DA7A17E1D4}"/>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22</a:t>
            </a:r>
          </a:p>
        </p:txBody>
      </p:sp>
      <p:sp>
        <p:nvSpPr>
          <p:cNvPr id="5" name="warm_7_answer_panel">
            <a:extLst xmlns:a="http://schemas.openxmlformats.org/drawingml/2006/main">
              <a:ext uri="{FF2B5EF4-FFF2-40B4-BE49-F238E27FC236}">
                <a16:creationId xmlns:a16="http://schemas.microsoft.com/office/drawing/2014/main" id="{072F1CFC-5EE2-40C7-A328-D685A5C4D416}"/>
              </a:ext>
            </a:extLst>
          </p:cNvPr>
          <p:cNvSpPr>
            <a:spLocks xmlns:a="http://schemas.openxmlformats.org/drawingml/2006/main" noGrp="1"/>
          </p:cNvSpPr>
          <p:nvPr/>
        </p:nvSpPr>
        <p:spPr>
          <a:xfrm xmlns:a="http://schemas.openxmlformats.org/drawingml/2006/main">
            <a:off x="571500" y="1333500"/>
            <a:ext cx="11049000" cy="2571750"/>
          </a:xfrm>
          <a:prstGeom xmlns:a="http://schemas.openxmlformats.org/drawingml/2006/main" prst="roundRect">
            <a:avLst>
              <a:gd name="adj" fmla="val 5926"/>
            </a:avLst>
          </a:prstGeom>
          <a:solidFill xmlns:a="http://schemas.openxmlformats.org/drawingml/2006/main">
            <a:srgbClr val="EAF7EE"/>
          </a:solidFill>
          <a:ln xmlns:a="http://schemas.openxmlformats.org/drawingml/2006/main" w="19050">
            <a:solidFill>
              <a:srgbClr val="70A77C"/>
            </a:solidFill>
            <a:prstDash val="solid"/>
          </a:ln>
        </p:spPr>
      </p:sp>
      <p:sp>
        <p:nvSpPr>
          <p:cNvPr id="6" name="warm_7_answer_text">
            <a:extLst xmlns:a="http://schemas.openxmlformats.org/drawingml/2006/main">
              <a:ext uri="{FF2B5EF4-FFF2-40B4-BE49-F238E27FC236}">
                <a16:creationId xmlns:a16="http://schemas.microsoft.com/office/drawing/2014/main" id="{558F4856-6301-4320-A061-EE1F9F5B9F81}"/>
              </a:ext>
            </a:extLst>
          </p:cNvPr>
          <p:cNvSpPr>
            <a:spLocks xmlns:a="http://schemas.openxmlformats.org/drawingml/2006/main" noGrp="1"/>
          </p:cNvSpPr>
          <p:nvPr/>
        </p:nvSpPr>
        <p:spPr>
          <a:xfrm xmlns:a="http://schemas.openxmlformats.org/drawingml/2006/main">
            <a:off x="933450" y="1695450"/>
            <a:ext cx="103251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defRPr sz="4050" b="1">
                <a:solidFill>
                  <a:srgbClr val="111827"/>
                </a:solidFill>
                <a:latin typeface="Trebuchet MS"/>
                <a:ea typeface="Trebuchet MS"/>
                <a:cs typeface="Trebuchet MS"/>
              </a:defRPr>
            </a:pPr>
            <a:r>
              <a:rPr>
                <a:latin typeface="Trebuchet MS"/>
                <a:ea typeface="Trebuchet MS"/>
                <a:cs typeface="Trebuchet MS"/>
              </a:rPr>
              <a:t>Water </a:t>
            </a:r>
            <a:r>
              <a:rPr sz="5100" b="1">
                <a:solidFill>
                  <a:srgbClr val="1B7F3A"/>
                </a:solidFill>
                <a:latin typeface="Trebuchet MS"/>
                <a:ea typeface="Trebuchet MS"/>
                <a:cs typeface="Trebuchet MS"/>
              </a:rPr>
              <a:t>evaporates</a:t>
            </a:r>
            <a:r>
              <a:rPr>
                <a:latin typeface="Trebuchet MS"/>
                <a:ea typeface="Trebuchet MS"/>
                <a:cs typeface="Trebuchet MS"/>
              </a:rPr>
              <a:t> from the surface when heated.</a:t>
            </a:r>
          </a:p>
        </p:txBody>
      </p:sp>
      <p:sp>
        <p:nvSpPr>
          <p:cNvPr id="7" name="warm_7_cue_panel">
            <a:extLst xmlns:a="http://schemas.openxmlformats.org/drawingml/2006/main">
              <a:ext uri="{FF2B5EF4-FFF2-40B4-BE49-F238E27FC236}">
                <a16:creationId xmlns:a16="http://schemas.microsoft.com/office/drawing/2014/main" id="{A6BFE591-88D0-4E6E-9200-D86252A0EE2B}"/>
              </a:ext>
            </a:extLst>
          </p:cNvPr>
          <p:cNvSpPr>
            <a:spLocks xmlns:a="http://schemas.openxmlformats.org/drawingml/2006/main" noGrp="1"/>
          </p:cNvSpPr>
          <p:nvPr/>
        </p:nvSpPr>
        <p:spPr>
          <a:xfrm xmlns:a="http://schemas.openxmlformats.org/drawingml/2006/main">
            <a:off x="952500" y="4171950"/>
            <a:ext cx="10287000" cy="80010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19050">
            <a:solidFill>
              <a:srgbClr val="70A77C"/>
            </a:solidFill>
            <a:prstDash val="solid"/>
          </a:ln>
        </p:spPr>
      </p:sp>
      <p:sp>
        <p:nvSpPr>
          <p:cNvPr id="8" name="warm_7_cue_text">
            <a:extLst xmlns:a="http://schemas.openxmlformats.org/drawingml/2006/main">
              <a:ext uri="{FF2B5EF4-FFF2-40B4-BE49-F238E27FC236}">
                <a16:creationId xmlns:a16="http://schemas.microsoft.com/office/drawing/2014/main" id="{B29E9C75-B740-4E68-A226-D51CA0E03D7E}"/>
              </a:ext>
            </a:extLst>
          </p:cNvPr>
          <p:cNvSpPr>
            <a:spLocks xmlns:a="http://schemas.openxmlformats.org/drawingml/2006/main" noGrp="1"/>
          </p:cNvSpPr>
          <p:nvPr/>
        </p:nvSpPr>
        <p:spPr>
          <a:xfrm xmlns:a="http://schemas.openxmlformats.org/drawingml/2006/main">
            <a:off x="1143000" y="43624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1B7F3A"/>
                </a:solidFill>
                <a:latin typeface="Trebuchet MS"/>
                <a:ea typeface="Trebuchet MS"/>
                <a:cs typeface="Trebuchet MS"/>
              </a:defRPr>
            </a:pPr>
            <a:r>
              <a:rPr sz="2850" b="1">
                <a:solidFill>
                  <a:srgbClr val="1B7F3A"/>
                </a:solidFill>
                <a:latin typeface="Trebuchet MS"/>
                <a:ea typeface="Trebuchet MS"/>
                <a:cs typeface="Trebuchet MS"/>
              </a:rPr>
              <a:t>Changed word: evaporates</a:t>
            </a:r>
          </a:p>
        </p:txBody>
      </p:sp>
      <p:sp>
        <p:nvSpPr>
          <p:cNvPr id="9" name="warm_7_why_panel">
            <a:extLst xmlns:a="http://schemas.openxmlformats.org/drawingml/2006/main">
              <a:ext uri="{FF2B5EF4-FFF2-40B4-BE49-F238E27FC236}">
                <a16:creationId xmlns:a16="http://schemas.microsoft.com/office/drawing/2014/main" id="{8191E430-C374-4E85-AE24-B85843338770}"/>
              </a:ext>
            </a:extLst>
          </p:cNvPr>
          <p:cNvSpPr>
            <a:spLocks xmlns:a="http://schemas.openxmlformats.org/drawingml/2006/main" noGrp="1"/>
          </p:cNvSpPr>
          <p:nvPr/>
        </p:nvSpPr>
        <p:spPr>
          <a:xfrm xmlns:a="http://schemas.openxmlformats.org/drawingml/2006/main">
            <a:off x="952500" y="5181600"/>
            <a:ext cx="10287000" cy="9144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9050">
            <a:solidFill>
              <a:srgbClr val="CBD5E1"/>
            </a:solidFill>
            <a:prstDash val="solid"/>
          </a:ln>
        </p:spPr>
      </p:sp>
      <p:sp>
        <p:nvSpPr>
          <p:cNvPr id="10" name="warm_7_why_text">
            <a:extLst xmlns:a="http://schemas.openxmlformats.org/drawingml/2006/main">
              <a:ext uri="{FF2B5EF4-FFF2-40B4-BE49-F238E27FC236}">
                <a16:creationId xmlns:a16="http://schemas.microsoft.com/office/drawing/2014/main" id="{323A0384-4E26-4013-ADAE-E3BD9E70736B}"/>
              </a:ext>
            </a:extLst>
          </p:cNvPr>
          <p:cNvSpPr>
            <a:spLocks xmlns:a="http://schemas.openxmlformats.org/drawingml/2006/main" noGrp="1"/>
          </p:cNvSpPr>
          <p:nvPr/>
        </p:nvSpPr>
        <p:spPr>
          <a:xfrm xmlns:a="http://schemas.openxmlformats.org/drawingml/2006/main">
            <a:off x="1143000" y="53721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0">
                <a:solidFill>
                  <a:srgbClr val="111827"/>
                </a:solidFill>
                <a:latin typeface="Trebuchet MS"/>
                <a:ea typeface="Trebuchet MS"/>
                <a:cs typeface="Trebuchet MS"/>
              </a:defRPr>
            </a:pPr>
            <a:r>
              <a:rPr sz="2850" b="0">
                <a:solidFill>
                  <a:srgbClr val="111827"/>
                </a:solidFill>
                <a:latin typeface="Trebuchet MS"/>
                <a:ea typeface="Trebuchet MS"/>
                <a:cs typeface="Trebuchet MS"/>
              </a:rPr>
              <a:t>Evaporates names the change from liquid water to water vapour.</a:t>
            </a:r>
          </a:p>
        </p:txBody>
      </p:sp>
    </p:spTree>
    <p:extLst>
      <p:ext uri="{BB962C8B-B14F-4D97-AF65-F5344CB8AC3E}">
        <p14:creationId xmlns:p14="http://schemas.microsoft.com/office/powerpoint/2010/main" val="88119292"/>
      </p:ext>
    </p:extLst>
  </p:cSld>
</p:sld>
</file>

<file path=ppt/slides/slide23.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0" name="section_bar_23">
            <a:extLst xmlns:a="http://schemas.openxmlformats.org/drawingml/2006/main">
              <a:ext uri="{FF2B5EF4-FFF2-40B4-BE49-F238E27FC236}">
                <a16:creationId xmlns:a16="http://schemas.microsoft.com/office/drawing/2014/main" id="{6F2866B9-EF07-4665-A7E1-55BA1F8C8A43}"/>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D6A900"/>
          </a:solidFill>
          <a:ln xmlns:a="http://schemas.openxmlformats.org/drawingml/2006/main" w="0">
            <a:noFill/>
            <a:prstDash val="solid"/>
          </a:ln>
        </p:spPr>
      </p:sp>
      <p:sp>
        <p:nvSpPr>
          <p:cNvPr id="2" name="kicker_23">
            <a:extLst xmlns:a="http://schemas.openxmlformats.org/drawingml/2006/main">
              <a:ext uri="{FF2B5EF4-FFF2-40B4-BE49-F238E27FC236}">
                <a16:creationId xmlns:a16="http://schemas.microsoft.com/office/drawing/2014/main" id="{96BCD182-8437-44B1-9462-3952AE2677D8}"/>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D6A900"/>
                </a:solidFill>
                <a:latin typeface="Trebuchet MS"/>
                <a:ea typeface="Trebuchet MS"/>
                <a:cs typeface="Trebuchet MS"/>
              </a:defRPr>
            </a:pPr>
            <a:r>
              <a:rPr sz="1800" b="1">
                <a:solidFill>
                  <a:srgbClr val="D6A900"/>
                </a:solidFill>
                <a:latin typeface="Trebuchet MS"/>
                <a:ea typeface="Trebuchet MS"/>
                <a:cs typeface="Trebuchet MS"/>
              </a:rPr>
              <a:t>LITERACY WARM-UP 8 OF 10 • REMINDER</a:t>
            </a:r>
          </a:p>
        </p:txBody>
      </p:sp>
      <p:sp>
        <p:nvSpPr>
          <p:cNvPr id="3" name="title_23">
            <a:extLst xmlns:a="http://schemas.openxmlformats.org/drawingml/2006/main">
              <a:ext uri="{FF2B5EF4-FFF2-40B4-BE49-F238E27FC236}">
                <a16:creationId xmlns:a16="http://schemas.microsoft.com/office/drawing/2014/main" id="{D4B7CA7B-3DAA-4CF4-9A5C-116AC2B54069}"/>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Remember: a definition gives exact meaning</a:t>
            </a:r>
          </a:p>
        </p:txBody>
      </p:sp>
      <p:sp>
        <p:nvSpPr>
          <p:cNvPr id="4" name="page_23">
            <a:extLst xmlns:a="http://schemas.openxmlformats.org/drawingml/2006/main">
              <a:ext uri="{FF2B5EF4-FFF2-40B4-BE49-F238E27FC236}">
                <a16:creationId xmlns:a16="http://schemas.microsoft.com/office/drawing/2014/main" id="{9C577FA5-887F-4159-9743-6169C05C399C}"/>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23</a:t>
            </a:r>
          </a:p>
        </p:txBody>
      </p:sp>
      <p:sp>
        <p:nvSpPr>
          <p:cNvPr id="5" name="warm_8_rule_panel">
            <a:extLst xmlns:a="http://schemas.openxmlformats.org/drawingml/2006/main">
              <a:ext uri="{FF2B5EF4-FFF2-40B4-BE49-F238E27FC236}">
                <a16:creationId xmlns:a16="http://schemas.microsoft.com/office/drawing/2014/main" id="{B67C4ECA-DC7F-46D6-8EB9-35A5401DE915}"/>
              </a:ext>
            </a:extLst>
          </p:cNvPr>
          <p:cNvSpPr>
            <a:spLocks xmlns:a="http://schemas.openxmlformats.org/drawingml/2006/main" noGrp="1"/>
          </p:cNvSpPr>
          <p:nvPr/>
        </p:nvSpPr>
        <p:spPr>
          <a:xfrm xmlns:a="http://schemas.openxmlformats.org/drawingml/2006/main">
            <a:off x="571500" y="1257300"/>
            <a:ext cx="11049000" cy="2019300"/>
          </a:xfrm>
          <a:prstGeom xmlns:a="http://schemas.openxmlformats.org/drawingml/2006/main" prst="roundRect">
            <a:avLst>
              <a:gd name="adj" fmla="val 7547"/>
            </a:avLst>
          </a:prstGeom>
          <a:solidFill xmlns:a="http://schemas.openxmlformats.org/drawingml/2006/main">
            <a:srgbClr val="FFF3BF"/>
          </a:solidFill>
          <a:ln xmlns:a="http://schemas.openxmlformats.org/drawingml/2006/main" w="19050">
            <a:solidFill>
              <a:srgbClr val="D6A900"/>
            </a:solidFill>
            <a:prstDash val="solid"/>
          </a:ln>
        </p:spPr>
      </p:sp>
      <p:sp>
        <p:nvSpPr>
          <p:cNvPr id="6" name="warm_8_rule_text">
            <a:extLst xmlns:a="http://schemas.openxmlformats.org/drawingml/2006/main">
              <a:ext uri="{FF2B5EF4-FFF2-40B4-BE49-F238E27FC236}">
                <a16:creationId xmlns:a16="http://schemas.microsoft.com/office/drawing/2014/main" id="{069F5B36-245C-4862-9A76-299D8C43E635}"/>
              </a:ext>
            </a:extLst>
          </p:cNvPr>
          <p:cNvSpPr>
            <a:spLocks xmlns:a="http://schemas.openxmlformats.org/drawingml/2006/main" noGrp="1"/>
          </p:cNvSpPr>
          <p:nvPr/>
        </p:nvSpPr>
        <p:spPr>
          <a:xfrm xmlns:a="http://schemas.openxmlformats.org/drawingml/2006/main">
            <a:off x="895350" y="1581150"/>
            <a:ext cx="104013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600" b="1">
                <a:solidFill>
                  <a:srgbClr val="3B2F00"/>
                </a:solidFill>
                <a:latin typeface="Trebuchet MS"/>
                <a:ea typeface="Trebuchet MS"/>
                <a:cs typeface="Trebuchet MS"/>
              </a:defRPr>
            </a:pPr>
            <a:r>
              <a:rPr sz="3600" b="1">
                <a:solidFill>
                  <a:srgbClr val="3B2F00"/>
                </a:solidFill>
                <a:latin typeface="Trebuchet MS"/>
                <a:ea typeface="Trebuchet MS"/>
                <a:cs typeface="Trebuchet MS"/>
              </a:rPr>
              <a:t>A useful definition names the kind of thing and what makes it different.</a:t>
            </a:r>
          </a:p>
        </p:txBody>
      </p:sp>
      <p:sp>
        <p:nvSpPr>
          <p:cNvPr id="7" name="warm_8_example_panel">
            <a:extLst xmlns:a="http://schemas.openxmlformats.org/drawingml/2006/main">
              <a:ext uri="{FF2B5EF4-FFF2-40B4-BE49-F238E27FC236}">
                <a16:creationId xmlns:a16="http://schemas.microsoft.com/office/drawing/2014/main" id="{F873825E-09ED-4824-B165-3712F9DD1A8C}"/>
              </a:ext>
            </a:extLst>
          </p:cNvPr>
          <p:cNvSpPr>
            <a:spLocks xmlns:a="http://schemas.openxmlformats.org/drawingml/2006/main" noGrp="1"/>
          </p:cNvSpPr>
          <p:nvPr/>
        </p:nvSpPr>
        <p:spPr>
          <a:xfrm xmlns:a="http://schemas.openxmlformats.org/drawingml/2006/main">
            <a:off x="571500" y="3562350"/>
            <a:ext cx="11049000" cy="2114550"/>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19050">
            <a:solidFill>
              <a:srgbClr val="CBD5E1"/>
            </a:solidFill>
            <a:prstDash val="solid"/>
          </a:ln>
        </p:spPr>
      </p:sp>
      <p:sp>
        <p:nvSpPr>
          <p:cNvPr id="8" name="warm_8_example_text">
            <a:extLst xmlns:a="http://schemas.openxmlformats.org/drawingml/2006/main">
              <a:ext uri="{FF2B5EF4-FFF2-40B4-BE49-F238E27FC236}">
                <a16:creationId xmlns:a16="http://schemas.microsoft.com/office/drawing/2014/main" id="{98EBFBBD-08FA-4D08-8269-32FA99C9F18E}"/>
              </a:ext>
            </a:extLst>
          </p:cNvPr>
          <p:cNvSpPr>
            <a:spLocks xmlns:a="http://schemas.openxmlformats.org/drawingml/2006/main" noGrp="1"/>
          </p:cNvSpPr>
          <p:nvPr/>
        </p:nvSpPr>
        <p:spPr>
          <a:xfrm xmlns:a="http://schemas.openxmlformats.org/drawingml/2006/main">
            <a:off x="895350" y="3886200"/>
            <a:ext cx="104013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150" b="0">
                <a:solidFill>
                  <a:srgbClr val="111827"/>
                </a:solidFill>
                <a:latin typeface="Trebuchet MS"/>
                <a:ea typeface="Trebuchet MS"/>
                <a:cs typeface="Trebuchet MS"/>
              </a:defRPr>
            </a:pPr>
            <a:r>
              <a:rPr sz="3150" b="0">
                <a:solidFill>
                  <a:srgbClr val="111827"/>
                </a:solidFill>
                <a:latin typeface="Trebuchet MS"/>
                <a:ea typeface="Trebuchet MS"/>
                <a:cs typeface="Trebuchet MS"/>
              </a:rPr>
              <a:t>Example: estuary - a wide river mouth where fresh and salt water meet.</a:t>
            </a:r>
          </a:p>
        </p:txBody>
      </p:sp>
      <p:sp>
        <p:nvSpPr>
          <p:cNvPr id="9" name="warm_8_cue">
            <a:extLst xmlns:a="http://schemas.openxmlformats.org/drawingml/2006/main">
              <a:ext uri="{FF2B5EF4-FFF2-40B4-BE49-F238E27FC236}">
                <a16:creationId xmlns:a16="http://schemas.microsoft.com/office/drawing/2014/main" id="{9AD27140-C896-475E-9355-36993F9E81F1}"/>
              </a:ext>
            </a:extLst>
          </p:cNvPr>
          <p:cNvSpPr>
            <a:spLocks xmlns:a="http://schemas.openxmlformats.org/drawingml/2006/main" noGrp="1"/>
          </p:cNvSpPr>
          <p:nvPr/>
        </p:nvSpPr>
        <p:spPr>
          <a:xfrm xmlns:a="http://schemas.openxmlformats.org/drawingml/2006/main">
            <a:off x="781050" y="58102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475569"/>
                </a:solidFill>
                <a:latin typeface="Trebuchet MS"/>
                <a:ea typeface="Trebuchet MS"/>
                <a:cs typeface="Trebuchet MS"/>
              </a:defRPr>
            </a:pPr>
            <a:r>
              <a:rPr sz="2850" b="1">
                <a:solidFill>
                  <a:srgbClr val="475569"/>
                </a:solidFill>
                <a:latin typeface="Trebuchet MS"/>
                <a:ea typeface="Trebuchet MS"/>
                <a:cs typeface="Trebuchet MS"/>
              </a:rPr>
              <a:t>Use the reminder to solve the next slide.</a:t>
            </a:r>
          </a:p>
        </p:txBody>
      </p:sp>
    </p:spTree>
    <p:extLst>
      <p:ext uri="{BB962C8B-B14F-4D97-AF65-F5344CB8AC3E}">
        <p14:creationId xmlns:p14="http://schemas.microsoft.com/office/powerpoint/2010/main" val="1250220639"/>
      </p:ext>
    </p:extLst>
  </p:cSld>
</p:sld>
</file>

<file path=ppt/slides/slide24.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section_bar_24">
            <a:extLst xmlns:a="http://schemas.openxmlformats.org/drawingml/2006/main">
              <a:ext uri="{FF2B5EF4-FFF2-40B4-BE49-F238E27FC236}">
                <a16:creationId xmlns:a16="http://schemas.microsoft.com/office/drawing/2014/main" id="{2902B1E8-91BD-422A-9012-789B337C16A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24">
            <a:extLst xmlns:a="http://schemas.openxmlformats.org/drawingml/2006/main">
              <a:ext uri="{FF2B5EF4-FFF2-40B4-BE49-F238E27FC236}">
                <a16:creationId xmlns:a16="http://schemas.microsoft.com/office/drawing/2014/main" id="{4B06C1E5-61EE-4F6C-9431-C825F109DEB5}"/>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005A9C"/>
                </a:solidFill>
                <a:latin typeface="Trebuchet MS"/>
                <a:ea typeface="Trebuchet MS"/>
                <a:cs typeface="Trebuchet MS"/>
              </a:defRPr>
            </a:pPr>
            <a:r>
              <a:rPr sz="1800" b="1">
                <a:solidFill>
                  <a:srgbClr val="005A9C"/>
                </a:solidFill>
                <a:latin typeface="Trebuchet MS"/>
                <a:ea typeface="Trebuchet MS"/>
                <a:cs typeface="Trebuchet MS"/>
              </a:rPr>
              <a:t>LITERACY WARM-UP 8 OF 10 • QUESTION</a:t>
            </a:r>
          </a:p>
        </p:txBody>
      </p:sp>
      <p:sp>
        <p:nvSpPr>
          <p:cNvPr id="3" name="title_24">
            <a:extLst xmlns:a="http://schemas.openxmlformats.org/drawingml/2006/main">
              <a:ext uri="{FF2B5EF4-FFF2-40B4-BE49-F238E27FC236}">
                <a16:creationId xmlns:a16="http://schemas.microsoft.com/office/drawing/2014/main" id="{6F18340F-8D8C-4F31-AC38-A4AECC58C859}"/>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Choose the useful glossary definition</a:t>
            </a:r>
          </a:p>
        </p:txBody>
      </p:sp>
      <p:sp>
        <p:nvSpPr>
          <p:cNvPr id="4" name="page_24">
            <a:extLst xmlns:a="http://schemas.openxmlformats.org/drawingml/2006/main">
              <a:ext uri="{FF2B5EF4-FFF2-40B4-BE49-F238E27FC236}">
                <a16:creationId xmlns:a16="http://schemas.microsoft.com/office/drawing/2014/main" id="{7C19AFF8-74A4-44E8-83CB-9AC11B2C145E}"/>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24</a:t>
            </a:r>
          </a:p>
        </p:txBody>
      </p:sp>
      <p:sp>
        <p:nvSpPr>
          <p:cNvPr id="5" name="warm_8_question_panel">
            <a:extLst xmlns:a="http://schemas.openxmlformats.org/drawingml/2006/main">
              <a:ext uri="{FF2B5EF4-FFF2-40B4-BE49-F238E27FC236}">
                <a16:creationId xmlns:a16="http://schemas.microsoft.com/office/drawing/2014/main" id="{207C2EDF-9CCC-472A-9698-93E9F0BFD490}"/>
              </a:ext>
            </a:extLst>
          </p:cNvPr>
          <p:cNvSpPr>
            <a:spLocks xmlns:a="http://schemas.openxmlformats.org/drawingml/2006/main" noGrp="1"/>
          </p:cNvSpPr>
          <p:nvPr/>
        </p:nvSpPr>
        <p:spPr>
          <a:xfrm xmlns:a="http://schemas.openxmlformats.org/drawingml/2006/main">
            <a:off x="571500" y="1333500"/>
            <a:ext cx="11049000" cy="3162300"/>
          </a:xfrm>
          <a:prstGeom xmlns:a="http://schemas.openxmlformats.org/drawingml/2006/main" prst="roundRect">
            <a:avLst>
              <a:gd name="adj" fmla="val 4819"/>
            </a:avLst>
          </a:prstGeom>
          <a:solidFill xmlns:a="http://schemas.openxmlformats.org/drawingml/2006/main">
            <a:srgbClr val="EAF2F8"/>
          </a:solidFill>
          <a:ln xmlns:a="http://schemas.openxmlformats.org/drawingml/2006/main" w="19050">
            <a:solidFill>
              <a:srgbClr val="7AA7C7"/>
            </a:solidFill>
            <a:prstDash val="solid"/>
          </a:ln>
        </p:spPr>
      </p:sp>
      <p:sp>
        <p:nvSpPr>
          <p:cNvPr id="6" name="warm_8_question_text">
            <a:extLst xmlns:a="http://schemas.openxmlformats.org/drawingml/2006/main">
              <a:ext uri="{FF2B5EF4-FFF2-40B4-BE49-F238E27FC236}">
                <a16:creationId xmlns:a16="http://schemas.microsoft.com/office/drawing/2014/main" id="{5FCFEB38-4188-4B03-BD61-E48A960328E0}"/>
              </a:ext>
            </a:extLst>
          </p:cNvPr>
          <p:cNvSpPr>
            <a:spLocks xmlns:a="http://schemas.openxmlformats.org/drawingml/2006/main" noGrp="1"/>
          </p:cNvSpPr>
          <p:nvPr/>
        </p:nvSpPr>
        <p:spPr>
          <a:xfrm xmlns:a="http://schemas.openxmlformats.org/drawingml/2006/main">
            <a:off x="933450" y="1695450"/>
            <a:ext cx="103251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900" b="1">
                <a:solidFill>
                  <a:srgbClr val="103A5E"/>
                </a:solidFill>
                <a:latin typeface="Trebuchet MS"/>
                <a:ea typeface="Trebuchet MS"/>
                <a:cs typeface="Trebuchet MS"/>
              </a:defRPr>
            </a:pPr>
            <a:r>
              <a:rPr sz="3900" b="1">
                <a:solidFill>
                  <a:srgbClr val="103A5E"/>
                </a:solidFill>
                <a:latin typeface="Trebuchet MS"/>
                <a:ea typeface="Trebuchet MS"/>
                <a:cs typeface="Trebuchet MS"/>
              </a:rPr>
              <a:t>Which definition explains pasture?</a:t>
            </a:r>
          </a:p>
          <a:p xmlns:a="http://schemas.openxmlformats.org/drawingml/2006/main">
            <a:pPr algn="ctr">
              <a:lnSpc>
                <a:spcPct val="108000"/>
              </a:lnSpc>
              <a:buNone/>
              <a:defRPr sz="3900" b="1">
                <a:solidFill>
                  <a:srgbClr val="103A5E"/>
                </a:solidFill>
                <a:latin typeface="Trebuchet MS"/>
                <a:ea typeface="Trebuchet MS"/>
                <a:cs typeface="Trebuchet MS"/>
              </a:defRPr>
            </a:pPr>
            <a:r>
              <a:rPr sz="3900" b="1">
                <a:solidFill>
                  <a:srgbClr val="103A5E"/>
                </a:solidFill>
                <a:latin typeface="Trebuchet MS"/>
                <a:ea typeface="Trebuchet MS"/>
                <a:cs typeface="Trebuchet MS"/>
              </a:rPr>
              <a:t>A. some land</a:t>
            </a:r>
          </a:p>
          <a:p xmlns:a="http://schemas.openxmlformats.org/drawingml/2006/main">
            <a:pPr algn="ctr">
              <a:lnSpc>
                <a:spcPct val="108000"/>
              </a:lnSpc>
              <a:buNone/>
              <a:defRPr sz="3900" b="1">
                <a:solidFill>
                  <a:srgbClr val="103A5E"/>
                </a:solidFill>
                <a:latin typeface="Trebuchet MS"/>
                <a:ea typeface="Trebuchet MS"/>
                <a:cs typeface="Trebuchet MS"/>
              </a:defRPr>
            </a:pPr>
            <a:r>
              <a:rPr sz="3900" b="1">
                <a:solidFill>
                  <a:srgbClr val="103A5E"/>
                </a:solidFill>
                <a:latin typeface="Trebuchet MS"/>
                <a:ea typeface="Trebuchet MS"/>
                <a:cs typeface="Trebuchet MS"/>
              </a:rPr>
              <a:t>B. grassy land where farm animals graze</a:t>
            </a:r>
          </a:p>
        </p:txBody>
      </p:sp>
      <p:sp>
        <p:nvSpPr>
          <p:cNvPr id="7" name="warm_8_support_panel">
            <a:extLst xmlns:a="http://schemas.openxmlformats.org/drawingml/2006/main">
              <a:ext uri="{FF2B5EF4-FFF2-40B4-BE49-F238E27FC236}">
                <a16:creationId xmlns:a16="http://schemas.microsoft.com/office/drawing/2014/main" id="{F7B99447-72EF-494F-8252-CB37E326BC33}"/>
              </a:ext>
            </a:extLst>
          </p:cNvPr>
          <p:cNvSpPr>
            <a:spLocks xmlns:a="http://schemas.openxmlformats.org/drawingml/2006/main" noGrp="1"/>
          </p:cNvSpPr>
          <p:nvPr/>
        </p:nvSpPr>
        <p:spPr>
          <a:xfrm xmlns:a="http://schemas.openxmlformats.org/drawingml/2006/main">
            <a:off x="1143000" y="4762500"/>
            <a:ext cx="990600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19050">
            <a:solidFill>
              <a:srgbClr val="CBD5E1"/>
            </a:solidFill>
            <a:prstDash val="solid"/>
          </a:ln>
        </p:spPr>
      </p:sp>
      <p:sp>
        <p:nvSpPr>
          <p:cNvPr id="8" name="warm_8_support_text">
            <a:extLst xmlns:a="http://schemas.openxmlformats.org/drawingml/2006/main">
              <a:ext uri="{FF2B5EF4-FFF2-40B4-BE49-F238E27FC236}">
                <a16:creationId xmlns:a16="http://schemas.microsoft.com/office/drawing/2014/main" id="{AF6646E5-3225-4A6B-B556-F71413DAD5D2}"/>
              </a:ext>
            </a:extLst>
          </p:cNvPr>
          <p:cNvSpPr>
            <a:spLocks xmlns:a="http://schemas.openxmlformats.org/drawingml/2006/main" noGrp="1"/>
          </p:cNvSpPr>
          <p:nvPr/>
        </p:nvSpPr>
        <p:spPr>
          <a:xfrm xmlns:a="http://schemas.openxmlformats.org/drawingml/2006/main">
            <a:off x="1371600" y="4991100"/>
            <a:ext cx="944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000" b="0">
                <a:solidFill>
                  <a:srgbClr val="111827"/>
                </a:solidFill>
                <a:latin typeface="Trebuchet MS"/>
                <a:ea typeface="Trebuchet MS"/>
                <a:cs typeface="Trebuchet MS"/>
              </a:defRPr>
            </a:pPr>
            <a:r>
              <a:rPr sz="3000" b="0">
                <a:solidFill>
                  <a:srgbClr val="111827"/>
                </a:solidFill>
                <a:latin typeface="Trebuchet MS"/>
                <a:ea typeface="Trebuchet MS"/>
                <a:cs typeface="Trebuchet MS"/>
              </a:rPr>
              <a:t>Write A or B and explain why.</a:t>
            </a:r>
          </a:p>
        </p:txBody>
      </p:sp>
    </p:spTree>
    <p:extLst>
      <p:ext uri="{BB962C8B-B14F-4D97-AF65-F5344CB8AC3E}">
        <p14:creationId xmlns:p14="http://schemas.microsoft.com/office/powerpoint/2010/main" val="1028386020"/>
      </p:ext>
    </p:extLst>
  </p:cSld>
</p:sld>
</file>

<file path=ppt/slides/slide25.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25">
            <a:extLst xmlns:a="http://schemas.openxmlformats.org/drawingml/2006/main">
              <a:ext uri="{FF2B5EF4-FFF2-40B4-BE49-F238E27FC236}">
                <a16:creationId xmlns:a16="http://schemas.microsoft.com/office/drawing/2014/main" id="{56EECC5D-6F4A-4F55-A657-34C990EAACD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B7F3A"/>
          </a:solidFill>
          <a:ln xmlns:a="http://schemas.openxmlformats.org/drawingml/2006/main" w="0">
            <a:noFill/>
            <a:prstDash val="solid"/>
          </a:ln>
        </p:spPr>
      </p:sp>
      <p:sp>
        <p:nvSpPr>
          <p:cNvPr id="2" name="kicker_25">
            <a:extLst xmlns:a="http://schemas.openxmlformats.org/drawingml/2006/main">
              <a:ext uri="{FF2B5EF4-FFF2-40B4-BE49-F238E27FC236}">
                <a16:creationId xmlns:a16="http://schemas.microsoft.com/office/drawing/2014/main" id="{91D40A6E-6AEF-4BEA-9B7D-CFB60A604C78}"/>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1B7F3A"/>
                </a:solidFill>
                <a:latin typeface="Trebuchet MS"/>
                <a:ea typeface="Trebuchet MS"/>
                <a:cs typeface="Trebuchet MS"/>
              </a:defRPr>
            </a:pPr>
            <a:r>
              <a:rPr sz="1800" b="1">
                <a:solidFill>
                  <a:srgbClr val="1B7F3A"/>
                </a:solidFill>
                <a:latin typeface="Trebuchet MS"/>
                <a:ea typeface="Trebuchet MS"/>
                <a:cs typeface="Trebuchet MS"/>
              </a:rPr>
              <a:t>LITERACY WARM-UP 8 OF 10 • ANSWER</a:t>
            </a:r>
          </a:p>
        </p:txBody>
      </p:sp>
      <p:sp>
        <p:nvSpPr>
          <p:cNvPr id="3" name="title_25">
            <a:extLst xmlns:a="http://schemas.openxmlformats.org/drawingml/2006/main">
              <a:ext uri="{FF2B5EF4-FFF2-40B4-BE49-F238E27FC236}">
                <a16:creationId xmlns:a16="http://schemas.microsoft.com/office/drawing/2014/main" id="{75244320-2554-4FD8-802C-854F2869006A}"/>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B gives the exact meaning</a:t>
            </a:r>
          </a:p>
        </p:txBody>
      </p:sp>
      <p:sp>
        <p:nvSpPr>
          <p:cNvPr id="4" name="page_25">
            <a:extLst xmlns:a="http://schemas.openxmlformats.org/drawingml/2006/main">
              <a:ext uri="{FF2B5EF4-FFF2-40B4-BE49-F238E27FC236}">
                <a16:creationId xmlns:a16="http://schemas.microsoft.com/office/drawing/2014/main" id="{BFCDCAE9-375F-47F9-8D20-47CF6E459F5F}"/>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25</a:t>
            </a:r>
          </a:p>
        </p:txBody>
      </p:sp>
      <p:sp>
        <p:nvSpPr>
          <p:cNvPr id="5" name="warm_8_answer_panel">
            <a:extLst xmlns:a="http://schemas.openxmlformats.org/drawingml/2006/main">
              <a:ext uri="{FF2B5EF4-FFF2-40B4-BE49-F238E27FC236}">
                <a16:creationId xmlns:a16="http://schemas.microsoft.com/office/drawing/2014/main" id="{02676308-576B-41A8-8B84-CF462D963757}"/>
              </a:ext>
            </a:extLst>
          </p:cNvPr>
          <p:cNvSpPr>
            <a:spLocks xmlns:a="http://schemas.openxmlformats.org/drawingml/2006/main" noGrp="1"/>
          </p:cNvSpPr>
          <p:nvPr/>
        </p:nvSpPr>
        <p:spPr>
          <a:xfrm xmlns:a="http://schemas.openxmlformats.org/drawingml/2006/main">
            <a:off x="571500" y="1333500"/>
            <a:ext cx="11049000" cy="2571750"/>
          </a:xfrm>
          <a:prstGeom xmlns:a="http://schemas.openxmlformats.org/drawingml/2006/main" prst="roundRect">
            <a:avLst>
              <a:gd name="adj" fmla="val 5926"/>
            </a:avLst>
          </a:prstGeom>
          <a:solidFill xmlns:a="http://schemas.openxmlformats.org/drawingml/2006/main">
            <a:srgbClr val="EAF7EE"/>
          </a:solidFill>
          <a:ln xmlns:a="http://schemas.openxmlformats.org/drawingml/2006/main" w="19050">
            <a:solidFill>
              <a:srgbClr val="70A77C"/>
            </a:solidFill>
            <a:prstDash val="solid"/>
          </a:ln>
        </p:spPr>
      </p:sp>
      <p:sp>
        <p:nvSpPr>
          <p:cNvPr id="6" name="warm_8_answer_text">
            <a:extLst xmlns:a="http://schemas.openxmlformats.org/drawingml/2006/main">
              <a:ext uri="{FF2B5EF4-FFF2-40B4-BE49-F238E27FC236}">
                <a16:creationId xmlns:a16="http://schemas.microsoft.com/office/drawing/2014/main" id="{04175E43-7960-43B7-8B66-44E3CFB3D140}"/>
              </a:ext>
            </a:extLst>
          </p:cNvPr>
          <p:cNvSpPr>
            <a:spLocks xmlns:a="http://schemas.openxmlformats.org/drawingml/2006/main" noGrp="1"/>
          </p:cNvSpPr>
          <p:nvPr/>
        </p:nvSpPr>
        <p:spPr>
          <a:xfrm xmlns:a="http://schemas.openxmlformats.org/drawingml/2006/main">
            <a:off x="933450" y="1695450"/>
            <a:ext cx="103251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defRPr sz="4050" b="1">
                <a:solidFill>
                  <a:srgbClr val="111827"/>
                </a:solidFill>
                <a:latin typeface="Trebuchet MS"/>
                <a:ea typeface="Trebuchet MS"/>
                <a:cs typeface="Trebuchet MS"/>
              </a:defRPr>
            </a:pPr>
            <a:r>
              <a:rPr>
                <a:latin typeface="Trebuchet MS"/>
                <a:ea typeface="Trebuchet MS"/>
                <a:cs typeface="Trebuchet MS"/>
              </a:rPr>
              <a:t>pasture - </a:t>
            </a:r>
            <a:r>
              <a:rPr sz="4350" b="1">
                <a:solidFill>
                  <a:srgbClr val="1B7F3A"/>
                </a:solidFill>
                <a:latin typeface="Trebuchet MS"/>
                <a:ea typeface="Trebuchet MS"/>
                <a:cs typeface="Trebuchet MS"/>
              </a:rPr>
              <a:t>grassy land where farm animals graze</a:t>
            </a:r>
          </a:p>
        </p:txBody>
      </p:sp>
      <p:sp>
        <p:nvSpPr>
          <p:cNvPr id="7" name="warm_8_cue_panel">
            <a:extLst xmlns:a="http://schemas.openxmlformats.org/drawingml/2006/main">
              <a:ext uri="{FF2B5EF4-FFF2-40B4-BE49-F238E27FC236}">
                <a16:creationId xmlns:a16="http://schemas.microsoft.com/office/drawing/2014/main" id="{59B8302A-182D-4C79-853F-BA3EB00B1603}"/>
              </a:ext>
            </a:extLst>
          </p:cNvPr>
          <p:cNvSpPr>
            <a:spLocks xmlns:a="http://schemas.openxmlformats.org/drawingml/2006/main" noGrp="1"/>
          </p:cNvSpPr>
          <p:nvPr/>
        </p:nvSpPr>
        <p:spPr>
          <a:xfrm xmlns:a="http://schemas.openxmlformats.org/drawingml/2006/main">
            <a:off x="952500" y="4171950"/>
            <a:ext cx="10287000" cy="80010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19050">
            <a:solidFill>
              <a:srgbClr val="70A77C"/>
            </a:solidFill>
            <a:prstDash val="solid"/>
          </a:ln>
        </p:spPr>
      </p:sp>
      <p:sp>
        <p:nvSpPr>
          <p:cNvPr id="8" name="warm_8_cue_text">
            <a:extLst xmlns:a="http://schemas.openxmlformats.org/drawingml/2006/main">
              <a:ext uri="{FF2B5EF4-FFF2-40B4-BE49-F238E27FC236}">
                <a16:creationId xmlns:a16="http://schemas.microsoft.com/office/drawing/2014/main" id="{6F453CFF-1B28-4F6D-88A2-6C2B332177EE}"/>
              </a:ext>
            </a:extLst>
          </p:cNvPr>
          <p:cNvSpPr>
            <a:spLocks xmlns:a="http://schemas.openxmlformats.org/drawingml/2006/main" noGrp="1"/>
          </p:cNvSpPr>
          <p:nvPr/>
        </p:nvSpPr>
        <p:spPr>
          <a:xfrm xmlns:a="http://schemas.openxmlformats.org/drawingml/2006/main">
            <a:off x="1143000" y="43624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1B7F3A"/>
                </a:solidFill>
                <a:latin typeface="Trebuchet MS"/>
                <a:ea typeface="Trebuchet MS"/>
                <a:cs typeface="Trebuchet MS"/>
              </a:defRPr>
            </a:pPr>
            <a:r>
              <a:rPr sz="2850" b="1">
                <a:solidFill>
                  <a:srgbClr val="1B7F3A"/>
                </a:solidFill>
                <a:latin typeface="Trebuchet MS"/>
                <a:ea typeface="Trebuchet MS"/>
                <a:cs typeface="Trebuchet MS"/>
              </a:rPr>
              <a:t>Definition: kind + distinguishing detail</a:t>
            </a:r>
          </a:p>
        </p:txBody>
      </p:sp>
      <p:sp>
        <p:nvSpPr>
          <p:cNvPr id="9" name="warm_8_why_panel">
            <a:extLst xmlns:a="http://schemas.openxmlformats.org/drawingml/2006/main">
              <a:ext uri="{FF2B5EF4-FFF2-40B4-BE49-F238E27FC236}">
                <a16:creationId xmlns:a16="http://schemas.microsoft.com/office/drawing/2014/main" id="{509F57E5-9499-4AFE-87D9-E97F530E7D5F}"/>
              </a:ext>
            </a:extLst>
          </p:cNvPr>
          <p:cNvSpPr>
            <a:spLocks xmlns:a="http://schemas.openxmlformats.org/drawingml/2006/main" noGrp="1"/>
          </p:cNvSpPr>
          <p:nvPr/>
        </p:nvSpPr>
        <p:spPr>
          <a:xfrm xmlns:a="http://schemas.openxmlformats.org/drawingml/2006/main">
            <a:off x="952500" y="5181600"/>
            <a:ext cx="10287000" cy="9144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9050">
            <a:solidFill>
              <a:srgbClr val="CBD5E1"/>
            </a:solidFill>
            <a:prstDash val="solid"/>
          </a:ln>
        </p:spPr>
      </p:sp>
      <p:sp>
        <p:nvSpPr>
          <p:cNvPr id="10" name="warm_8_why_text">
            <a:extLst xmlns:a="http://schemas.openxmlformats.org/drawingml/2006/main">
              <a:ext uri="{FF2B5EF4-FFF2-40B4-BE49-F238E27FC236}">
                <a16:creationId xmlns:a16="http://schemas.microsoft.com/office/drawing/2014/main" id="{12C72601-ECAF-4AD6-AEF2-65668AEAAAD1}"/>
              </a:ext>
            </a:extLst>
          </p:cNvPr>
          <p:cNvSpPr>
            <a:spLocks xmlns:a="http://schemas.openxmlformats.org/drawingml/2006/main" noGrp="1"/>
          </p:cNvSpPr>
          <p:nvPr/>
        </p:nvSpPr>
        <p:spPr>
          <a:xfrm xmlns:a="http://schemas.openxmlformats.org/drawingml/2006/main">
            <a:off x="1143000" y="53721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0">
                <a:solidFill>
                  <a:srgbClr val="111827"/>
                </a:solidFill>
                <a:latin typeface="Trebuchet MS"/>
                <a:ea typeface="Trebuchet MS"/>
                <a:cs typeface="Trebuchet MS"/>
              </a:defRPr>
            </a:pPr>
            <a:r>
              <a:rPr sz="2850" b="0">
                <a:solidFill>
                  <a:srgbClr val="111827"/>
                </a:solidFill>
                <a:latin typeface="Trebuchet MS"/>
                <a:ea typeface="Trebuchet MS"/>
                <a:cs typeface="Trebuchet MS"/>
              </a:rPr>
              <a:t>It names what pasture is and explains how it is used.</a:t>
            </a:r>
          </a:p>
        </p:txBody>
      </p:sp>
    </p:spTree>
    <p:extLst>
      <p:ext uri="{BB962C8B-B14F-4D97-AF65-F5344CB8AC3E}">
        <p14:creationId xmlns:p14="http://schemas.microsoft.com/office/powerpoint/2010/main" val="871742600"/>
      </p:ext>
    </p:extLst>
  </p:cSld>
</p:sld>
</file>

<file path=ppt/slides/slide26.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0" name="section_bar_26">
            <a:extLst xmlns:a="http://schemas.openxmlformats.org/drawingml/2006/main">
              <a:ext uri="{FF2B5EF4-FFF2-40B4-BE49-F238E27FC236}">
                <a16:creationId xmlns:a16="http://schemas.microsoft.com/office/drawing/2014/main" id="{2DDBB32E-F817-4965-997F-9EE0A56CCC2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D6A900"/>
          </a:solidFill>
          <a:ln xmlns:a="http://schemas.openxmlformats.org/drawingml/2006/main" w="0">
            <a:noFill/>
            <a:prstDash val="solid"/>
          </a:ln>
        </p:spPr>
      </p:sp>
      <p:sp>
        <p:nvSpPr>
          <p:cNvPr id="2" name="kicker_26">
            <a:extLst xmlns:a="http://schemas.openxmlformats.org/drawingml/2006/main">
              <a:ext uri="{FF2B5EF4-FFF2-40B4-BE49-F238E27FC236}">
                <a16:creationId xmlns:a16="http://schemas.microsoft.com/office/drawing/2014/main" id="{8C15D19D-98CD-4FD0-8E9E-11E9B4D64A4E}"/>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D6A900"/>
                </a:solidFill>
                <a:latin typeface="Trebuchet MS"/>
                <a:ea typeface="Trebuchet MS"/>
                <a:cs typeface="Trebuchet MS"/>
              </a:defRPr>
            </a:pPr>
            <a:r>
              <a:rPr sz="1800" b="1">
                <a:solidFill>
                  <a:srgbClr val="D6A900"/>
                </a:solidFill>
                <a:latin typeface="Trebuchet MS"/>
                <a:ea typeface="Trebuchet MS"/>
                <a:cs typeface="Trebuchet MS"/>
              </a:rPr>
              <a:t>LITERACY WARM-UP 9 OF 10 • REMINDER</a:t>
            </a:r>
          </a:p>
        </p:txBody>
      </p:sp>
      <p:sp>
        <p:nvSpPr>
          <p:cNvPr id="3" name="title_26">
            <a:extLst xmlns:a="http://schemas.openxmlformats.org/drawingml/2006/main">
              <a:ext uri="{FF2B5EF4-FFF2-40B4-BE49-F238E27FC236}">
                <a16:creationId xmlns:a16="http://schemas.microsoft.com/office/drawing/2014/main" id="{3BF4F1A4-1437-44DA-908C-5C1A58D12E49}"/>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Remember: a topic sentence makes a promise</a:t>
            </a:r>
          </a:p>
        </p:txBody>
      </p:sp>
      <p:sp>
        <p:nvSpPr>
          <p:cNvPr id="4" name="page_26">
            <a:extLst xmlns:a="http://schemas.openxmlformats.org/drawingml/2006/main">
              <a:ext uri="{FF2B5EF4-FFF2-40B4-BE49-F238E27FC236}">
                <a16:creationId xmlns:a16="http://schemas.microsoft.com/office/drawing/2014/main" id="{3BC2351B-F9FA-4695-8038-7813D4215CAF}"/>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26</a:t>
            </a:r>
          </a:p>
        </p:txBody>
      </p:sp>
      <p:sp>
        <p:nvSpPr>
          <p:cNvPr id="5" name="warm_9_rule_panel">
            <a:extLst xmlns:a="http://schemas.openxmlformats.org/drawingml/2006/main">
              <a:ext uri="{FF2B5EF4-FFF2-40B4-BE49-F238E27FC236}">
                <a16:creationId xmlns:a16="http://schemas.microsoft.com/office/drawing/2014/main" id="{40A8D459-82FE-48D5-B0D9-9B27A52C4A97}"/>
              </a:ext>
            </a:extLst>
          </p:cNvPr>
          <p:cNvSpPr>
            <a:spLocks xmlns:a="http://schemas.openxmlformats.org/drawingml/2006/main" noGrp="1"/>
          </p:cNvSpPr>
          <p:nvPr/>
        </p:nvSpPr>
        <p:spPr>
          <a:xfrm xmlns:a="http://schemas.openxmlformats.org/drawingml/2006/main">
            <a:off x="571500" y="1257300"/>
            <a:ext cx="11049000" cy="2019300"/>
          </a:xfrm>
          <a:prstGeom xmlns:a="http://schemas.openxmlformats.org/drawingml/2006/main" prst="roundRect">
            <a:avLst>
              <a:gd name="adj" fmla="val 7547"/>
            </a:avLst>
          </a:prstGeom>
          <a:solidFill xmlns:a="http://schemas.openxmlformats.org/drawingml/2006/main">
            <a:srgbClr val="FFF3BF"/>
          </a:solidFill>
          <a:ln xmlns:a="http://schemas.openxmlformats.org/drawingml/2006/main" w="19050">
            <a:solidFill>
              <a:srgbClr val="D6A900"/>
            </a:solidFill>
            <a:prstDash val="solid"/>
          </a:ln>
        </p:spPr>
      </p:sp>
      <p:sp>
        <p:nvSpPr>
          <p:cNvPr id="6" name="warm_9_rule_text">
            <a:extLst xmlns:a="http://schemas.openxmlformats.org/drawingml/2006/main">
              <a:ext uri="{FF2B5EF4-FFF2-40B4-BE49-F238E27FC236}">
                <a16:creationId xmlns:a16="http://schemas.microsoft.com/office/drawing/2014/main" id="{0CA588F7-A7B9-43B8-8D47-AB22A2B21912}"/>
              </a:ext>
            </a:extLst>
          </p:cNvPr>
          <p:cNvSpPr>
            <a:spLocks xmlns:a="http://schemas.openxmlformats.org/drawingml/2006/main" noGrp="1"/>
          </p:cNvSpPr>
          <p:nvPr/>
        </p:nvSpPr>
        <p:spPr>
          <a:xfrm xmlns:a="http://schemas.openxmlformats.org/drawingml/2006/main">
            <a:off x="895350" y="1581150"/>
            <a:ext cx="104013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600" b="1">
                <a:solidFill>
                  <a:srgbClr val="3B2F00"/>
                </a:solidFill>
                <a:latin typeface="Trebuchet MS"/>
                <a:ea typeface="Trebuchet MS"/>
                <a:cs typeface="Trebuchet MS"/>
              </a:defRPr>
            </a:pPr>
            <a:r>
              <a:rPr sz="3600" b="1">
                <a:solidFill>
                  <a:srgbClr val="3B2F00"/>
                </a:solidFill>
                <a:latin typeface="Trebuchet MS"/>
                <a:ea typeface="Trebuchet MS"/>
                <a:cs typeface="Trebuchet MS"/>
              </a:rPr>
              <a:t>A strong topic sentence names the subject and the paragraph's clear focus.</a:t>
            </a:r>
          </a:p>
        </p:txBody>
      </p:sp>
      <p:sp>
        <p:nvSpPr>
          <p:cNvPr id="7" name="warm_9_example_panel">
            <a:extLst xmlns:a="http://schemas.openxmlformats.org/drawingml/2006/main">
              <a:ext uri="{FF2B5EF4-FFF2-40B4-BE49-F238E27FC236}">
                <a16:creationId xmlns:a16="http://schemas.microsoft.com/office/drawing/2014/main" id="{67636444-C68D-437E-B088-444B7A51EB1E}"/>
              </a:ext>
            </a:extLst>
          </p:cNvPr>
          <p:cNvSpPr>
            <a:spLocks xmlns:a="http://schemas.openxmlformats.org/drawingml/2006/main" noGrp="1"/>
          </p:cNvSpPr>
          <p:nvPr/>
        </p:nvSpPr>
        <p:spPr>
          <a:xfrm xmlns:a="http://schemas.openxmlformats.org/drawingml/2006/main">
            <a:off x="571500" y="3562350"/>
            <a:ext cx="11049000" cy="2114550"/>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19050">
            <a:solidFill>
              <a:srgbClr val="CBD5E1"/>
            </a:solidFill>
            <a:prstDash val="solid"/>
          </a:ln>
        </p:spPr>
      </p:sp>
      <p:sp>
        <p:nvSpPr>
          <p:cNvPr id="8" name="warm_9_example_text">
            <a:extLst xmlns:a="http://schemas.openxmlformats.org/drawingml/2006/main">
              <a:ext uri="{FF2B5EF4-FFF2-40B4-BE49-F238E27FC236}">
                <a16:creationId xmlns:a16="http://schemas.microsoft.com/office/drawing/2014/main" id="{63F1FC15-25DD-4052-BC16-A06076CE07F2}"/>
              </a:ext>
            </a:extLst>
          </p:cNvPr>
          <p:cNvSpPr>
            <a:spLocks xmlns:a="http://schemas.openxmlformats.org/drawingml/2006/main" noGrp="1"/>
          </p:cNvSpPr>
          <p:nvPr/>
        </p:nvSpPr>
        <p:spPr>
          <a:xfrm xmlns:a="http://schemas.openxmlformats.org/drawingml/2006/main">
            <a:off x="895350" y="3886200"/>
            <a:ext cx="104013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150" b="0">
                <a:solidFill>
                  <a:srgbClr val="111827"/>
                </a:solidFill>
                <a:latin typeface="Trebuchet MS"/>
                <a:ea typeface="Trebuchet MS"/>
                <a:cs typeface="Trebuchet MS"/>
              </a:defRPr>
            </a:pPr>
            <a:r>
              <a:rPr sz="3150" b="0">
                <a:solidFill>
                  <a:srgbClr val="111827"/>
                </a:solidFill>
                <a:latin typeface="Trebuchet MS"/>
                <a:ea typeface="Trebuchet MS"/>
                <a:cs typeface="Trebuchet MS"/>
              </a:rPr>
              <a:t>Example: Desert plants store water through specialised structures.</a:t>
            </a:r>
          </a:p>
        </p:txBody>
      </p:sp>
      <p:sp>
        <p:nvSpPr>
          <p:cNvPr id="9" name="warm_9_cue">
            <a:extLst xmlns:a="http://schemas.openxmlformats.org/drawingml/2006/main">
              <a:ext uri="{FF2B5EF4-FFF2-40B4-BE49-F238E27FC236}">
                <a16:creationId xmlns:a16="http://schemas.microsoft.com/office/drawing/2014/main" id="{E8F7C381-9EE4-4FE6-888E-FE77B408923E}"/>
              </a:ext>
            </a:extLst>
          </p:cNvPr>
          <p:cNvSpPr>
            <a:spLocks xmlns:a="http://schemas.openxmlformats.org/drawingml/2006/main" noGrp="1"/>
          </p:cNvSpPr>
          <p:nvPr/>
        </p:nvSpPr>
        <p:spPr>
          <a:xfrm xmlns:a="http://schemas.openxmlformats.org/drawingml/2006/main">
            <a:off x="781050" y="58102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475569"/>
                </a:solidFill>
                <a:latin typeface="Trebuchet MS"/>
                <a:ea typeface="Trebuchet MS"/>
                <a:cs typeface="Trebuchet MS"/>
              </a:defRPr>
            </a:pPr>
            <a:r>
              <a:rPr sz="2850" b="1">
                <a:solidFill>
                  <a:srgbClr val="475569"/>
                </a:solidFill>
                <a:latin typeface="Trebuchet MS"/>
                <a:ea typeface="Trebuchet MS"/>
                <a:cs typeface="Trebuchet MS"/>
              </a:rPr>
              <a:t>Use the reminder to solve the next slide.</a:t>
            </a:r>
          </a:p>
        </p:txBody>
      </p:sp>
    </p:spTree>
    <p:extLst>
      <p:ext uri="{BB962C8B-B14F-4D97-AF65-F5344CB8AC3E}">
        <p14:creationId xmlns:p14="http://schemas.microsoft.com/office/powerpoint/2010/main" val="951556203"/>
      </p:ext>
    </p:extLst>
  </p:cSld>
</p:sld>
</file>

<file path=ppt/slides/slide27.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section_bar_27">
            <a:extLst xmlns:a="http://schemas.openxmlformats.org/drawingml/2006/main">
              <a:ext uri="{FF2B5EF4-FFF2-40B4-BE49-F238E27FC236}">
                <a16:creationId xmlns:a16="http://schemas.microsoft.com/office/drawing/2014/main" id="{5272E47B-F203-4FA5-BCBC-2C9664483B6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27">
            <a:extLst xmlns:a="http://schemas.openxmlformats.org/drawingml/2006/main">
              <a:ext uri="{FF2B5EF4-FFF2-40B4-BE49-F238E27FC236}">
                <a16:creationId xmlns:a16="http://schemas.microsoft.com/office/drawing/2014/main" id="{5006EB89-8E7D-4D22-B66C-8ADEEE7B26E3}"/>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005A9C"/>
                </a:solidFill>
                <a:latin typeface="Trebuchet MS"/>
                <a:ea typeface="Trebuchet MS"/>
                <a:cs typeface="Trebuchet MS"/>
              </a:defRPr>
            </a:pPr>
            <a:r>
              <a:rPr sz="1800" b="1">
                <a:solidFill>
                  <a:srgbClr val="005A9C"/>
                </a:solidFill>
                <a:latin typeface="Trebuchet MS"/>
                <a:ea typeface="Trebuchet MS"/>
                <a:cs typeface="Trebuchet MS"/>
              </a:rPr>
              <a:t>LITERACY WARM-UP 9 OF 10 • QUESTION</a:t>
            </a:r>
          </a:p>
        </p:txBody>
      </p:sp>
      <p:sp>
        <p:nvSpPr>
          <p:cNvPr id="3" name="title_27">
            <a:extLst xmlns:a="http://schemas.openxmlformats.org/drawingml/2006/main">
              <a:ext uri="{FF2B5EF4-FFF2-40B4-BE49-F238E27FC236}">
                <a16:creationId xmlns:a16="http://schemas.microsoft.com/office/drawing/2014/main" id="{5D110651-6F57-4BAC-B827-6ACAC9F0D1EA}"/>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Choose the stronger topic sentence</a:t>
            </a:r>
          </a:p>
        </p:txBody>
      </p:sp>
      <p:sp>
        <p:nvSpPr>
          <p:cNvPr id="4" name="page_27">
            <a:extLst xmlns:a="http://schemas.openxmlformats.org/drawingml/2006/main">
              <a:ext uri="{FF2B5EF4-FFF2-40B4-BE49-F238E27FC236}">
                <a16:creationId xmlns:a16="http://schemas.microsoft.com/office/drawing/2014/main" id="{D6394DBA-35AD-49CA-B762-CB90F81B8762}"/>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27</a:t>
            </a:r>
          </a:p>
        </p:txBody>
      </p:sp>
      <p:sp>
        <p:nvSpPr>
          <p:cNvPr id="5" name="warm_9_question_panel">
            <a:extLst xmlns:a="http://schemas.openxmlformats.org/drawingml/2006/main">
              <a:ext uri="{FF2B5EF4-FFF2-40B4-BE49-F238E27FC236}">
                <a16:creationId xmlns:a16="http://schemas.microsoft.com/office/drawing/2014/main" id="{B0EAA73B-A5EF-44C5-9CAC-92980F89BE47}"/>
              </a:ext>
            </a:extLst>
          </p:cNvPr>
          <p:cNvSpPr>
            <a:spLocks xmlns:a="http://schemas.openxmlformats.org/drawingml/2006/main" noGrp="1"/>
          </p:cNvSpPr>
          <p:nvPr/>
        </p:nvSpPr>
        <p:spPr>
          <a:xfrm xmlns:a="http://schemas.openxmlformats.org/drawingml/2006/main">
            <a:off x="571500" y="1333500"/>
            <a:ext cx="11049000" cy="3162300"/>
          </a:xfrm>
          <a:prstGeom xmlns:a="http://schemas.openxmlformats.org/drawingml/2006/main" prst="roundRect">
            <a:avLst>
              <a:gd name="adj" fmla="val 4819"/>
            </a:avLst>
          </a:prstGeom>
          <a:solidFill xmlns:a="http://schemas.openxmlformats.org/drawingml/2006/main">
            <a:srgbClr val="EAF2F8"/>
          </a:solidFill>
          <a:ln xmlns:a="http://schemas.openxmlformats.org/drawingml/2006/main" w="19050">
            <a:solidFill>
              <a:srgbClr val="7AA7C7"/>
            </a:solidFill>
            <a:prstDash val="solid"/>
          </a:ln>
        </p:spPr>
      </p:sp>
      <p:sp>
        <p:nvSpPr>
          <p:cNvPr id="6" name="warm_9_question_text">
            <a:extLst xmlns:a="http://schemas.openxmlformats.org/drawingml/2006/main">
              <a:ext uri="{FF2B5EF4-FFF2-40B4-BE49-F238E27FC236}">
                <a16:creationId xmlns:a16="http://schemas.microsoft.com/office/drawing/2014/main" id="{0354A8B2-54E2-47E4-A52D-4A012080BFFA}"/>
              </a:ext>
            </a:extLst>
          </p:cNvPr>
          <p:cNvSpPr>
            <a:spLocks xmlns:a="http://schemas.openxmlformats.org/drawingml/2006/main" noGrp="1"/>
          </p:cNvSpPr>
          <p:nvPr/>
        </p:nvSpPr>
        <p:spPr>
          <a:xfrm xmlns:a="http://schemas.openxmlformats.org/drawingml/2006/main">
            <a:off x="933450" y="1695450"/>
            <a:ext cx="103251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900" b="1">
                <a:solidFill>
                  <a:srgbClr val="103A5E"/>
                </a:solidFill>
                <a:latin typeface="Trebuchet MS"/>
                <a:ea typeface="Trebuchet MS"/>
                <a:cs typeface="Trebuchet MS"/>
              </a:defRPr>
            </a:pPr>
            <a:r>
              <a:rPr sz="3900" b="1">
                <a:solidFill>
                  <a:srgbClr val="103A5E"/>
                </a:solidFill>
                <a:latin typeface="Trebuchet MS"/>
                <a:ea typeface="Trebuchet MS"/>
                <a:cs typeface="Trebuchet MS"/>
              </a:rPr>
              <a:t>A. Uruguay is interesting.</a:t>
            </a:r>
          </a:p>
          <a:p xmlns:a="http://schemas.openxmlformats.org/drawingml/2006/main">
            <a:pPr algn="ctr">
              <a:lnSpc>
                <a:spcPct val="108000"/>
              </a:lnSpc>
              <a:buNone/>
              <a:defRPr sz="3900" b="1">
                <a:solidFill>
                  <a:srgbClr val="103A5E"/>
                </a:solidFill>
                <a:latin typeface="Trebuchet MS"/>
                <a:ea typeface="Trebuchet MS"/>
                <a:cs typeface="Trebuchet MS"/>
              </a:defRPr>
            </a:pPr>
            <a:r>
              <a:rPr sz="3900" b="1">
                <a:solidFill>
                  <a:srgbClr val="103A5E"/>
                </a:solidFill>
                <a:latin typeface="Trebuchet MS"/>
                <a:ea typeface="Trebuchet MS"/>
                <a:cs typeface="Trebuchet MS"/>
              </a:rPr>
              <a:t>B. Uruguay's grasslands support farming and shape where people work.</a:t>
            </a:r>
          </a:p>
        </p:txBody>
      </p:sp>
      <p:sp>
        <p:nvSpPr>
          <p:cNvPr id="7" name="warm_9_support_panel">
            <a:extLst xmlns:a="http://schemas.openxmlformats.org/drawingml/2006/main">
              <a:ext uri="{FF2B5EF4-FFF2-40B4-BE49-F238E27FC236}">
                <a16:creationId xmlns:a16="http://schemas.microsoft.com/office/drawing/2014/main" id="{94915D63-58DF-4F8F-8F2E-2136D40D0966}"/>
              </a:ext>
            </a:extLst>
          </p:cNvPr>
          <p:cNvSpPr>
            <a:spLocks xmlns:a="http://schemas.openxmlformats.org/drawingml/2006/main" noGrp="1"/>
          </p:cNvSpPr>
          <p:nvPr/>
        </p:nvSpPr>
        <p:spPr>
          <a:xfrm xmlns:a="http://schemas.openxmlformats.org/drawingml/2006/main">
            <a:off x="1143000" y="4762500"/>
            <a:ext cx="990600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19050">
            <a:solidFill>
              <a:srgbClr val="CBD5E1"/>
            </a:solidFill>
            <a:prstDash val="solid"/>
          </a:ln>
        </p:spPr>
      </p:sp>
      <p:sp>
        <p:nvSpPr>
          <p:cNvPr id="8" name="warm_9_support_text">
            <a:extLst xmlns:a="http://schemas.openxmlformats.org/drawingml/2006/main">
              <a:ext uri="{FF2B5EF4-FFF2-40B4-BE49-F238E27FC236}">
                <a16:creationId xmlns:a16="http://schemas.microsoft.com/office/drawing/2014/main" id="{EF560101-4904-4553-8101-D6C845FACDE4}"/>
              </a:ext>
            </a:extLst>
          </p:cNvPr>
          <p:cNvSpPr>
            <a:spLocks xmlns:a="http://schemas.openxmlformats.org/drawingml/2006/main" noGrp="1"/>
          </p:cNvSpPr>
          <p:nvPr/>
        </p:nvSpPr>
        <p:spPr>
          <a:xfrm xmlns:a="http://schemas.openxmlformats.org/drawingml/2006/main">
            <a:off x="1371600" y="4991100"/>
            <a:ext cx="944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000" b="0">
                <a:solidFill>
                  <a:srgbClr val="111827"/>
                </a:solidFill>
                <a:latin typeface="Trebuchet MS"/>
                <a:ea typeface="Trebuchet MS"/>
                <a:cs typeface="Trebuchet MS"/>
              </a:defRPr>
            </a:pPr>
            <a:r>
              <a:rPr sz="3000" b="0">
                <a:solidFill>
                  <a:srgbClr val="111827"/>
                </a:solidFill>
                <a:latin typeface="Trebuchet MS"/>
                <a:ea typeface="Trebuchet MS"/>
                <a:cs typeface="Trebuchet MS"/>
              </a:rPr>
              <a:t>Write A or B and name what the paragraph could develop.</a:t>
            </a:r>
          </a:p>
        </p:txBody>
      </p:sp>
    </p:spTree>
    <p:extLst>
      <p:ext uri="{BB962C8B-B14F-4D97-AF65-F5344CB8AC3E}">
        <p14:creationId xmlns:p14="http://schemas.microsoft.com/office/powerpoint/2010/main" val="416644646"/>
      </p:ext>
    </p:extLst>
  </p:cSld>
</p:sld>
</file>

<file path=ppt/slides/slide28.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28">
            <a:extLst xmlns:a="http://schemas.openxmlformats.org/drawingml/2006/main">
              <a:ext uri="{FF2B5EF4-FFF2-40B4-BE49-F238E27FC236}">
                <a16:creationId xmlns:a16="http://schemas.microsoft.com/office/drawing/2014/main" id="{B0A89E85-D241-4AFE-A119-0FF65DC78CC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B7F3A"/>
          </a:solidFill>
          <a:ln xmlns:a="http://schemas.openxmlformats.org/drawingml/2006/main" w="0">
            <a:noFill/>
            <a:prstDash val="solid"/>
          </a:ln>
        </p:spPr>
      </p:sp>
      <p:sp>
        <p:nvSpPr>
          <p:cNvPr id="2" name="kicker_28">
            <a:extLst xmlns:a="http://schemas.openxmlformats.org/drawingml/2006/main">
              <a:ext uri="{FF2B5EF4-FFF2-40B4-BE49-F238E27FC236}">
                <a16:creationId xmlns:a16="http://schemas.microsoft.com/office/drawing/2014/main" id="{B74D041B-B946-4A6A-B813-CE6ED02BEE51}"/>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1B7F3A"/>
                </a:solidFill>
                <a:latin typeface="Trebuchet MS"/>
                <a:ea typeface="Trebuchet MS"/>
                <a:cs typeface="Trebuchet MS"/>
              </a:defRPr>
            </a:pPr>
            <a:r>
              <a:rPr sz="1800" b="1">
                <a:solidFill>
                  <a:srgbClr val="1B7F3A"/>
                </a:solidFill>
                <a:latin typeface="Trebuchet MS"/>
                <a:ea typeface="Trebuchet MS"/>
                <a:cs typeface="Trebuchet MS"/>
              </a:rPr>
              <a:t>LITERACY WARM-UP 9 OF 10 • ANSWER</a:t>
            </a:r>
          </a:p>
        </p:txBody>
      </p:sp>
      <p:sp>
        <p:nvSpPr>
          <p:cNvPr id="3" name="title_28">
            <a:extLst xmlns:a="http://schemas.openxmlformats.org/drawingml/2006/main">
              <a:ext uri="{FF2B5EF4-FFF2-40B4-BE49-F238E27FC236}">
                <a16:creationId xmlns:a16="http://schemas.microsoft.com/office/drawing/2014/main" id="{03C72B64-2FA4-4736-9F6D-26B8D9499B48}"/>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B names the subject and focus</a:t>
            </a:r>
          </a:p>
        </p:txBody>
      </p:sp>
      <p:sp>
        <p:nvSpPr>
          <p:cNvPr id="4" name="page_28">
            <a:extLst xmlns:a="http://schemas.openxmlformats.org/drawingml/2006/main">
              <a:ext uri="{FF2B5EF4-FFF2-40B4-BE49-F238E27FC236}">
                <a16:creationId xmlns:a16="http://schemas.microsoft.com/office/drawing/2014/main" id="{C2A7EFAA-1857-450E-8C15-C82BDCC088A9}"/>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28</a:t>
            </a:r>
          </a:p>
        </p:txBody>
      </p:sp>
      <p:sp>
        <p:nvSpPr>
          <p:cNvPr id="5" name="warm_9_answer_panel">
            <a:extLst xmlns:a="http://schemas.openxmlformats.org/drawingml/2006/main">
              <a:ext uri="{FF2B5EF4-FFF2-40B4-BE49-F238E27FC236}">
                <a16:creationId xmlns:a16="http://schemas.microsoft.com/office/drawing/2014/main" id="{A6E16FDA-9F97-44AE-B754-70A51402C0B0}"/>
              </a:ext>
            </a:extLst>
          </p:cNvPr>
          <p:cNvSpPr>
            <a:spLocks xmlns:a="http://schemas.openxmlformats.org/drawingml/2006/main" noGrp="1"/>
          </p:cNvSpPr>
          <p:nvPr/>
        </p:nvSpPr>
        <p:spPr>
          <a:xfrm xmlns:a="http://schemas.openxmlformats.org/drawingml/2006/main">
            <a:off x="571500" y="1333500"/>
            <a:ext cx="11049000" cy="2571750"/>
          </a:xfrm>
          <a:prstGeom xmlns:a="http://schemas.openxmlformats.org/drawingml/2006/main" prst="roundRect">
            <a:avLst>
              <a:gd name="adj" fmla="val 5926"/>
            </a:avLst>
          </a:prstGeom>
          <a:solidFill xmlns:a="http://schemas.openxmlformats.org/drawingml/2006/main">
            <a:srgbClr val="EAF7EE"/>
          </a:solidFill>
          <a:ln xmlns:a="http://schemas.openxmlformats.org/drawingml/2006/main" w="19050">
            <a:solidFill>
              <a:srgbClr val="70A77C"/>
            </a:solidFill>
            <a:prstDash val="solid"/>
          </a:ln>
        </p:spPr>
      </p:sp>
      <p:sp>
        <p:nvSpPr>
          <p:cNvPr id="6" name="warm_9_answer_text">
            <a:extLst xmlns:a="http://schemas.openxmlformats.org/drawingml/2006/main">
              <a:ext uri="{FF2B5EF4-FFF2-40B4-BE49-F238E27FC236}">
                <a16:creationId xmlns:a16="http://schemas.microsoft.com/office/drawing/2014/main" id="{EB705486-AE3C-4BEB-B926-14B4D0C33451}"/>
              </a:ext>
            </a:extLst>
          </p:cNvPr>
          <p:cNvSpPr>
            <a:spLocks xmlns:a="http://schemas.openxmlformats.org/drawingml/2006/main" noGrp="1"/>
          </p:cNvSpPr>
          <p:nvPr/>
        </p:nvSpPr>
        <p:spPr>
          <a:xfrm xmlns:a="http://schemas.openxmlformats.org/drawingml/2006/main">
            <a:off x="933450" y="1695450"/>
            <a:ext cx="103251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defRPr sz="4050" b="1">
                <a:solidFill>
                  <a:srgbClr val="111827"/>
                </a:solidFill>
                <a:latin typeface="Trebuchet MS"/>
                <a:ea typeface="Trebuchet MS"/>
                <a:cs typeface="Trebuchet MS"/>
              </a:defRPr>
            </a:pPr>
            <a:r>
              <a:rPr>
                <a:latin typeface="Trebuchet MS"/>
                <a:ea typeface="Trebuchet MS"/>
                <a:cs typeface="Trebuchet MS"/>
              </a:rPr>
              <a:t>B. </a:t>
            </a:r>
            <a:r>
              <a:rPr sz="4050" b="1">
                <a:solidFill>
                  <a:srgbClr val="1B7F3A"/>
                </a:solidFill>
                <a:latin typeface="Trebuchet MS"/>
                <a:ea typeface="Trebuchet MS"/>
                <a:cs typeface="Trebuchet MS"/>
              </a:rPr>
              <a:t>Uruguay's grasslands support farming and shape where people work.</a:t>
            </a:r>
          </a:p>
        </p:txBody>
      </p:sp>
      <p:sp>
        <p:nvSpPr>
          <p:cNvPr id="7" name="warm_9_cue_panel">
            <a:extLst xmlns:a="http://schemas.openxmlformats.org/drawingml/2006/main">
              <a:ext uri="{FF2B5EF4-FFF2-40B4-BE49-F238E27FC236}">
                <a16:creationId xmlns:a16="http://schemas.microsoft.com/office/drawing/2014/main" id="{6C4A773D-59E3-4871-8EA3-87057DD03648}"/>
              </a:ext>
            </a:extLst>
          </p:cNvPr>
          <p:cNvSpPr>
            <a:spLocks xmlns:a="http://schemas.openxmlformats.org/drawingml/2006/main" noGrp="1"/>
          </p:cNvSpPr>
          <p:nvPr/>
        </p:nvSpPr>
        <p:spPr>
          <a:xfrm xmlns:a="http://schemas.openxmlformats.org/drawingml/2006/main">
            <a:off x="952500" y="4171950"/>
            <a:ext cx="10287000" cy="80010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19050">
            <a:solidFill>
              <a:srgbClr val="70A77C"/>
            </a:solidFill>
            <a:prstDash val="solid"/>
          </a:ln>
        </p:spPr>
      </p:sp>
      <p:sp>
        <p:nvSpPr>
          <p:cNvPr id="8" name="warm_9_cue_text">
            <a:extLst xmlns:a="http://schemas.openxmlformats.org/drawingml/2006/main">
              <a:ext uri="{FF2B5EF4-FFF2-40B4-BE49-F238E27FC236}">
                <a16:creationId xmlns:a16="http://schemas.microsoft.com/office/drawing/2014/main" id="{BC1A0464-04C9-4FDC-B1CA-0756C3007DD0}"/>
              </a:ext>
            </a:extLst>
          </p:cNvPr>
          <p:cNvSpPr>
            <a:spLocks xmlns:a="http://schemas.openxmlformats.org/drawingml/2006/main" noGrp="1"/>
          </p:cNvSpPr>
          <p:nvPr/>
        </p:nvSpPr>
        <p:spPr>
          <a:xfrm xmlns:a="http://schemas.openxmlformats.org/drawingml/2006/main">
            <a:off x="1143000" y="43624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1B7F3A"/>
                </a:solidFill>
                <a:latin typeface="Trebuchet MS"/>
                <a:ea typeface="Trebuchet MS"/>
                <a:cs typeface="Trebuchet MS"/>
              </a:defRPr>
            </a:pPr>
            <a:r>
              <a:rPr sz="2850" b="1">
                <a:solidFill>
                  <a:srgbClr val="1B7F3A"/>
                </a:solidFill>
                <a:latin typeface="Trebuchet MS"/>
                <a:ea typeface="Trebuchet MS"/>
                <a:cs typeface="Trebuchet MS"/>
              </a:rPr>
              <a:t>Promise: grasslands, farming and work</a:t>
            </a:r>
          </a:p>
        </p:txBody>
      </p:sp>
      <p:sp>
        <p:nvSpPr>
          <p:cNvPr id="9" name="warm_9_why_panel">
            <a:extLst xmlns:a="http://schemas.openxmlformats.org/drawingml/2006/main">
              <a:ext uri="{FF2B5EF4-FFF2-40B4-BE49-F238E27FC236}">
                <a16:creationId xmlns:a16="http://schemas.microsoft.com/office/drawing/2014/main" id="{2A369AF5-D748-42E1-8678-7D7A3404ECBE}"/>
              </a:ext>
            </a:extLst>
          </p:cNvPr>
          <p:cNvSpPr>
            <a:spLocks xmlns:a="http://schemas.openxmlformats.org/drawingml/2006/main" noGrp="1"/>
          </p:cNvSpPr>
          <p:nvPr/>
        </p:nvSpPr>
        <p:spPr>
          <a:xfrm xmlns:a="http://schemas.openxmlformats.org/drawingml/2006/main">
            <a:off x="952500" y="5181600"/>
            <a:ext cx="10287000" cy="9144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9050">
            <a:solidFill>
              <a:srgbClr val="CBD5E1"/>
            </a:solidFill>
            <a:prstDash val="solid"/>
          </a:ln>
        </p:spPr>
      </p:sp>
      <p:sp>
        <p:nvSpPr>
          <p:cNvPr id="10" name="warm_9_why_text">
            <a:extLst xmlns:a="http://schemas.openxmlformats.org/drawingml/2006/main">
              <a:ext uri="{FF2B5EF4-FFF2-40B4-BE49-F238E27FC236}">
                <a16:creationId xmlns:a16="http://schemas.microsoft.com/office/drawing/2014/main" id="{D05F6EBF-720F-4EF1-8C3C-2BE885517303}"/>
              </a:ext>
            </a:extLst>
          </p:cNvPr>
          <p:cNvSpPr>
            <a:spLocks xmlns:a="http://schemas.openxmlformats.org/drawingml/2006/main" noGrp="1"/>
          </p:cNvSpPr>
          <p:nvPr/>
        </p:nvSpPr>
        <p:spPr>
          <a:xfrm xmlns:a="http://schemas.openxmlformats.org/drawingml/2006/main">
            <a:off x="1143000" y="53721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0">
                <a:solidFill>
                  <a:srgbClr val="111827"/>
                </a:solidFill>
                <a:latin typeface="Trebuchet MS"/>
                <a:ea typeface="Trebuchet MS"/>
                <a:cs typeface="Trebuchet MS"/>
              </a:defRPr>
            </a:pPr>
            <a:r>
              <a:rPr sz="2850" b="0">
                <a:solidFill>
                  <a:srgbClr val="111827"/>
                </a:solidFill>
                <a:latin typeface="Trebuchet MS"/>
                <a:ea typeface="Trebuchet MS"/>
                <a:cs typeface="Trebuchet MS"/>
              </a:rPr>
              <a:t>The sentence tells the reader exactly what the paragraph will explain.</a:t>
            </a:r>
          </a:p>
        </p:txBody>
      </p:sp>
    </p:spTree>
    <p:extLst>
      <p:ext uri="{BB962C8B-B14F-4D97-AF65-F5344CB8AC3E}">
        <p14:creationId xmlns:p14="http://schemas.microsoft.com/office/powerpoint/2010/main" val="1831638681"/>
      </p:ext>
    </p:extLst>
  </p:cSld>
</p:sld>
</file>

<file path=ppt/slides/slide29.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0" name="section_bar_29">
            <a:extLst xmlns:a="http://schemas.openxmlformats.org/drawingml/2006/main">
              <a:ext uri="{FF2B5EF4-FFF2-40B4-BE49-F238E27FC236}">
                <a16:creationId xmlns:a16="http://schemas.microsoft.com/office/drawing/2014/main" id="{3B562FB8-D31E-46AC-9A18-900B0745D3D2}"/>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D6A900"/>
          </a:solidFill>
          <a:ln xmlns:a="http://schemas.openxmlformats.org/drawingml/2006/main" w="0">
            <a:noFill/>
            <a:prstDash val="solid"/>
          </a:ln>
        </p:spPr>
      </p:sp>
      <p:sp>
        <p:nvSpPr>
          <p:cNvPr id="2" name="kicker_29">
            <a:extLst xmlns:a="http://schemas.openxmlformats.org/drawingml/2006/main">
              <a:ext uri="{FF2B5EF4-FFF2-40B4-BE49-F238E27FC236}">
                <a16:creationId xmlns:a16="http://schemas.microsoft.com/office/drawing/2014/main" id="{DDDD9012-DBD1-4CA5-A716-573662C9946F}"/>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D6A900"/>
                </a:solidFill>
                <a:latin typeface="Trebuchet MS"/>
                <a:ea typeface="Trebuchet MS"/>
                <a:cs typeface="Trebuchet MS"/>
              </a:defRPr>
            </a:pPr>
            <a:r>
              <a:rPr sz="1800" b="1">
                <a:solidFill>
                  <a:srgbClr val="D6A900"/>
                </a:solidFill>
                <a:latin typeface="Trebuchet MS"/>
                <a:ea typeface="Trebuchet MS"/>
                <a:cs typeface="Trebuchet MS"/>
              </a:rPr>
              <a:t>LITERACY WARM-UP 10 OF 10 • REMINDER</a:t>
            </a:r>
          </a:p>
        </p:txBody>
      </p:sp>
      <p:sp>
        <p:nvSpPr>
          <p:cNvPr id="3" name="title_29">
            <a:extLst xmlns:a="http://schemas.openxmlformats.org/drawingml/2006/main">
              <a:ext uri="{FF2B5EF4-FFF2-40B4-BE49-F238E27FC236}">
                <a16:creationId xmlns:a16="http://schemas.microsoft.com/office/drawing/2014/main" id="{0CB17860-8ED6-43A0-A2BB-1A611574FF27}"/>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Remember: precise does not mean fancy</a:t>
            </a:r>
          </a:p>
        </p:txBody>
      </p:sp>
      <p:sp>
        <p:nvSpPr>
          <p:cNvPr id="4" name="page_29">
            <a:extLst xmlns:a="http://schemas.openxmlformats.org/drawingml/2006/main">
              <a:ext uri="{FF2B5EF4-FFF2-40B4-BE49-F238E27FC236}">
                <a16:creationId xmlns:a16="http://schemas.microsoft.com/office/drawing/2014/main" id="{088D43A2-9F38-4C37-B7E3-831038164F08}"/>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29</a:t>
            </a:r>
          </a:p>
        </p:txBody>
      </p:sp>
      <p:sp>
        <p:nvSpPr>
          <p:cNvPr id="5" name="warm_10_rule_panel">
            <a:extLst xmlns:a="http://schemas.openxmlformats.org/drawingml/2006/main">
              <a:ext uri="{FF2B5EF4-FFF2-40B4-BE49-F238E27FC236}">
                <a16:creationId xmlns:a16="http://schemas.microsoft.com/office/drawing/2014/main" id="{213DA2B7-0F61-4D57-97CF-8C0A03059ABE}"/>
              </a:ext>
            </a:extLst>
          </p:cNvPr>
          <p:cNvSpPr>
            <a:spLocks xmlns:a="http://schemas.openxmlformats.org/drawingml/2006/main" noGrp="1"/>
          </p:cNvSpPr>
          <p:nvPr/>
        </p:nvSpPr>
        <p:spPr>
          <a:xfrm xmlns:a="http://schemas.openxmlformats.org/drawingml/2006/main">
            <a:off x="571500" y="1257300"/>
            <a:ext cx="11049000" cy="2019300"/>
          </a:xfrm>
          <a:prstGeom xmlns:a="http://schemas.openxmlformats.org/drawingml/2006/main" prst="roundRect">
            <a:avLst>
              <a:gd name="adj" fmla="val 7547"/>
            </a:avLst>
          </a:prstGeom>
          <a:solidFill xmlns:a="http://schemas.openxmlformats.org/drawingml/2006/main">
            <a:srgbClr val="FFF3BF"/>
          </a:solidFill>
          <a:ln xmlns:a="http://schemas.openxmlformats.org/drawingml/2006/main" w="19050">
            <a:solidFill>
              <a:srgbClr val="D6A900"/>
            </a:solidFill>
            <a:prstDash val="solid"/>
          </a:ln>
        </p:spPr>
      </p:sp>
      <p:sp>
        <p:nvSpPr>
          <p:cNvPr id="6" name="warm_10_rule_text">
            <a:extLst xmlns:a="http://schemas.openxmlformats.org/drawingml/2006/main">
              <a:ext uri="{FF2B5EF4-FFF2-40B4-BE49-F238E27FC236}">
                <a16:creationId xmlns:a16="http://schemas.microsoft.com/office/drawing/2014/main" id="{A175BFE2-15D5-4189-B5A2-802CEF27311D}"/>
              </a:ext>
            </a:extLst>
          </p:cNvPr>
          <p:cNvSpPr>
            <a:spLocks xmlns:a="http://schemas.openxmlformats.org/drawingml/2006/main" noGrp="1"/>
          </p:cNvSpPr>
          <p:nvPr/>
        </p:nvSpPr>
        <p:spPr>
          <a:xfrm xmlns:a="http://schemas.openxmlformats.org/drawingml/2006/main">
            <a:off x="895350" y="1581150"/>
            <a:ext cx="104013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600" b="1">
                <a:solidFill>
                  <a:srgbClr val="3B2F00"/>
                </a:solidFill>
                <a:latin typeface="Trebuchet MS"/>
                <a:ea typeface="Trebuchet MS"/>
                <a:cs typeface="Trebuchet MS"/>
              </a:defRPr>
            </a:pPr>
            <a:r>
              <a:rPr sz="3600" b="1">
                <a:solidFill>
                  <a:srgbClr val="3B2F00"/>
                </a:solidFill>
                <a:latin typeface="Trebuchet MS"/>
                <a:ea typeface="Trebuchet MS"/>
                <a:cs typeface="Trebuchet MS"/>
              </a:rPr>
              <a:t>Choose a technical word only when it keeps the intended meaning and adds exact information.</a:t>
            </a:r>
          </a:p>
        </p:txBody>
      </p:sp>
      <p:sp>
        <p:nvSpPr>
          <p:cNvPr id="7" name="warm_10_example_panel">
            <a:extLst xmlns:a="http://schemas.openxmlformats.org/drawingml/2006/main">
              <a:ext uri="{FF2B5EF4-FFF2-40B4-BE49-F238E27FC236}">
                <a16:creationId xmlns:a16="http://schemas.microsoft.com/office/drawing/2014/main" id="{F2FA72A3-145E-4938-8AF4-9313648F38E3}"/>
              </a:ext>
            </a:extLst>
          </p:cNvPr>
          <p:cNvSpPr>
            <a:spLocks xmlns:a="http://schemas.openxmlformats.org/drawingml/2006/main" noGrp="1"/>
          </p:cNvSpPr>
          <p:nvPr/>
        </p:nvSpPr>
        <p:spPr>
          <a:xfrm xmlns:a="http://schemas.openxmlformats.org/drawingml/2006/main">
            <a:off x="571500" y="3562350"/>
            <a:ext cx="11049000" cy="2114550"/>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19050">
            <a:solidFill>
              <a:srgbClr val="CBD5E1"/>
            </a:solidFill>
            <a:prstDash val="solid"/>
          </a:ln>
        </p:spPr>
      </p:sp>
      <p:sp>
        <p:nvSpPr>
          <p:cNvPr id="8" name="warm_10_example_text">
            <a:extLst xmlns:a="http://schemas.openxmlformats.org/drawingml/2006/main">
              <a:ext uri="{FF2B5EF4-FFF2-40B4-BE49-F238E27FC236}">
                <a16:creationId xmlns:a16="http://schemas.microsoft.com/office/drawing/2014/main" id="{6D91A1A8-3C21-444A-964D-AABFE87CA880}"/>
              </a:ext>
            </a:extLst>
          </p:cNvPr>
          <p:cNvSpPr>
            <a:spLocks xmlns:a="http://schemas.openxmlformats.org/drawingml/2006/main" noGrp="1"/>
          </p:cNvSpPr>
          <p:nvPr/>
        </p:nvSpPr>
        <p:spPr>
          <a:xfrm xmlns:a="http://schemas.openxmlformats.org/drawingml/2006/main">
            <a:off x="895350" y="3886200"/>
            <a:ext cx="104013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150" b="0">
                <a:solidFill>
                  <a:srgbClr val="111827"/>
                </a:solidFill>
                <a:latin typeface="Trebuchet MS"/>
                <a:ea typeface="Trebuchet MS"/>
                <a:cs typeface="Trebuchet MS"/>
              </a:defRPr>
            </a:pPr>
            <a:r>
              <a:rPr sz="3150" b="0">
                <a:solidFill>
                  <a:srgbClr val="111827"/>
                </a:solidFill>
                <a:latin typeface="Trebuchet MS"/>
                <a:ea typeface="Trebuchet MS"/>
                <a:cs typeface="Trebuchet MS"/>
              </a:rPr>
              <a:t>Example: Wind makes the turbine blades turn. More precise: Wind makes the turbine blades rotate.</a:t>
            </a:r>
          </a:p>
        </p:txBody>
      </p:sp>
      <p:sp>
        <p:nvSpPr>
          <p:cNvPr id="9" name="warm_10_cue">
            <a:extLst xmlns:a="http://schemas.openxmlformats.org/drawingml/2006/main">
              <a:ext uri="{FF2B5EF4-FFF2-40B4-BE49-F238E27FC236}">
                <a16:creationId xmlns:a16="http://schemas.microsoft.com/office/drawing/2014/main" id="{0CB3A0BA-972D-4068-B157-5A4B0D9FEFE3}"/>
              </a:ext>
            </a:extLst>
          </p:cNvPr>
          <p:cNvSpPr>
            <a:spLocks xmlns:a="http://schemas.openxmlformats.org/drawingml/2006/main" noGrp="1"/>
          </p:cNvSpPr>
          <p:nvPr/>
        </p:nvSpPr>
        <p:spPr>
          <a:xfrm xmlns:a="http://schemas.openxmlformats.org/drawingml/2006/main">
            <a:off x="781050" y="58102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475569"/>
                </a:solidFill>
                <a:latin typeface="Trebuchet MS"/>
                <a:ea typeface="Trebuchet MS"/>
                <a:cs typeface="Trebuchet MS"/>
              </a:defRPr>
            </a:pPr>
            <a:r>
              <a:rPr sz="2850" b="1">
                <a:solidFill>
                  <a:srgbClr val="475569"/>
                </a:solidFill>
                <a:latin typeface="Trebuchet MS"/>
                <a:ea typeface="Trebuchet MS"/>
                <a:cs typeface="Trebuchet MS"/>
              </a:rPr>
              <a:t>Use the reminder to solve the next slide.</a:t>
            </a:r>
          </a:p>
        </p:txBody>
      </p:sp>
    </p:spTree>
    <p:extLst>
      <p:ext uri="{BB962C8B-B14F-4D97-AF65-F5344CB8AC3E}">
        <p14:creationId xmlns:p14="http://schemas.microsoft.com/office/powerpoint/2010/main" val="907774343"/>
      </p:ext>
    </p:extLst>
  </p:cSld>
</p:sld>
</file>

<file path=ppt/slides/slide30.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section_bar_30">
            <a:extLst xmlns:a="http://schemas.openxmlformats.org/drawingml/2006/main">
              <a:ext uri="{FF2B5EF4-FFF2-40B4-BE49-F238E27FC236}">
                <a16:creationId xmlns:a16="http://schemas.microsoft.com/office/drawing/2014/main" id="{E0B1EBC3-FAF5-475A-8AE5-6F9A61F19F7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30">
            <a:extLst xmlns:a="http://schemas.openxmlformats.org/drawingml/2006/main">
              <a:ext uri="{FF2B5EF4-FFF2-40B4-BE49-F238E27FC236}">
                <a16:creationId xmlns:a16="http://schemas.microsoft.com/office/drawing/2014/main" id="{F49CC51D-F9B8-4C19-8B1B-A9D411FF37D8}"/>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005A9C"/>
                </a:solidFill>
                <a:latin typeface="Trebuchet MS"/>
                <a:ea typeface="Trebuchet MS"/>
                <a:cs typeface="Trebuchet MS"/>
              </a:defRPr>
            </a:pPr>
            <a:r>
              <a:rPr sz="1800" b="1">
                <a:solidFill>
                  <a:srgbClr val="005A9C"/>
                </a:solidFill>
                <a:latin typeface="Trebuchet MS"/>
                <a:ea typeface="Trebuchet MS"/>
                <a:cs typeface="Trebuchet MS"/>
              </a:rPr>
              <a:t>LITERACY WARM-UP 10 OF 10 • QUESTION</a:t>
            </a:r>
          </a:p>
        </p:txBody>
      </p:sp>
      <p:sp>
        <p:nvSpPr>
          <p:cNvPr id="3" name="title_30">
            <a:extLst xmlns:a="http://schemas.openxmlformats.org/drawingml/2006/main">
              <a:ext uri="{FF2B5EF4-FFF2-40B4-BE49-F238E27FC236}">
                <a16:creationId xmlns:a16="http://schemas.microsoft.com/office/drawing/2014/main" id="{D6281B54-4DBF-46C9-AE80-7A74559BF011}"/>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Choose one precise verb</a:t>
            </a:r>
          </a:p>
        </p:txBody>
      </p:sp>
      <p:sp>
        <p:nvSpPr>
          <p:cNvPr id="4" name="page_30">
            <a:extLst xmlns:a="http://schemas.openxmlformats.org/drawingml/2006/main">
              <a:ext uri="{FF2B5EF4-FFF2-40B4-BE49-F238E27FC236}">
                <a16:creationId xmlns:a16="http://schemas.microsoft.com/office/drawing/2014/main" id="{C23044C1-033D-425F-BA62-901C734A4C45}"/>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30</a:t>
            </a:r>
          </a:p>
        </p:txBody>
      </p:sp>
      <p:sp>
        <p:nvSpPr>
          <p:cNvPr id="5" name="warm_10_question_panel">
            <a:extLst xmlns:a="http://schemas.openxmlformats.org/drawingml/2006/main">
              <a:ext uri="{FF2B5EF4-FFF2-40B4-BE49-F238E27FC236}">
                <a16:creationId xmlns:a16="http://schemas.microsoft.com/office/drawing/2014/main" id="{CD80D806-AE98-42BB-810A-132DA9DEECA6}"/>
              </a:ext>
            </a:extLst>
          </p:cNvPr>
          <p:cNvSpPr>
            <a:spLocks xmlns:a="http://schemas.openxmlformats.org/drawingml/2006/main" noGrp="1"/>
          </p:cNvSpPr>
          <p:nvPr/>
        </p:nvSpPr>
        <p:spPr>
          <a:xfrm xmlns:a="http://schemas.openxmlformats.org/drawingml/2006/main">
            <a:off x="571500" y="1333500"/>
            <a:ext cx="11049000" cy="3162300"/>
          </a:xfrm>
          <a:prstGeom xmlns:a="http://schemas.openxmlformats.org/drawingml/2006/main" prst="roundRect">
            <a:avLst>
              <a:gd name="adj" fmla="val 4819"/>
            </a:avLst>
          </a:prstGeom>
          <a:solidFill xmlns:a="http://schemas.openxmlformats.org/drawingml/2006/main">
            <a:srgbClr val="EAF2F8"/>
          </a:solidFill>
          <a:ln xmlns:a="http://schemas.openxmlformats.org/drawingml/2006/main" w="19050">
            <a:solidFill>
              <a:srgbClr val="7AA7C7"/>
            </a:solidFill>
            <a:prstDash val="solid"/>
          </a:ln>
        </p:spPr>
      </p:sp>
      <p:sp>
        <p:nvSpPr>
          <p:cNvPr id="6" name="warm_10_question_text">
            <a:extLst xmlns:a="http://schemas.openxmlformats.org/drawingml/2006/main">
              <a:ext uri="{FF2B5EF4-FFF2-40B4-BE49-F238E27FC236}">
                <a16:creationId xmlns:a16="http://schemas.microsoft.com/office/drawing/2014/main" id="{AF7913F3-2C59-4793-ADA6-2473554CFAE0}"/>
              </a:ext>
            </a:extLst>
          </p:cNvPr>
          <p:cNvSpPr>
            <a:spLocks xmlns:a="http://schemas.openxmlformats.org/drawingml/2006/main" noGrp="1"/>
          </p:cNvSpPr>
          <p:nvPr/>
        </p:nvSpPr>
        <p:spPr>
          <a:xfrm xmlns:a="http://schemas.openxmlformats.org/drawingml/2006/main">
            <a:off x="933450" y="1695450"/>
            <a:ext cx="103251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900" b="1">
                <a:solidFill>
                  <a:srgbClr val="103A5E"/>
                </a:solidFill>
                <a:latin typeface="Trebuchet MS"/>
                <a:ea typeface="Trebuchet MS"/>
                <a:cs typeface="Trebuchet MS"/>
              </a:defRPr>
            </a:pPr>
            <a:r>
              <a:rPr sz="3900" b="1">
                <a:solidFill>
                  <a:srgbClr val="103A5E"/>
                </a:solidFill>
                <a:latin typeface="Trebuchet MS"/>
                <a:ea typeface="Trebuchet MS"/>
                <a:cs typeface="Trebuchet MS"/>
              </a:rPr>
              <a:t>Wind makes the turbine blades go around.</a:t>
            </a:r>
          </a:p>
        </p:txBody>
      </p:sp>
      <p:sp>
        <p:nvSpPr>
          <p:cNvPr id="7" name="warm_10_support_panel">
            <a:extLst xmlns:a="http://schemas.openxmlformats.org/drawingml/2006/main">
              <a:ext uri="{FF2B5EF4-FFF2-40B4-BE49-F238E27FC236}">
                <a16:creationId xmlns:a16="http://schemas.microsoft.com/office/drawing/2014/main" id="{11033D08-8945-4A24-A53B-1AC7AA2C28A6}"/>
              </a:ext>
            </a:extLst>
          </p:cNvPr>
          <p:cNvSpPr>
            <a:spLocks xmlns:a="http://schemas.openxmlformats.org/drawingml/2006/main" noGrp="1"/>
          </p:cNvSpPr>
          <p:nvPr/>
        </p:nvSpPr>
        <p:spPr>
          <a:xfrm xmlns:a="http://schemas.openxmlformats.org/drawingml/2006/main">
            <a:off x="1143000" y="4762500"/>
            <a:ext cx="990600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19050">
            <a:solidFill>
              <a:srgbClr val="CBD5E1"/>
            </a:solidFill>
            <a:prstDash val="solid"/>
          </a:ln>
        </p:spPr>
      </p:sp>
      <p:sp>
        <p:nvSpPr>
          <p:cNvPr id="8" name="warm_10_support_text">
            <a:extLst xmlns:a="http://schemas.openxmlformats.org/drawingml/2006/main">
              <a:ext uri="{FF2B5EF4-FFF2-40B4-BE49-F238E27FC236}">
                <a16:creationId xmlns:a16="http://schemas.microsoft.com/office/drawing/2014/main" id="{782F9D2D-678D-4B0C-8A7B-C0A89F1E8D00}"/>
              </a:ext>
            </a:extLst>
          </p:cNvPr>
          <p:cNvSpPr>
            <a:spLocks xmlns:a="http://schemas.openxmlformats.org/drawingml/2006/main" noGrp="1"/>
          </p:cNvSpPr>
          <p:nvPr/>
        </p:nvSpPr>
        <p:spPr>
          <a:xfrm xmlns:a="http://schemas.openxmlformats.org/drawingml/2006/main">
            <a:off x="1371600" y="4991100"/>
            <a:ext cx="944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000" b="0">
                <a:solidFill>
                  <a:srgbClr val="111827"/>
                </a:solidFill>
                <a:latin typeface="Trebuchet MS"/>
                <a:ea typeface="Trebuchet MS"/>
                <a:cs typeface="Trebuchet MS"/>
              </a:defRPr>
            </a:pPr>
            <a:r>
              <a:rPr sz="3000" b="0">
                <a:solidFill>
                  <a:srgbClr val="111827"/>
                </a:solidFill>
                <a:latin typeface="Trebuchet MS"/>
                <a:ea typeface="Trebuchet MS"/>
                <a:cs typeface="Trebuchet MS"/>
              </a:rPr>
              <a:t>Replace go around with one precise verb. Write the complete sentence.</a:t>
            </a:r>
          </a:p>
        </p:txBody>
      </p:sp>
    </p:spTree>
    <p:extLst>
      <p:ext uri="{BB962C8B-B14F-4D97-AF65-F5344CB8AC3E}">
        <p14:creationId xmlns:p14="http://schemas.microsoft.com/office/powerpoint/2010/main" val="1938758224"/>
      </p:ext>
    </p:extLst>
  </p:cSld>
</p:sld>
</file>

<file path=ppt/slides/slide31.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31">
            <a:extLst xmlns:a="http://schemas.openxmlformats.org/drawingml/2006/main">
              <a:ext uri="{FF2B5EF4-FFF2-40B4-BE49-F238E27FC236}">
                <a16:creationId xmlns:a16="http://schemas.microsoft.com/office/drawing/2014/main" id="{0001F36B-64DF-4534-B95E-F5187AF27C2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B7F3A"/>
          </a:solidFill>
          <a:ln xmlns:a="http://schemas.openxmlformats.org/drawingml/2006/main" w="0">
            <a:noFill/>
            <a:prstDash val="solid"/>
          </a:ln>
        </p:spPr>
      </p:sp>
      <p:sp>
        <p:nvSpPr>
          <p:cNvPr id="2" name="kicker_31">
            <a:extLst xmlns:a="http://schemas.openxmlformats.org/drawingml/2006/main">
              <a:ext uri="{FF2B5EF4-FFF2-40B4-BE49-F238E27FC236}">
                <a16:creationId xmlns:a16="http://schemas.microsoft.com/office/drawing/2014/main" id="{16DB6A9D-A972-4221-B2D7-6969C00ED6AC}"/>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1B7F3A"/>
                </a:solidFill>
                <a:latin typeface="Trebuchet MS"/>
                <a:ea typeface="Trebuchet MS"/>
                <a:cs typeface="Trebuchet MS"/>
              </a:defRPr>
            </a:pPr>
            <a:r>
              <a:rPr sz="1800" b="1">
                <a:solidFill>
                  <a:srgbClr val="1B7F3A"/>
                </a:solidFill>
                <a:latin typeface="Trebuchet MS"/>
                <a:ea typeface="Trebuchet MS"/>
                <a:cs typeface="Trebuchet MS"/>
              </a:rPr>
              <a:t>LITERACY WARM-UP 10 OF 10 • ANSWER</a:t>
            </a:r>
          </a:p>
        </p:txBody>
      </p:sp>
      <p:sp>
        <p:nvSpPr>
          <p:cNvPr id="3" name="title_31">
            <a:extLst xmlns:a="http://schemas.openxmlformats.org/drawingml/2006/main">
              <a:ext uri="{FF2B5EF4-FFF2-40B4-BE49-F238E27FC236}">
                <a16:creationId xmlns:a16="http://schemas.microsoft.com/office/drawing/2014/main" id="{6A89070B-11B0-497C-9B55-EC71EF997D81}"/>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Rotate keeps the meaning and adds precision</a:t>
            </a:r>
          </a:p>
        </p:txBody>
      </p:sp>
      <p:sp>
        <p:nvSpPr>
          <p:cNvPr id="4" name="page_31">
            <a:extLst xmlns:a="http://schemas.openxmlformats.org/drawingml/2006/main">
              <a:ext uri="{FF2B5EF4-FFF2-40B4-BE49-F238E27FC236}">
                <a16:creationId xmlns:a16="http://schemas.microsoft.com/office/drawing/2014/main" id="{26B1691A-774D-4832-85C7-46D4264CBBD2}"/>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31</a:t>
            </a:r>
          </a:p>
        </p:txBody>
      </p:sp>
      <p:sp>
        <p:nvSpPr>
          <p:cNvPr id="5" name="warm_10_answer_panel">
            <a:extLst xmlns:a="http://schemas.openxmlformats.org/drawingml/2006/main">
              <a:ext uri="{FF2B5EF4-FFF2-40B4-BE49-F238E27FC236}">
                <a16:creationId xmlns:a16="http://schemas.microsoft.com/office/drawing/2014/main" id="{545AD965-BB80-43B4-BB71-A270E131D328}"/>
              </a:ext>
            </a:extLst>
          </p:cNvPr>
          <p:cNvSpPr>
            <a:spLocks xmlns:a="http://schemas.openxmlformats.org/drawingml/2006/main" noGrp="1"/>
          </p:cNvSpPr>
          <p:nvPr/>
        </p:nvSpPr>
        <p:spPr>
          <a:xfrm xmlns:a="http://schemas.openxmlformats.org/drawingml/2006/main">
            <a:off x="571500" y="1333500"/>
            <a:ext cx="11049000" cy="2571750"/>
          </a:xfrm>
          <a:prstGeom xmlns:a="http://schemas.openxmlformats.org/drawingml/2006/main" prst="roundRect">
            <a:avLst>
              <a:gd name="adj" fmla="val 5926"/>
            </a:avLst>
          </a:prstGeom>
          <a:solidFill xmlns:a="http://schemas.openxmlformats.org/drawingml/2006/main">
            <a:srgbClr val="EAF7EE"/>
          </a:solidFill>
          <a:ln xmlns:a="http://schemas.openxmlformats.org/drawingml/2006/main" w="19050">
            <a:solidFill>
              <a:srgbClr val="70A77C"/>
            </a:solidFill>
            <a:prstDash val="solid"/>
          </a:ln>
        </p:spPr>
      </p:sp>
      <p:sp>
        <p:nvSpPr>
          <p:cNvPr id="6" name="warm_10_answer_text">
            <a:extLst xmlns:a="http://schemas.openxmlformats.org/drawingml/2006/main">
              <a:ext uri="{FF2B5EF4-FFF2-40B4-BE49-F238E27FC236}">
                <a16:creationId xmlns:a16="http://schemas.microsoft.com/office/drawing/2014/main" id="{9C493750-D1FE-4593-B6FF-17251DE13DA9}"/>
              </a:ext>
            </a:extLst>
          </p:cNvPr>
          <p:cNvSpPr>
            <a:spLocks xmlns:a="http://schemas.openxmlformats.org/drawingml/2006/main" noGrp="1"/>
          </p:cNvSpPr>
          <p:nvPr/>
        </p:nvSpPr>
        <p:spPr>
          <a:xfrm xmlns:a="http://schemas.openxmlformats.org/drawingml/2006/main">
            <a:off x="933450" y="1695450"/>
            <a:ext cx="103251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defRPr sz="4050" b="1">
                <a:solidFill>
                  <a:srgbClr val="111827"/>
                </a:solidFill>
                <a:latin typeface="Trebuchet MS"/>
                <a:ea typeface="Trebuchet MS"/>
                <a:cs typeface="Trebuchet MS"/>
              </a:defRPr>
            </a:pPr>
            <a:r>
              <a:rPr>
                <a:latin typeface="Trebuchet MS"/>
                <a:ea typeface="Trebuchet MS"/>
                <a:cs typeface="Trebuchet MS"/>
              </a:rPr>
              <a:t>Wind makes the turbine blades </a:t>
            </a:r>
            <a:r>
              <a:rPr sz="5100" b="1">
                <a:solidFill>
                  <a:srgbClr val="1B7F3A"/>
                </a:solidFill>
                <a:latin typeface="Trebuchet MS"/>
                <a:ea typeface="Trebuchet MS"/>
                <a:cs typeface="Trebuchet MS"/>
              </a:rPr>
              <a:t>rotate</a:t>
            </a:r>
            <a:r>
              <a:rPr>
                <a:latin typeface="Trebuchet MS"/>
                <a:ea typeface="Trebuchet MS"/>
                <a:cs typeface="Trebuchet MS"/>
              </a:rPr>
              <a:t>.</a:t>
            </a:r>
          </a:p>
        </p:txBody>
      </p:sp>
      <p:sp>
        <p:nvSpPr>
          <p:cNvPr id="7" name="warm_10_cue_panel">
            <a:extLst xmlns:a="http://schemas.openxmlformats.org/drawingml/2006/main">
              <a:ext uri="{FF2B5EF4-FFF2-40B4-BE49-F238E27FC236}">
                <a16:creationId xmlns:a16="http://schemas.microsoft.com/office/drawing/2014/main" id="{BCAA5D51-8FA8-4B68-A6DA-EB053E50B2FE}"/>
              </a:ext>
            </a:extLst>
          </p:cNvPr>
          <p:cNvSpPr>
            <a:spLocks xmlns:a="http://schemas.openxmlformats.org/drawingml/2006/main" noGrp="1"/>
          </p:cNvSpPr>
          <p:nvPr/>
        </p:nvSpPr>
        <p:spPr>
          <a:xfrm xmlns:a="http://schemas.openxmlformats.org/drawingml/2006/main">
            <a:off x="952500" y="4171950"/>
            <a:ext cx="10287000" cy="80010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19050">
            <a:solidFill>
              <a:srgbClr val="70A77C"/>
            </a:solidFill>
            <a:prstDash val="solid"/>
          </a:ln>
        </p:spPr>
      </p:sp>
      <p:sp>
        <p:nvSpPr>
          <p:cNvPr id="8" name="warm_10_cue_text">
            <a:extLst xmlns:a="http://schemas.openxmlformats.org/drawingml/2006/main">
              <a:ext uri="{FF2B5EF4-FFF2-40B4-BE49-F238E27FC236}">
                <a16:creationId xmlns:a16="http://schemas.microsoft.com/office/drawing/2014/main" id="{F713B0BE-F8F7-4283-8D61-F094C4CD1934}"/>
              </a:ext>
            </a:extLst>
          </p:cNvPr>
          <p:cNvSpPr>
            <a:spLocks xmlns:a="http://schemas.openxmlformats.org/drawingml/2006/main" noGrp="1"/>
          </p:cNvSpPr>
          <p:nvPr/>
        </p:nvSpPr>
        <p:spPr>
          <a:xfrm xmlns:a="http://schemas.openxmlformats.org/drawingml/2006/main">
            <a:off x="1143000" y="43624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1B7F3A"/>
                </a:solidFill>
                <a:latin typeface="Trebuchet MS"/>
                <a:ea typeface="Trebuchet MS"/>
                <a:cs typeface="Trebuchet MS"/>
              </a:defRPr>
            </a:pPr>
            <a:r>
              <a:rPr sz="2850" b="1">
                <a:solidFill>
                  <a:srgbClr val="1B7F3A"/>
                </a:solidFill>
                <a:latin typeface="Trebuchet MS"/>
                <a:ea typeface="Trebuchet MS"/>
                <a:cs typeface="Trebuchet MS"/>
              </a:rPr>
              <a:t>Changed phrase: go around becomes rotate</a:t>
            </a:r>
          </a:p>
        </p:txBody>
      </p:sp>
      <p:sp>
        <p:nvSpPr>
          <p:cNvPr id="9" name="warm_10_why_panel">
            <a:extLst xmlns:a="http://schemas.openxmlformats.org/drawingml/2006/main">
              <a:ext uri="{FF2B5EF4-FFF2-40B4-BE49-F238E27FC236}">
                <a16:creationId xmlns:a16="http://schemas.microsoft.com/office/drawing/2014/main" id="{FF06436C-29D6-457A-B85C-4CD37F84EC2E}"/>
              </a:ext>
            </a:extLst>
          </p:cNvPr>
          <p:cNvSpPr>
            <a:spLocks xmlns:a="http://schemas.openxmlformats.org/drawingml/2006/main" noGrp="1"/>
          </p:cNvSpPr>
          <p:nvPr/>
        </p:nvSpPr>
        <p:spPr>
          <a:xfrm xmlns:a="http://schemas.openxmlformats.org/drawingml/2006/main">
            <a:off x="952500" y="5181600"/>
            <a:ext cx="10287000" cy="9144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9050">
            <a:solidFill>
              <a:srgbClr val="CBD5E1"/>
            </a:solidFill>
            <a:prstDash val="solid"/>
          </a:ln>
        </p:spPr>
      </p:sp>
      <p:sp>
        <p:nvSpPr>
          <p:cNvPr id="10" name="warm_10_why_text">
            <a:extLst xmlns:a="http://schemas.openxmlformats.org/drawingml/2006/main">
              <a:ext uri="{FF2B5EF4-FFF2-40B4-BE49-F238E27FC236}">
                <a16:creationId xmlns:a16="http://schemas.microsoft.com/office/drawing/2014/main" id="{15596AB6-DF44-4F08-B069-5811026E307C}"/>
              </a:ext>
            </a:extLst>
          </p:cNvPr>
          <p:cNvSpPr>
            <a:spLocks xmlns:a="http://schemas.openxmlformats.org/drawingml/2006/main" noGrp="1"/>
          </p:cNvSpPr>
          <p:nvPr/>
        </p:nvSpPr>
        <p:spPr>
          <a:xfrm xmlns:a="http://schemas.openxmlformats.org/drawingml/2006/main">
            <a:off x="1143000" y="53721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0">
                <a:solidFill>
                  <a:srgbClr val="111827"/>
                </a:solidFill>
                <a:latin typeface="Trebuchet MS"/>
                <a:ea typeface="Trebuchet MS"/>
                <a:cs typeface="Trebuchet MS"/>
              </a:defRPr>
            </a:pPr>
            <a:r>
              <a:rPr sz="2850" b="0">
                <a:solidFill>
                  <a:srgbClr val="111827"/>
                </a:solidFill>
                <a:latin typeface="Trebuchet MS"/>
                <a:ea typeface="Trebuchet MS"/>
                <a:cs typeface="Trebuchet MS"/>
              </a:rPr>
              <a:t>Rotate means turn around a central point, matching the blade movement.</a:t>
            </a:r>
          </a:p>
        </p:txBody>
      </p:sp>
    </p:spTree>
    <p:extLst>
      <p:ext uri="{BB962C8B-B14F-4D97-AF65-F5344CB8AC3E}">
        <p14:creationId xmlns:p14="http://schemas.microsoft.com/office/powerpoint/2010/main" val="1652670797"/>
      </p:ext>
    </p:extLst>
  </p:cSld>
</p:sld>
</file>

<file path=ppt/slides/slide3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section_bar_32">
            <a:extLst xmlns:a="http://schemas.openxmlformats.org/drawingml/2006/main">
              <a:ext uri="{FF2B5EF4-FFF2-40B4-BE49-F238E27FC236}">
                <a16:creationId xmlns:a16="http://schemas.microsoft.com/office/drawing/2014/main" id="{A2E4C571-7611-4304-B82D-E3A83A43121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32">
            <a:extLst xmlns:a="http://schemas.openxmlformats.org/drawingml/2006/main">
              <a:ext uri="{FF2B5EF4-FFF2-40B4-BE49-F238E27FC236}">
                <a16:creationId xmlns:a16="http://schemas.microsoft.com/office/drawing/2014/main" id="{E98CC286-1F70-42A6-A7EA-5EE42F2EC929}"/>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005A9C"/>
                </a:solidFill>
                <a:latin typeface="Trebuchet MS"/>
                <a:ea typeface="Trebuchet MS"/>
                <a:cs typeface="Trebuchet MS"/>
              </a:defRPr>
            </a:pPr>
            <a:r>
              <a:rPr sz="1800" b="1">
                <a:solidFill>
                  <a:srgbClr val="005A9C"/>
                </a:solidFill>
                <a:latin typeface="Trebuchet MS"/>
                <a:ea typeface="Trebuchet MS"/>
                <a:cs typeface="Trebuchet MS"/>
              </a:rPr>
              <a:t>SHARED READING 1 OF 5 • QUESTION</a:t>
            </a:r>
          </a:p>
        </p:txBody>
      </p:sp>
      <p:sp>
        <p:nvSpPr>
          <p:cNvPr id="3" name="title_32">
            <a:extLst xmlns:a="http://schemas.openxmlformats.org/drawingml/2006/main">
              <a:ext uri="{FF2B5EF4-FFF2-40B4-BE49-F238E27FC236}">
                <a16:creationId xmlns:a16="http://schemas.microsoft.com/office/drawing/2014/main" id="{971D3D80-E276-4CB8-8C1E-AF51C70D9B88}"/>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Water helps form Uruguay's southern boundary</a:t>
            </a:r>
          </a:p>
        </p:txBody>
      </p:sp>
      <p:sp>
        <p:nvSpPr>
          <p:cNvPr id="4" name="page_32">
            <a:extLst xmlns:a="http://schemas.openxmlformats.org/drawingml/2006/main">
              <a:ext uri="{FF2B5EF4-FFF2-40B4-BE49-F238E27FC236}">
                <a16:creationId xmlns:a16="http://schemas.microsoft.com/office/drawing/2014/main" id="{147B556B-656B-46ED-89AB-0782B2F987EE}"/>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32</a:t>
            </a:r>
          </a:p>
        </p:txBody>
      </p:sp>
      <p:sp>
        <p:nvSpPr>
          <p:cNvPr id="5" name="shared_1_paragraph_panel">
            <a:extLst xmlns:a="http://schemas.openxmlformats.org/drawingml/2006/main">
              <a:ext uri="{FF2B5EF4-FFF2-40B4-BE49-F238E27FC236}">
                <a16:creationId xmlns:a16="http://schemas.microsoft.com/office/drawing/2014/main" id="{855F8C8D-DA86-455F-970F-789F0792F817}"/>
              </a:ext>
            </a:extLst>
          </p:cNvPr>
          <p:cNvSpPr>
            <a:spLocks xmlns:a="http://schemas.openxmlformats.org/drawingml/2006/main" noGrp="1"/>
          </p:cNvSpPr>
          <p:nvPr/>
        </p:nvSpPr>
        <p:spPr>
          <a:xfrm xmlns:a="http://schemas.openxmlformats.org/drawingml/2006/main">
            <a:off x="571500" y="1200150"/>
            <a:ext cx="11049000" cy="3333750"/>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CBD5E1"/>
            </a:solidFill>
            <a:prstDash val="solid"/>
          </a:ln>
        </p:spPr>
      </p:sp>
      <p:sp>
        <p:nvSpPr>
          <p:cNvPr id="6" name="shared_1_paragraph_text">
            <a:extLst xmlns:a="http://schemas.openxmlformats.org/drawingml/2006/main">
              <a:ext uri="{FF2B5EF4-FFF2-40B4-BE49-F238E27FC236}">
                <a16:creationId xmlns:a16="http://schemas.microsoft.com/office/drawing/2014/main" id="{66E7E320-1E0B-4B77-80A8-86BF2170E11A}"/>
              </a:ext>
            </a:extLst>
          </p:cNvPr>
          <p:cNvSpPr>
            <a:spLocks xmlns:a="http://schemas.openxmlformats.org/drawingml/2006/main" noGrp="1"/>
          </p:cNvSpPr>
          <p:nvPr/>
        </p:nvSpPr>
        <p:spPr>
          <a:xfrm xmlns:a="http://schemas.openxmlformats.org/drawingml/2006/main">
            <a:off x="895350" y="1524000"/>
            <a:ext cx="10401300" cy="268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0">
                <a:solidFill>
                  <a:srgbClr val="111827"/>
                </a:solidFill>
                <a:latin typeface="Trebuchet MS"/>
                <a:ea typeface="Trebuchet MS"/>
                <a:cs typeface="Trebuchet MS"/>
              </a:defRPr>
            </a:pPr>
            <a:r>
              <a:rPr sz="3000" b="0">
                <a:solidFill>
                  <a:srgbClr val="111827"/>
                </a:solidFill>
                <a:latin typeface="Trebuchet MS"/>
                <a:ea typeface="Trebuchet MS"/>
                <a:cs typeface="Trebuchet MS"/>
              </a:rPr>
              <a:t>Uruguay lies between Brazil and Argentina in South America. The Río de la Plata borders the country to the south, while the Atlantic Ocean lies to the south-east. These waters form part of Uruguay's national boundary.</a:t>
            </a:r>
          </a:p>
        </p:txBody>
      </p:sp>
      <p:sp>
        <p:nvSpPr>
          <p:cNvPr id="7" name="shared_1_question_panel">
            <a:extLst xmlns:a="http://schemas.openxmlformats.org/drawingml/2006/main">
              <a:ext uri="{FF2B5EF4-FFF2-40B4-BE49-F238E27FC236}">
                <a16:creationId xmlns:a16="http://schemas.microsoft.com/office/drawing/2014/main" id="{78617655-406E-47DA-BD55-0CFCDA20D06D}"/>
              </a:ext>
            </a:extLst>
          </p:cNvPr>
          <p:cNvSpPr>
            <a:spLocks xmlns:a="http://schemas.openxmlformats.org/drawingml/2006/main" noGrp="1"/>
          </p:cNvSpPr>
          <p:nvPr/>
        </p:nvSpPr>
        <p:spPr>
          <a:xfrm xmlns:a="http://schemas.openxmlformats.org/drawingml/2006/main">
            <a:off x="571500" y="4762500"/>
            <a:ext cx="11049000" cy="1352550"/>
          </a:xfrm>
          <a:prstGeom xmlns:a="http://schemas.openxmlformats.org/drawingml/2006/main" prst="roundRect">
            <a:avLst>
              <a:gd name="adj" fmla="val 11268"/>
            </a:avLst>
          </a:prstGeom>
          <a:solidFill xmlns:a="http://schemas.openxmlformats.org/drawingml/2006/main">
            <a:srgbClr val="EAF2F8"/>
          </a:solidFill>
          <a:ln xmlns:a="http://schemas.openxmlformats.org/drawingml/2006/main" w="19050">
            <a:solidFill>
              <a:srgbClr val="7AA7C7"/>
            </a:solidFill>
            <a:prstDash val="solid"/>
          </a:ln>
        </p:spPr>
      </p:sp>
      <p:sp>
        <p:nvSpPr>
          <p:cNvPr id="8" name="shared_1_question_text">
            <a:extLst xmlns:a="http://schemas.openxmlformats.org/drawingml/2006/main">
              <a:ext uri="{FF2B5EF4-FFF2-40B4-BE49-F238E27FC236}">
                <a16:creationId xmlns:a16="http://schemas.microsoft.com/office/drawing/2014/main" id="{BBB7ECFD-D192-4605-8227-8CE0E060A8FB}"/>
              </a:ext>
            </a:extLst>
          </p:cNvPr>
          <p:cNvSpPr>
            <a:spLocks xmlns:a="http://schemas.openxmlformats.org/drawingml/2006/main" noGrp="1"/>
          </p:cNvSpPr>
          <p:nvPr/>
        </p:nvSpPr>
        <p:spPr>
          <a:xfrm xmlns:a="http://schemas.openxmlformats.org/drawingml/2006/main">
            <a:off x="819150" y="5010150"/>
            <a:ext cx="105537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300" b="1">
                <a:solidFill>
                  <a:srgbClr val="103A5E"/>
                </a:solidFill>
                <a:latin typeface="Trebuchet MS"/>
                <a:ea typeface="Trebuchet MS"/>
                <a:cs typeface="Trebuchet MS"/>
              </a:defRPr>
            </a:pPr>
            <a:r>
              <a:rPr sz="3300" b="1">
                <a:solidFill>
                  <a:srgbClr val="103A5E"/>
                </a:solidFill>
                <a:latin typeface="Trebuchet MS"/>
                <a:ea typeface="Trebuchet MS"/>
                <a:cs typeface="Trebuchet MS"/>
              </a:rPr>
              <a:t>What is the main idea of this paragraph?</a:t>
            </a:r>
          </a:p>
        </p:txBody>
      </p:sp>
    </p:spTree>
    <p:extLst>
      <p:ext uri="{BB962C8B-B14F-4D97-AF65-F5344CB8AC3E}">
        <p14:creationId xmlns:p14="http://schemas.microsoft.com/office/powerpoint/2010/main" val="499954457"/>
      </p:ext>
    </p:extLst>
  </p:cSld>
</p:sld>
</file>

<file path=ppt/slides/slide33.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33">
            <a:extLst xmlns:a="http://schemas.openxmlformats.org/drawingml/2006/main">
              <a:ext uri="{FF2B5EF4-FFF2-40B4-BE49-F238E27FC236}">
                <a16:creationId xmlns:a16="http://schemas.microsoft.com/office/drawing/2014/main" id="{F6AB86B9-EC0A-416F-8BE2-33A5C5F6307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B7F3A"/>
          </a:solidFill>
          <a:ln xmlns:a="http://schemas.openxmlformats.org/drawingml/2006/main" w="0">
            <a:noFill/>
            <a:prstDash val="solid"/>
          </a:ln>
        </p:spPr>
      </p:sp>
      <p:sp>
        <p:nvSpPr>
          <p:cNvPr id="2" name="kicker_33">
            <a:extLst xmlns:a="http://schemas.openxmlformats.org/drawingml/2006/main">
              <a:ext uri="{FF2B5EF4-FFF2-40B4-BE49-F238E27FC236}">
                <a16:creationId xmlns:a16="http://schemas.microsoft.com/office/drawing/2014/main" id="{35875354-D6DD-4042-B663-EDF125CFD69F}"/>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1B7F3A"/>
                </a:solidFill>
                <a:latin typeface="Trebuchet MS"/>
                <a:ea typeface="Trebuchet MS"/>
                <a:cs typeface="Trebuchet MS"/>
              </a:defRPr>
            </a:pPr>
            <a:r>
              <a:rPr sz="1800" b="1">
                <a:solidFill>
                  <a:srgbClr val="1B7F3A"/>
                </a:solidFill>
                <a:latin typeface="Trebuchet MS"/>
                <a:ea typeface="Trebuchet MS"/>
                <a:cs typeface="Trebuchet MS"/>
              </a:rPr>
              <a:t>SHARED READING 1 OF 5 • ANSWER</a:t>
            </a:r>
          </a:p>
        </p:txBody>
      </p:sp>
      <p:sp>
        <p:nvSpPr>
          <p:cNvPr id="3" name="title_33">
            <a:extLst xmlns:a="http://schemas.openxmlformats.org/drawingml/2006/main">
              <a:ext uri="{FF2B5EF4-FFF2-40B4-BE49-F238E27FC236}">
                <a16:creationId xmlns:a16="http://schemas.microsoft.com/office/drawing/2014/main" id="{914BE0F9-7456-43C5-ABBB-505B5ABF8E0C}"/>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Model answer</a:t>
            </a:r>
          </a:p>
        </p:txBody>
      </p:sp>
      <p:sp>
        <p:nvSpPr>
          <p:cNvPr id="4" name="page_33">
            <a:extLst xmlns:a="http://schemas.openxmlformats.org/drawingml/2006/main">
              <a:ext uri="{FF2B5EF4-FFF2-40B4-BE49-F238E27FC236}">
                <a16:creationId xmlns:a16="http://schemas.microsoft.com/office/drawing/2014/main" id="{7D8160EA-DD4D-47C3-A240-D4488FE5B3CA}"/>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33</a:t>
            </a:r>
          </a:p>
        </p:txBody>
      </p:sp>
      <p:sp>
        <p:nvSpPr>
          <p:cNvPr id="5" name="shared_1_question_repeat_panel">
            <a:extLst xmlns:a="http://schemas.openxmlformats.org/drawingml/2006/main">
              <a:ext uri="{FF2B5EF4-FFF2-40B4-BE49-F238E27FC236}">
                <a16:creationId xmlns:a16="http://schemas.microsoft.com/office/drawing/2014/main" id="{E40864B1-D50A-4BF8-AB1A-9EF15F52F38F}"/>
              </a:ext>
            </a:extLst>
          </p:cNvPr>
          <p:cNvSpPr>
            <a:spLocks xmlns:a="http://schemas.openxmlformats.org/drawingml/2006/main" noGrp="1"/>
          </p:cNvSpPr>
          <p:nvPr/>
        </p:nvSpPr>
        <p:spPr>
          <a:xfrm xmlns:a="http://schemas.openxmlformats.org/drawingml/2006/main">
            <a:off x="762000" y="1200150"/>
            <a:ext cx="10668000" cy="1009650"/>
          </a:xfrm>
          <a:prstGeom xmlns:a="http://schemas.openxmlformats.org/drawingml/2006/main" prst="roundRect">
            <a:avLst>
              <a:gd name="adj" fmla="val 15094"/>
            </a:avLst>
          </a:prstGeom>
          <a:solidFill xmlns:a="http://schemas.openxmlformats.org/drawingml/2006/main">
            <a:srgbClr val="EAF2F8"/>
          </a:solidFill>
          <a:ln xmlns:a="http://schemas.openxmlformats.org/drawingml/2006/main" w="19050">
            <a:solidFill>
              <a:srgbClr val="7AA7C7"/>
            </a:solidFill>
            <a:prstDash val="solid"/>
          </a:ln>
        </p:spPr>
      </p:sp>
      <p:sp>
        <p:nvSpPr>
          <p:cNvPr id="6" name="shared_1_question_repeat_text">
            <a:extLst xmlns:a="http://schemas.openxmlformats.org/drawingml/2006/main">
              <a:ext uri="{FF2B5EF4-FFF2-40B4-BE49-F238E27FC236}">
                <a16:creationId xmlns:a16="http://schemas.microsoft.com/office/drawing/2014/main" id="{FCB73295-3BEE-4DCA-A349-AE1C03B5BE76}"/>
              </a:ext>
            </a:extLst>
          </p:cNvPr>
          <p:cNvSpPr>
            <a:spLocks xmlns:a="http://schemas.openxmlformats.org/drawingml/2006/main" noGrp="1"/>
          </p:cNvSpPr>
          <p:nvPr/>
        </p:nvSpPr>
        <p:spPr>
          <a:xfrm xmlns:a="http://schemas.openxmlformats.org/drawingml/2006/main">
            <a:off x="971550" y="1409700"/>
            <a:ext cx="1024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700" b="1">
                <a:solidFill>
                  <a:srgbClr val="103A5E"/>
                </a:solidFill>
                <a:latin typeface="Trebuchet MS"/>
                <a:ea typeface="Trebuchet MS"/>
                <a:cs typeface="Trebuchet MS"/>
              </a:defRPr>
            </a:pPr>
            <a:r>
              <a:rPr sz="2700" b="1">
                <a:solidFill>
                  <a:srgbClr val="103A5E"/>
                </a:solidFill>
                <a:latin typeface="Trebuchet MS"/>
                <a:ea typeface="Trebuchet MS"/>
                <a:cs typeface="Trebuchet MS"/>
              </a:rPr>
              <a:t>What is the main idea of this paragraph?</a:t>
            </a:r>
          </a:p>
        </p:txBody>
      </p:sp>
      <p:sp>
        <p:nvSpPr>
          <p:cNvPr id="7" name="shared_1_answer_panel">
            <a:extLst xmlns:a="http://schemas.openxmlformats.org/drawingml/2006/main">
              <a:ext uri="{FF2B5EF4-FFF2-40B4-BE49-F238E27FC236}">
                <a16:creationId xmlns:a16="http://schemas.microsoft.com/office/drawing/2014/main" id="{7379C579-05E0-4189-86E6-DFF38A92D690}"/>
              </a:ext>
            </a:extLst>
          </p:cNvPr>
          <p:cNvSpPr>
            <a:spLocks xmlns:a="http://schemas.openxmlformats.org/drawingml/2006/main" noGrp="1"/>
          </p:cNvSpPr>
          <p:nvPr/>
        </p:nvSpPr>
        <p:spPr>
          <a:xfrm xmlns:a="http://schemas.openxmlformats.org/drawingml/2006/main">
            <a:off x="762000" y="2476500"/>
            <a:ext cx="10668000" cy="2000250"/>
          </a:xfrm>
          <a:prstGeom xmlns:a="http://schemas.openxmlformats.org/drawingml/2006/main" prst="roundRect">
            <a:avLst>
              <a:gd name="adj" fmla="val 7619"/>
            </a:avLst>
          </a:prstGeom>
          <a:solidFill xmlns:a="http://schemas.openxmlformats.org/drawingml/2006/main">
            <a:srgbClr val="EAF7EE"/>
          </a:solidFill>
          <a:ln xmlns:a="http://schemas.openxmlformats.org/drawingml/2006/main" w="19050">
            <a:solidFill>
              <a:srgbClr val="70A77C"/>
            </a:solidFill>
            <a:prstDash val="solid"/>
          </a:ln>
        </p:spPr>
      </p:sp>
      <p:sp>
        <p:nvSpPr>
          <p:cNvPr id="8" name="shared_1_answer_text">
            <a:extLst xmlns:a="http://schemas.openxmlformats.org/drawingml/2006/main">
              <a:ext uri="{FF2B5EF4-FFF2-40B4-BE49-F238E27FC236}">
                <a16:creationId xmlns:a16="http://schemas.microsoft.com/office/drawing/2014/main" id="{C89FB2D9-DF70-4194-97AD-9295F6713FC2}"/>
              </a:ext>
            </a:extLst>
          </p:cNvPr>
          <p:cNvSpPr>
            <a:spLocks xmlns:a="http://schemas.openxmlformats.org/drawingml/2006/main" noGrp="1"/>
          </p:cNvSpPr>
          <p:nvPr/>
        </p:nvSpPr>
        <p:spPr>
          <a:xfrm xmlns:a="http://schemas.openxmlformats.org/drawingml/2006/main">
            <a:off x="1066800" y="2781300"/>
            <a:ext cx="100584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750" b="1">
                <a:solidFill>
                  <a:srgbClr val="184D2B"/>
                </a:solidFill>
                <a:latin typeface="Trebuchet MS"/>
                <a:ea typeface="Trebuchet MS"/>
                <a:cs typeface="Trebuchet MS"/>
              </a:defRPr>
            </a:pPr>
            <a:r>
              <a:rPr sz="3750" b="1">
                <a:solidFill>
                  <a:srgbClr val="184D2B"/>
                </a:solidFill>
                <a:latin typeface="Trebuchet MS"/>
                <a:ea typeface="Trebuchet MS"/>
                <a:cs typeface="Trebuchet MS"/>
              </a:rPr>
              <a:t>Water helps form Uruguay's southern and south-eastern boundaries.</a:t>
            </a:r>
          </a:p>
        </p:txBody>
      </p:sp>
      <p:sp>
        <p:nvSpPr>
          <p:cNvPr id="9" name="shared_1_evidence_panel">
            <a:extLst xmlns:a="http://schemas.openxmlformats.org/drawingml/2006/main">
              <a:ext uri="{FF2B5EF4-FFF2-40B4-BE49-F238E27FC236}">
                <a16:creationId xmlns:a16="http://schemas.microsoft.com/office/drawing/2014/main" id="{8FF35AE7-9534-4CD7-8181-7B155D7F1B58}"/>
              </a:ext>
            </a:extLst>
          </p:cNvPr>
          <p:cNvSpPr>
            <a:spLocks xmlns:a="http://schemas.openxmlformats.org/drawingml/2006/main" noGrp="1"/>
          </p:cNvSpPr>
          <p:nvPr/>
        </p:nvSpPr>
        <p:spPr>
          <a:xfrm xmlns:a="http://schemas.openxmlformats.org/drawingml/2006/main">
            <a:off x="1143000" y="4762500"/>
            <a:ext cx="990600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19050">
            <a:solidFill>
              <a:srgbClr val="CBD5E1"/>
            </a:solidFill>
            <a:prstDash val="solid"/>
          </a:ln>
        </p:spPr>
      </p:sp>
      <p:sp>
        <p:nvSpPr>
          <p:cNvPr id="10" name="shared_1_evidence_text">
            <a:extLst xmlns:a="http://schemas.openxmlformats.org/drawingml/2006/main">
              <a:ext uri="{FF2B5EF4-FFF2-40B4-BE49-F238E27FC236}">
                <a16:creationId xmlns:a16="http://schemas.microsoft.com/office/drawing/2014/main" id="{2A64DEAD-1CA0-4BAF-BC1B-1D87581A17FA}"/>
              </a:ext>
            </a:extLst>
          </p:cNvPr>
          <p:cNvSpPr>
            <a:spLocks xmlns:a="http://schemas.openxmlformats.org/drawingml/2006/main" noGrp="1"/>
          </p:cNvSpPr>
          <p:nvPr/>
        </p:nvSpPr>
        <p:spPr>
          <a:xfrm xmlns:a="http://schemas.openxmlformats.org/drawingml/2006/main">
            <a:off x="1371600" y="4991100"/>
            <a:ext cx="9448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700" b="0">
                <a:solidFill>
                  <a:srgbClr val="111827"/>
                </a:solidFill>
                <a:latin typeface="Trebuchet MS"/>
                <a:ea typeface="Trebuchet MS"/>
                <a:cs typeface="Trebuchet MS"/>
              </a:defRPr>
            </a:pPr>
            <a:r>
              <a:rPr sz="2700" b="0">
                <a:solidFill>
                  <a:srgbClr val="111827"/>
                </a:solidFill>
                <a:latin typeface="Trebuchet MS"/>
                <a:ea typeface="Trebuchet MS"/>
                <a:cs typeface="Trebuchet MS"/>
              </a:rPr>
              <a:t>The paragraph names the Río de la Plata to the south and the Atlantic Ocean to the south-east.</a:t>
            </a:r>
          </a:p>
        </p:txBody>
      </p:sp>
    </p:spTree>
    <p:extLst>
      <p:ext uri="{BB962C8B-B14F-4D97-AF65-F5344CB8AC3E}">
        <p14:creationId xmlns:p14="http://schemas.microsoft.com/office/powerpoint/2010/main" val="286226140"/>
      </p:ext>
    </p:extLst>
  </p:cSld>
</p:sld>
</file>

<file path=ppt/slides/slide34.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section_bar_34">
            <a:extLst xmlns:a="http://schemas.openxmlformats.org/drawingml/2006/main">
              <a:ext uri="{FF2B5EF4-FFF2-40B4-BE49-F238E27FC236}">
                <a16:creationId xmlns:a16="http://schemas.microsoft.com/office/drawing/2014/main" id="{6569A913-DC42-46B0-88E8-EA040C202C7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34">
            <a:extLst xmlns:a="http://schemas.openxmlformats.org/drawingml/2006/main">
              <a:ext uri="{FF2B5EF4-FFF2-40B4-BE49-F238E27FC236}">
                <a16:creationId xmlns:a16="http://schemas.microsoft.com/office/drawing/2014/main" id="{B2310288-1D53-4509-87D0-39473499BD00}"/>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005A9C"/>
                </a:solidFill>
                <a:latin typeface="Trebuchet MS"/>
                <a:ea typeface="Trebuchet MS"/>
                <a:cs typeface="Trebuchet MS"/>
              </a:defRPr>
            </a:pPr>
            <a:r>
              <a:rPr sz="1800" b="1">
                <a:solidFill>
                  <a:srgbClr val="005A9C"/>
                </a:solidFill>
                <a:latin typeface="Trebuchet MS"/>
                <a:ea typeface="Trebuchet MS"/>
                <a:cs typeface="Trebuchet MS"/>
              </a:rPr>
              <a:t>SHARED READING 2 OF 5 • QUESTION</a:t>
            </a:r>
          </a:p>
        </p:txBody>
      </p:sp>
      <p:sp>
        <p:nvSpPr>
          <p:cNvPr id="3" name="title_34">
            <a:extLst xmlns:a="http://schemas.openxmlformats.org/drawingml/2006/main">
              <a:ext uri="{FF2B5EF4-FFF2-40B4-BE49-F238E27FC236}">
                <a16:creationId xmlns:a16="http://schemas.microsoft.com/office/drawing/2014/main" id="{C5D4455F-4EF4-4B3B-8227-B910308A049F}"/>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Grasslands support grazing animals</a:t>
            </a:r>
          </a:p>
        </p:txBody>
      </p:sp>
      <p:sp>
        <p:nvSpPr>
          <p:cNvPr id="4" name="page_34">
            <a:extLst xmlns:a="http://schemas.openxmlformats.org/drawingml/2006/main">
              <a:ext uri="{FF2B5EF4-FFF2-40B4-BE49-F238E27FC236}">
                <a16:creationId xmlns:a16="http://schemas.microsoft.com/office/drawing/2014/main" id="{13793178-2CB1-46F6-89F7-760CDA986912}"/>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34</a:t>
            </a:r>
          </a:p>
        </p:txBody>
      </p:sp>
      <p:sp>
        <p:nvSpPr>
          <p:cNvPr id="5" name="shared_2_paragraph_panel">
            <a:extLst xmlns:a="http://schemas.openxmlformats.org/drawingml/2006/main">
              <a:ext uri="{FF2B5EF4-FFF2-40B4-BE49-F238E27FC236}">
                <a16:creationId xmlns:a16="http://schemas.microsoft.com/office/drawing/2014/main" id="{A97E9A49-6564-4FD0-BE12-CEF5B3F4A4F2}"/>
              </a:ext>
            </a:extLst>
          </p:cNvPr>
          <p:cNvSpPr>
            <a:spLocks xmlns:a="http://schemas.openxmlformats.org/drawingml/2006/main" noGrp="1"/>
          </p:cNvSpPr>
          <p:nvPr/>
        </p:nvSpPr>
        <p:spPr>
          <a:xfrm xmlns:a="http://schemas.openxmlformats.org/drawingml/2006/main">
            <a:off x="571500" y="1200150"/>
            <a:ext cx="11049000" cy="3333750"/>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CBD5E1"/>
            </a:solidFill>
            <a:prstDash val="solid"/>
          </a:ln>
        </p:spPr>
      </p:sp>
      <p:sp>
        <p:nvSpPr>
          <p:cNvPr id="6" name="shared_2_paragraph_text">
            <a:extLst xmlns:a="http://schemas.openxmlformats.org/drawingml/2006/main">
              <a:ext uri="{FF2B5EF4-FFF2-40B4-BE49-F238E27FC236}">
                <a16:creationId xmlns:a16="http://schemas.microsoft.com/office/drawing/2014/main" id="{79BBCFFA-19D0-44AB-8371-95983F352A65}"/>
              </a:ext>
            </a:extLst>
          </p:cNvPr>
          <p:cNvSpPr>
            <a:spLocks xmlns:a="http://schemas.openxmlformats.org/drawingml/2006/main" noGrp="1"/>
          </p:cNvSpPr>
          <p:nvPr/>
        </p:nvSpPr>
        <p:spPr>
          <a:xfrm xmlns:a="http://schemas.openxmlformats.org/drawingml/2006/main">
            <a:off x="895350" y="1524000"/>
            <a:ext cx="10401300" cy="268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0">
                <a:solidFill>
                  <a:srgbClr val="111827"/>
                </a:solidFill>
                <a:latin typeface="Trebuchet MS"/>
                <a:ea typeface="Trebuchet MS"/>
                <a:cs typeface="Trebuchet MS"/>
              </a:defRPr>
            </a:pPr>
            <a:r>
              <a:rPr sz="3000" b="0">
                <a:solidFill>
                  <a:srgbClr val="111827"/>
                </a:solidFill>
                <a:latin typeface="Trebuchet MS"/>
                <a:ea typeface="Trebuchet MS"/>
                <a:cs typeface="Trebuchet MS"/>
              </a:rPr>
              <a:t>Natural grasslands, also called pastizales, are common across Uruguay. Many grassy areas are used as pasture, where cattle and sheep graze. The word pasture is more exact than land because it tells the reader how the area is used.</a:t>
            </a:r>
          </a:p>
        </p:txBody>
      </p:sp>
      <p:sp>
        <p:nvSpPr>
          <p:cNvPr id="7" name="shared_2_question_panel">
            <a:extLst xmlns:a="http://schemas.openxmlformats.org/drawingml/2006/main">
              <a:ext uri="{FF2B5EF4-FFF2-40B4-BE49-F238E27FC236}">
                <a16:creationId xmlns:a16="http://schemas.microsoft.com/office/drawing/2014/main" id="{910EFBDD-7DA3-492A-BB45-3369E432C2C6}"/>
              </a:ext>
            </a:extLst>
          </p:cNvPr>
          <p:cNvSpPr>
            <a:spLocks xmlns:a="http://schemas.openxmlformats.org/drawingml/2006/main" noGrp="1"/>
          </p:cNvSpPr>
          <p:nvPr/>
        </p:nvSpPr>
        <p:spPr>
          <a:xfrm xmlns:a="http://schemas.openxmlformats.org/drawingml/2006/main">
            <a:off x="571500" y="4762500"/>
            <a:ext cx="11049000" cy="1352550"/>
          </a:xfrm>
          <a:prstGeom xmlns:a="http://schemas.openxmlformats.org/drawingml/2006/main" prst="roundRect">
            <a:avLst>
              <a:gd name="adj" fmla="val 11268"/>
            </a:avLst>
          </a:prstGeom>
          <a:solidFill xmlns:a="http://schemas.openxmlformats.org/drawingml/2006/main">
            <a:srgbClr val="EAF2F8"/>
          </a:solidFill>
          <a:ln xmlns:a="http://schemas.openxmlformats.org/drawingml/2006/main" w="19050">
            <a:solidFill>
              <a:srgbClr val="7AA7C7"/>
            </a:solidFill>
            <a:prstDash val="solid"/>
          </a:ln>
        </p:spPr>
      </p:sp>
      <p:sp>
        <p:nvSpPr>
          <p:cNvPr id="8" name="shared_2_question_text">
            <a:extLst xmlns:a="http://schemas.openxmlformats.org/drawingml/2006/main">
              <a:ext uri="{FF2B5EF4-FFF2-40B4-BE49-F238E27FC236}">
                <a16:creationId xmlns:a16="http://schemas.microsoft.com/office/drawing/2014/main" id="{65F97D76-D1B7-4806-B73B-D2AF444B50D2}"/>
              </a:ext>
            </a:extLst>
          </p:cNvPr>
          <p:cNvSpPr>
            <a:spLocks xmlns:a="http://schemas.openxmlformats.org/drawingml/2006/main" noGrp="1"/>
          </p:cNvSpPr>
          <p:nvPr/>
        </p:nvSpPr>
        <p:spPr>
          <a:xfrm xmlns:a="http://schemas.openxmlformats.org/drawingml/2006/main">
            <a:off x="819150" y="5010150"/>
            <a:ext cx="105537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300" b="1">
                <a:solidFill>
                  <a:srgbClr val="103A5E"/>
                </a:solidFill>
                <a:latin typeface="Trebuchet MS"/>
                <a:ea typeface="Trebuchet MS"/>
                <a:cs typeface="Trebuchet MS"/>
              </a:defRPr>
            </a:pPr>
            <a:r>
              <a:rPr sz="3300" b="1">
                <a:solidFill>
                  <a:srgbClr val="103A5E"/>
                </a:solidFill>
                <a:latin typeface="Trebuchet MS"/>
                <a:ea typeface="Trebuchet MS"/>
                <a:cs typeface="Trebuchet MS"/>
              </a:rPr>
              <a:t>Why is pasture more precise than land in this paragraph?</a:t>
            </a:r>
          </a:p>
        </p:txBody>
      </p:sp>
    </p:spTree>
    <p:extLst>
      <p:ext uri="{BB962C8B-B14F-4D97-AF65-F5344CB8AC3E}">
        <p14:creationId xmlns:p14="http://schemas.microsoft.com/office/powerpoint/2010/main" val="2096742111"/>
      </p:ext>
    </p:extLst>
  </p:cSld>
</p:sld>
</file>

<file path=ppt/slides/slide35.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35">
            <a:extLst xmlns:a="http://schemas.openxmlformats.org/drawingml/2006/main">
              <a:ext uri="{FF2B5EF4-FFF2-40B4-BE49-F238E27FC236}">
                <a16:creationId xmlns:a16="http://schemas.microsoft.com/office/drawing/2014/main" id="{3A841ACC-D22D-41EF-AF4C-C7BE581B0AD3}"/>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B7F3A"/>
          </a:solidFill>
          <a:ln xmlns:a="http://schemas.openxmlformats.org/drawingml/2006/main" w="0">
            <a:noFill/>
            <a:prstDash val="solid"/>
          </a:ln>
        </p:spPr>
      </p:sp>
      <p:sp>
        <p:nvSpPr>
          <p:cNvPr id="2" name="kicker_35">
            <a:extLst xmlns:a="http://schemas.openxmlformats.org/drawingml/2006/main">
              <a:ext uri="{FF2B5EF4-FFF2-40B4-BE49-F238E27FC236}">
                <a16:creationId xmlns:a16="http://schemas.microsoft.com/office/drawing/2014/main" id="{18BFDFE4-10AA-40F7-9FEB-F8203F55449D}"/>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1B7F3A"/>
                </a:solidFill>
                <a:latin typeface="Trebuchet MS"/>
                <a:ea typeface="Trebuchet MS"/>
                <a:cs typeface="Trebuchet MS"/>
              </a:defRPr>
            </a:pPr>
            <a:r>
              <a:rPr sz="1800" b="1">
                <a:solidFill>
                  <a:srgbClr val="1B7F3A"/>
                </a:solidFill>
                <a:latin typeface="Trebuchet MS"/>
                <a:ea typeface="Trebuchet MS"/>
                <a:cs typeface="Trebuchet MS"/>
              </a:rPr>
              <a:t>SHARED READING 2 OF 5 • ANSWER</a:t>
            </a:r>
          </a:p>
        </p:txBody>
      </p:sp>
      <p:sp>
        <p:nvSpPr>
          <p:cNvPr id="3" name="title_35">
            <a:extLst xmlns:a="http://schemas.openxmlformats.org/drawingml/2006/main">
              <a:ext uri="{FF2B5EF4-FFF2-40B4-BE49-F238E27FC236}">
                <a16:creationId xmlns:a16="http://schemas.microsoft.com/office/drawing/2014/main" id="{D65BEBF7-BC9E-4360-9F45-AFFBCF01042D}"/>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Model answer</a:t>
            </a:r>
          </a:p>
        </p:txBody>
      </p:sp>
      <p:sp>
        <p:nvSpPr>
          <p:cNvPr id="4" name="page_35">
            <a:extLst xmlns:a="http://schemas.openxmlformats.org/drawingml/2006/main">
              <a:ext uri="{FF2B5EF4-FFF2-40B4-BE49-F238E27FC236}">
                <a16:creationId xmlns:a16="http://schemas.microsoft.com/office/drawing/2014/main" id="{91BE650F-706B-4EC0-824F-83EDD187A522}"/>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35</a:t>
            </a:r>
          </a:p>
        </p:txBody>
      </p:sp>
      <p:sp>
        <p:nvSpPr>
          <p:cNvPr id="5" name="shared_2_question_repeat_panel">
            <a:extLst xmlns:a="http://schemas.openxmlformats.org/drawingml/2006/main">
              <a:ext uri="{FF2B5EF4-FFF2-40B4-BE49-F238E27FC236}">
                <a16:creationId xmlns:a16="http://schemas.microsoft.com/office/drawing/2014/main" id="{4ECDAD3A-239F-49D6-934E-8689A1373928}"/>
              </a:ext>
            </a:extLst>
          </p:cNvPr>
          <p:cNvSpPr>
            <a:spLocks xmlns:a="http://schemas.openxmlformats.org/drawingml/2006/main" noGrp="1"/>
          </p:cNvSpPr>
          <p:nvPr/>
        </p:nvSpPr>
        <p:spPr>
          <a:xfrm xmlns:a="http://schemas.openxmlformats.org/drawingml/2006/main">
            <a:off x="762000" y="1200150"/>
            <a:ext cx="10668000" cy="1009650"/>
          </a:xfrm>
          <a:prstGeom xmlns:a="http://schemas.openxmlformats.org/drawingml/2006/main" prst="roundRect">
            <a:avLst>
              <a:gd name="adj" fmla="val 15094"/>
            </a:avLst>
          </a:prstGeom>
          <a:solidFill xmlns:a="http://schemas.openxmlformats.org/drawingml/2006/main">
            <a:srgbClr val="EAF2F8"/>
          </a:solidFill>
          <a:ln xmlns:a="http://schemas.openxmlformats.org/drawingml/2006/main" w="19050">
            <a:solidFill>
              <a:srgbClr val="7AA7C7"/>
            </a:solidFill>
            <a:prstDash val="solid"/>
          </a:ln>
        </p:spPr>
      </p:sp>
      <p:sp>
        <p:nvSpPr>
          <p:cNvPr id="6" name="shared_2_question_repeat_text">
            <a:extLst xmlns:a="http://schemas.openxmlformats.org/drawingml/2006/main">
              <a:ext uri="{FF2B5EF4-FFF2-40B4-BE49-F238E27FC236}">
                <a16:creationId xmlns:a16="http://schemas.microsoft.com/office/drawing/2014/main" id="{7F028355-36D6-4C93-96FA-91FC019EC900}"/>
              </a:ext>
            </a:extLst>
          </p:cNvPr>
          <p:cNvSpPr>
            <a:spLocks xmlns:a="http://schemas.openxmlformats.org/drawingml/2006/main" noGrp="1"/>
          </p:cNvSpPr>
          <p:nvPr/>
        </p:nvSpPr>
        <p:spPr>
          <a:xfrm xmlns:a="http://schemas.openxmlformats.org/drawingml/2006/main">
            <a:off x="971550" y="1409700"/>
            <a:ext cx="1024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700" b="1">
                <a:solidFill>
                  <a:srgbClr val="103A5E"/>
                </a:solidFill>
                <a:latin typeface="Trebuchet MS"/>
                <a:ea typeface="Trebuchet MS"/>
                <a:cs typeface="Trebuchet MS"/>
              </a:defRPr>
            </a:pPr>
            <a:r>
              <a:rPr sz="2700" b="1">
                <a:solidFill>
                  <a:srgbClr val="103A5E"/>
                </a:solidFill>
                <a:latin typeface="Trebuchet MS"/>
                <a:ea typeface="Trebuchet MS"/>
                <a:cs typeface="Trebuchet MS"/>
              </a:rPr>
              <a:t>Why is pasture more precise than land in this paragraph?</a:t>
            </a:r>
          </a:p>
        </p:txBody>
      </p:sp>
      <p:sp>
        <p:nvSpPr>
          <p:cNvPr id="7" name="shared_2_answer_panel">
            <a:extLst xmlns:a="http://schemas.openxmlformats.org/drawingml/2006/main">
              <a:ext uri="{FF2B5EF4-FFF2-40B4-BE49-F238E27FC236}">
                <a16:creationId xmlns:a16="http://schemas.microsoft.com/office/drawing/2014/main" id="{F7D43417-D202-4655-AD5C-C69797870AE5}"/>
              </a:ext>
            </a:extLst>
          </p:cNvPr>
          <p:cNvSpPr>
            <a:spLocks xmlns:a="http://schemas.openxmlformats.org/drawingml/2006/main" noGrp="1"/>
          </p:cNvSpPr>
          <p:nvPr/>
        </p:nvSpPr>
        <p:spPr>
          <a:xfrm xmlns:a="http://schemas.openxmlformats.org/drawingml/2006/main">
            <a:off x="762000" y="2476500"/>
            <a:ext cx="10668000" cy="2000250"/>
          </a:xfrm>
          <a:prstGeom xmlns:a="http://schemas.openxmlformats.org/drawingml/2006/main" prst="roundRect">
            <a:avLst>
              <a:gd name="adj" fmla="val 7619"/>
            </a:avLst>
          </a:prstGeom>
          <a:solidFill xmlns:a="http://schemas.openxmlformats.org/drawingml/2006/main">
            <a:srgbClr val="EAF7EE"/>
          </a:solidFill>
          <a:ln xmlns:a="http://schemas.openxmlformats.org/drawingml/2006/main" w="19050">
            <a:solidFill>
              <a:srgbClr val="70A77C"/>
            </a:solidFill>
            <a:prstDash val="solid"/>
          </a:ln>
        </p:spPr>
      </p:sp>
      <p:sp>
        <p:nvSpPr>
          <p:cNvPr id="8" name="shared_2_answer_text">
            <a:extLst xmlns:a="http://schemas.openxmlformats.org/drawingml/2006/main">
              <a:ext uri="{FF2B5EF4-FFF2-40B4-BE49-F238E27FC236}">
                <a16:creationId xmlns:a16="http://schemas.microsoft.com/office/drawing/2014/main" id="{420C3D94-0891-4A4E-9854-7247B8C2A61B}"/>
              </a:ext>
            </a:extLst>
          </p:cNvPr>
          <p:cNvSpPr>
            <a:spLocks xmlns:a="http://schemas.openxmlformats.org/drawingml/2006/main" noGrp="1"/>
          </p:cNvSpPr>
          <p:nvPr/>
        </p:nvSpPr>
        <p:spPr>
          <a:xfrm xmlns:a="http://schemas.openxmlformats.org/drawingml/2006/main">
            <a:off x="1066800" y="2781300"/>
            <a:ext cx="100584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750" b="1">
                <a:solidFill>
                  <a:srgbClr val="184D2B"/>
                </a:solidFill>
                <a:latin typeface="Trebuchet MS"/>
                <a:ea typeface="Trebuchet MS"/>
                <a:cs typeface="Trebuchet MS"/>
              </a:defRPr>
            </a:pPr>
            <a:r>
              <a:rPr sz="3750" b="1">
                <a:solidFill>
                  <a:srgbClr val="184D2B"/>
                </a:solidFill>
                <a:latin typeface="Trebuchet MS"/>
                <a:ea typeface="Trebuchet MS"/>
                <a:cs typeface="Trebuchet MS"/>
              </a:rPr>
              <a:t>Pasture tells us the grassy land is used for farm animals to graze.</a:t>
            </a:r>
          </a:p>
        </p:txBody>
      </p:sp>
      <p:sp>
        <p:nvSpPr>
          <p:cNvPr id="9" name="shared_2_evidence_panel">
            <a:extLst xmlns:a="http://schemas.openxmlformats.org/drawingml/2006/main">
              <a:ext uri="{FF2B5EF4-FFF2-40B4-BE49-F238E27FC236}">
                <a16:creationId xmlns:a16="http://schemas.microsoft.com/office/drawing/2014/main" id="{25ACFB8D-6FB4-4938-B7B1-6D4B7119E78D}"/>
              </a:ext>
            </a:extLst>
          </p:cNvPr>
          <p:cNvSpPr>
            <a:spLocks xmlns:a="http://schemas.openxmlformats.org/drawingml/2006/main" noGrp="1"/>
          </p:cNvSpPr>
          <p:nvPr/>
        </p:nvSpPr>
        <p:spPr>
          <a:xfrm xmlns:a="http://schemas.openxmlformats.org/drawingml/2006/main">
            <a:off x="1143000" y="4762500"/>
            <a:ext cx="990600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19050">
            <a:solidFill>
              <a:srgbClr val="CBD5E1"/>
            </a:solidFill>
            <a:prstDash val="solid"/>
          </a:ln>
        </p:spPr>
      </p:sp>
      <p:sp>
        <p:nvSpPr>
          <p:cNvPr id="10" name="shared_2_evidence_text">
            <a:extLst xmlns:a="http://schemas.openxmlformats.org/drawingml/2006/main">
              <a:ext uri="{FF2B5EF4-FFF2-40B4-BE49-F238E27FC236}">
                <a16:creationId xmlns:a16="http://schemas.microsoft.com/office/drawing/2014/main" id="{67716DDE-56DA-4B23-A186-E0F0AAB1E41F}"/>
              </a:ext>
            </a:extLst>
          </p:cNvPr>
          <p:cNvSpPr>
            <a:spLocks xmlns:a="http://schemas.openxmlformats.org/drawingml/2006/main" noGrp="1"/>
          </p:cNvSpPr>
          <p:nvPr/>
        </p:nvSpPr>
        <p:spPr>
          <a:xfrm xmlns:a="http://schemas.openxmlformats.org/drawingml/2006/main">
            <a:off x="1371600" y="4991100"/>
            <a:ext cx="9448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700" b="0">
                <a:solidFill>
                  <a:srgbClr val="111827"/>
                </a:solidFill>
                <a:latin typeface="Trebuchet MS"/>
                <a:ea typeface="Trebuchet MS"/>
                <a:cs typeface="Trebuchet MS"/>
              </a:defRPr>
            </a:pPr>
            <a:r>
              <a:rPr sz="2700" b="0">
                <a:solidFill>
                  <a:srgbClr val="111827"/>
                </a:solidFill>
                <a:latin typeface="Trebuchet MS"/>
                <a:ea typeface="Trebuchet MS"/>
                <a:cs typeface="Trebuchet MS"/>
              </a:rPr>
              <a:t>The paragraph directly explains the land's use, not only what it looks like.</a:t>
            </a:r>
          </a:p>
        </p:txBody>
      </p:sp>
    </p:spTree>
    <p:extLst>
      <p:ext uri="{BB962C8B-B14F-4D97-AF65-F5344CB8AC3E}">
        <p14:creationId xmlns:p14="http://schemas.microsoft.com/office/powerpoint/2010/main" val="1284274498"/>
      </p:ext>
    </p:extLst>
  </p:cSld>
</p:sld>
</file>

<file path=ppt/slides/slide36.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section_bar_36">
            <a:extLst xmlns:a="http://schemas.openxmlformats.org/drawingml/2006/main">
              <a:ext uri="{FF2B5EF4-FFF2-40B4-BE49-F238E27FC236}">
                <a16:creationId xmlns:a16="http://schemas.microsoft.com/office/drawing/2014/main" id="{FD5289B8-9B19-4585-B214-C07B0DE171C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36">
            <a:extLst xmlns:a="http://schemas.openxmlformats.org/drawingml/2006/main">
              <a:ext uri="{FF2B5EF4-FFF2-40B4-BE49-F238E27FC236}">
                <a16:creationId xmlns:a16="http://schemas.microsoft.com/office/drawing/2014/main" id="{161BB0CC-6F08-4197-A670-4CF1A6F513C6}"/>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005A9C"/>
                </a:solidFill>
                <a:latin typeface="Trebuchet MS"/>
                <a:ea typeface="Trebuchet MS"/>
                <a:cs typeface="Trebuchet MS"/>
              </a:defRPr>
            </a:pPr>
            <a:r>
              <a:rPr sz="1800" b="1">
                <a:solidFill>
                  <a:srgbClr val="005A9C"/>
                </a:solidFill>
                <a:latin typeface="Trebuchet MS"/>
                <a:ea typeface="Trebuchet MS"/>
                <a:cs typeface="Trebuchet MS"/>
              </a:rPr>
              <a:t>SHARED READING 3 OF 5 • QUESTION</a:t>
            </a:r>
          </a:p>
        </p:txBody>
      </p:sp>
      <p:sp>
        <p:nvSpPr>
          <p:cNvPr id="3" name="title_36">
            <a:extLst xmlns:a="http://schemas.openxmlformats.org/drawingml/2006/main">
              <a:ext uri="{FF2B5EF4-FFF2-40B4-BE49-F238E27FC236}">
                <a16:creationId xmlns:a16="http://schemas.microsoft.com/office/drawing/2014/main" id="{23090D8A-466C-4B2E-8C69-08A35B9E3B98}"/>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Farms produce animals and crops</a:t>
            </a:r>
          </a:p>
        </p:txBody>
      </p:sp>
      <p:sp>
        <p:nvSpPr>
          <p:cNvPr id="4" name="page_36">
            <a:extLst xmlns:a="http://schemas.openxmlformats.org/drawingml/2006/main">
              <a:ext uri="{FF2B5EF4-FFF2-40B4-BE49-F238E27FC236}">
                <a16:creationId xmlns:a16="http://schemas.microsoft.com/office/drawing/2014/main" id="{5A5FF84B-30BA-4083-9CAA-D85617483B4D}"/>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36</a:t>
            </a:r>
          </a:p>
        </p:txBody>
      </p:sp>
      <p:sp>
        <p:nvSpPr>
          <p:cNvPr id="5" name="shared_3_paragraph_panel">
            <a:extLst xmlns:a="http://schemas.openxmlformats.org/drawingml/2006/main">
              <a:ext uri="{FF2B5EF4-FFF2-40B4-BE49-F238E27FC236}">
                <a16:creationId xmlns:a16="http://schemas.microsoft.com/office/drawing/2014/main" id="{5C6580A1-2FBE-4A1D-B261-505ED8913014}"/>
              </a:ext>
            </a:extLst>
          </p:cNvPr>
          <p:cNvSpPr>
            <a:spLocks xmlns:a="http://schemas.openxmlformats.org/drawingml/2006/main" noGrp="1"/>
          </p:cNvSpPr>
          <p:nvPr/>
        </p:nvSpPr>
        <p:spPr>
          <a:xfrm xmlns:a="http://schemas.openxmlformats.org/drawingml/2006/main">
            <a:off x="571500" y="1200150"/>
            <a:ext cx="11049000" cy="3333750"/>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CBD5E1"/>
            </a:solidFill>
            <a:prstDash val="solid"/>
          </a:ln>
        </p:spPr>
      </p:sp>
      <p:sp>
        <p:nvSpPr>
          <p:cNvPr id="6" name="shared_3_paragraph_text">
            <a:extLst xmlns:a="http://schemas.openxmlformats.org/drawingml/2006/main">
              <a:ext uri="{FF2B5EF4-FFF2-40B4-BE49-F238E27FC236}">
                <a16:creationId xmlns:a16="http://schemas.microsoft.com/office/drawing/2014/main" id="{31E74541-0EE7-4C1D-A8DA-D7F000F3414F}"/>
              </a:ext>
            </a:extLst>
          </p:cNvPr>
          <p:cNvSpPr>
            <a:spLocks xmlns:a="http://schemas.openxmlformats.org/drawingml/2006/main" noGrp="1"/>
          </p:cNvSpPr>
          <p:nvPr/>
        </p:nvSpPr>
        <p:spPr>
          <a:xfrm xmlns:a="http://schemas.openxmlformats.org/drawingml/2006/main">
            <a:off x="895350" y="1524000"/>
            <a:ext cx="10401300" cy="268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0">
                <a:solidFill>
                  <a:srgbClr val="111827"/>
                </a:solidFill>
                <a:latin typeface="Trebuchet MS"/>
                <a:ea typeface="Trebuchet MS"/>
                <a:cs typeface="Trebuchet MS"/>
              </a:defRPr>
            </a:pPr>
            <a:r>
              <a:rPr sz="3000" b="0">
                <a:solidFill>
                  <a:srgbClr val="111827"/>
                </a:solidFill>
                <a:latin typeface="Trebuchet MS"/>
                <a:ea typeface="Trebuchet MS"/>
                <a:cs typeface="Trebuchet MS"/>
              </a:rPr>
              <a:t>Uruguayan farms raise cattle and sheep, while other farms grow crops such as rice, wheat and soybeans. These are two types of agricultural production: livestock farming and crop farming. Precise category words help readers organise the facts.</a:t>
            </a:r>
          </a:p>
        </p:txBody>
      </p:sp>
      <p:sp>
        <p:nvSpPr>
          <p:cNvPr id="7" name="shared_3_question_panel">
            <a:extLst xmlns:a="http://schemas.openxmlformats.org/drawingml/2006/main">
              <a:ext uri="{FF2B5EF4-FFF2-40B4-BE49-F238E27FC236}">
                <a16:creationId xmlns:a16="http://schemas.microsoft.com/office/drawing/2014/main" id="{F73E7F58-14EB-4D6D-B0D4-B9F36C0DB60E}"/>
              </a:ext>
            </a:extLst>
          </p:cNvPr>
          <p:cNvSpPr>
            <a:spLocks xmlns:a="http://schemas.openxmlformats.org/drawingml/2006/main" noGrp="1"/>
          </p:cNvSpPr>
          <p:nvPr/>
        </p:nvSpPr>
        <p:spPr>
          <a:xfrm xmlns:a="http://schemas.openxmlformats.org/drawingml/2006/main">
            <a:off x="571500" y="4762500"/>
            <a:ext cx="11049000" cy="1352550"/>
          </a:xfrm>
          <a:prstGeom xmlns:a="http://schemas.openxmlformats.org/drawingml/2006/main" prst="roundRect">
            <a:avLst>
              <a:gd name="adj" fmla="val 11268"/>
            </a:avLst>
          </a:prstGeom>
          <a:solidFill xmlns:a="http://schemas.openxmlformats.org/drawingml/2006/main">
            <a:srgbClr val="EAF2F8"/>
          </a:solidFill>
          <a:ln xmlns:a="http://schemas.openxmlformats.org/drawingml/2006/main" w="19050">
            <a:solidFill>
              <a:srgbClr val="7AA7C7"/>
            </a:solidFill>
            <a:prstDash val="solid"/>
          </a:ln>
        </p:spPr>
      </p:sp>
      <p:sp>
        <p:nvSpPr>
          <p:cNvPr id="8" name="shared_3_question_text">
            <a:extLst xmlns:a="http://schemas.openxmlformats.org/drawingml/2006/main">
              <a:ext uri="{FF2B5EF4-FFF2-40B4-BE49-F238E27FC236}">
                <a16:creationId xmlns:a16="http://schemas.microsoft.com/office/drawing/2014/main" id="{BC3BACE6-72E7-424A-A6B9-3E698E13B20F}"/>
              </a:ext>
            </a:extLst>
          </p:cNvPr>
          <p:cNvSpPr>
            <a:spLocks xmlns:a="http://schemas.openxmlformats.org/drawingml/2006/main" noGrp="1"/>
          </p:cNvSpPr>
          <p:nvPr/>
        </p:nvSpPr>
        <p:spPr>
          <a:xfrm xmlns:a="http://schemas.openxmlformats.org/drawingml/2006/main">
            <a:off x="819150" y="5010150"/>
            <a:ext cx="105537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300" b="1">
                <a:solidFill>
                  <a:srgbClr val="103A5E"/>
                </a:solidFill>
                <a:latin typeface="Trebuchet MS"/>
                <a:ea typeface="Trebuchet MS"/>
                <a:cs typeface="Trebuchet MS"/>
              </a:defRPr>
            </a:pPr>
            <a:r>
              <a:rPr sz="3300" b="1">
                <a:solidFill>
                  <a:srgbClr val="103A5E"/>
                </a:solidFill>
                <a:latin typeface="Trebuchet MS"/>
                <a:ea typeface="Trebuchet MS"/>
                <a:cs typeface="Trebuchet MS"/>
              </a:rPr>
              <a:t>Which two types of farming are described?</a:t>
            </a:r>
          </a:p>
        </p:txBody>
      </p:sp>
    </p:spTree>
    <p:extLst>
      <p:ext uri="{BB962C8B-B14F-4D97-AF65-F5344CB8AC3E}">
        <p14:creationId xmlns:p14="http://schemas.microsoft.com/office/powerpoint/2010/main" val="1695590570"/>
      </p:ext>
    </p:extLst>
  </p:cSld>
</p:sld>
</file>

<file path=ppt/slides/slide37.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37">
            <a:extLst xmlns:a="http://schemas.openxmlformats.org/drawingml/2006/main">
              <a:ext uri="{FF2B5EF4-FFF2-40B4-BE49-F238E27FC236}">
                <a16:creationId xmlns:a16="http://schemas.microsoft.com/office/drawing/2014/main" id="{C587A7A7-CC63-4D5A-B2BC-1839CC2C5EB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B7F3A"/>
          </a:solidFill>
          <a:ln xmlns:a="http://schemas.openxmlformats.org/drawingml/2006/main" w="0">
            <a:noFill/>
            <a:prstDash val="solid"/>
          </a:ln>
        </p:spPr>
      </p:sp>
      <p:sp>
        <p:nvSpPr>
          <p:cNvPr id="2" name="kicker_37">
            <a:extLst xmlns:a="http://schemas.openxmlformats.org/drawingml/2006/main">
              <a:ext uri="{FF2B5EF4-FFF2-40B4-BE49-F238E27FC236}">
                <a16:creationId xmlns:a16="http://schemas.microsoft.com/office/drawing/2014/main" id="{1F7AAD41-B7CC-4DB4-9D59-EB58FBBFCCF8}"/>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1B7F3A"/>
                </a:solidFill>
                <a:latin typeface="Trebuchet MS"/>
                <a:ea typeface="Trebuchet MS"/>
                <a:cs typeface="Trebuchet MS"/>
              </a:defRPr>
            </a:pPr>
            <a:r>
              <a:rPr sz="1800" b="1">
                <a:solidFill>
                  <a:srgbClr val="1B7F3A"/>
                </a:solidFill>
                <a:latin typeface="Trebuchet MS"/>
                <a:ea typeface="Trebuchet MS"/>
                <a:cs typeface="Trebuchet MS"/>
              </a:rPr>
              <a:t>SHARED READING 3 OF 5 • ANSWER</a:t>
            </a:r>
          </a:p>
        </p:txBody>
      </p:sp>
      <p:sp>
        <p:nvSpPr>
          <p:cNvPr id="3" name="title_37">
            <a:extLst xmlns:a="http://schemas.openxmlformats.org/drawingml/2006/main">
              <a:ext uri="{FF2B5EF4-FFF2-40B4-BE49-F238E27FC236}">
                <a16:creationId xmlns:a16="http://schemas.microsoft.com/office/drawing/2014/main" id="{8A30AEBE-2D4B-4422-8EA1-F9E878FB33E2}"/>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Model answer</a:t>
            </a:r>
          </a:p>
        </p:txBody>
      </p:sp>
      <p:sp>
        <p:nvSpPr>
          <p:cNvPr id="4" name="page_37">
            <a:extLst xmlns:a="http://schemas.openxmlformats.org/drawingml/2006/main">
              <a:ext uri="{FF2B5EF4-FFF2-40B4-BE49-F238E27FC236}">
                <a16:creationId xmlns:a16="http://schemas.microsoft.com/office/drawing/2014/main" id="{D4557F02-0AB8-4FD2-8D23-8A7CEFD55A33}"/>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37</a:t>
            </a:r>
          </a:p>
        </p:txBody>
      </p:sp>
      <p:sp>
        <p:nvSpPr>
          <p:cNvPr id="5" name="shared_3_question_repeat_panel">
            <a:extLst xmlns:a="http://schemas.openxmlformats.org/drawingml/2006/main">
              <a:ext uri="{FF2B5EF4-FFF2-40B4-BE49-F238E27FC236}">
                <a16:creationId xmlns:a16="http://schemas.microsoft.com/office/drawing/2014/main" id="{9474C9B9-4388-49AA-8E04-780E85D89826}"/>
              </a:ext>
            </a:extLst>
          </p:cNvPr>
          <p:cNvSpPr>
            <a:spLocks xmlns:a="http://schemas.openxmlformats.org/drawingml/2006/main" noGrp="1"/>
          </p:cNvSpPr>
          <p:nvPr/>
        </p:nvSpPr>
        <p:spPr>
          <a:xfrm xmlns:a="http://schemas.openxmlformats.org/drawingml/2006/main">
            <a:off x="762000" y="1200150"/>
            <a:ext cx="10668000" cy="1009650"/>
          </a:xfrm>
          <a:prstGeom xmlns:a="http://schemas.openxmlformats.org/drawingml/2006/main" prst="roundRect">
            <a:avLst>
              <a:gd name="adj" fmla="val 15094"/>
            </a:avLst>
          </a:prstGeom>
          <a:solidFill xmlns:a="http://schemas.openxmlformats.org/drawingml/2006/main">
            <a:srgbClr val="EAF2F8"/>
          </a:solidFill>
          <a:ln xmlns:a="http://schemas.openxmlformats.org/drawingml/2006/main" w="19050">
            <a:solidFill>
              <a:srgbClr val="7AA7C7"/>
            </a:solidFill>
            <a:prstDash val="solid"/>
          </a:ln>
        </p:spPr>
      </p:sp>
      <p:sp>
        <p:nvSpPr>
          <p:cNvPr id="6" name="shared_3_question_repeat_text">
            <a:extLst xmlns:a="http://schemas.openxmlformats.org/drawingml/2006/main">
              <a:ext uri="{FF2B5EF4-FFF2-40B4-BE49-F238E27FC236}">
                <a16:creationId xmlns:a16="http://schemas.microsoft.com/office/drawing/2014/main" id="{7B9843DA-9DE2-4818-AE3A-F17B02A14E76}"/>
              </a:ext>
            </a:extLst>
          </p:cNvPr>
          <p:cNvSpPr>
            <a:spLocks xmlns:a="http://schemas.openxmlformats.org/drawingml/2006/main" noGrp="1"/>
          </p:cNvSpPr>
          <p:nvPr/>
        </p:nvSpPr>
        <p:spPr>
          <a:xfrm xmlns:a="http://schemas.openxmlformats.org/drawingml/2006/main">
            <a:off x="971550" y="1409700"/>
            <a:ext cx="1024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700" b="1">
                <a:solidFill>
                  <a:srgbClr val="103A5E"/>
                </a:solidFill>
                <a:latin typeface="Trebuchet MS"/>
                <a:ea typeface="Trebuchet MS"/>
                <a:cs typeface="Trebuchet MS"/>
              </a:defRPr>
            </a:pPr>
            <a:r>
              <a:rPr sz="2700" b="1">
                <a:solidFill>
                  <a:srgbClr val="103A5E"/>
                </a:solidFill>
                <a:latin typeface="Trebuchet MS"/>
                <a:ea typeface="Trebuchet MS"/>
                <a:cs typeface="Trebuchet MS"/>
              </a:rPr>
              <a:t>Which two types of farming are described?</a:t>
            </a:r>
          </a:p>
        </p:txBody>
      </p:sp>
      <p:sp>
        <p:nvSpPr>
          <p:cNvPr id="7" name="shared_3_answer_panel">
            <a:extLst xmlns:a="http://schemas.openxmlformats.org/drawingml/2006/main">
              <a:ext uri="{FF2B5EF4-FFF2-40B4-BE49-F238E27FC236}">
                <a16:creationId xmlns:a16="http://schemas.microsoft.com/office/drawing/2014/main" id="{53F528D5-C248-41CA-947C-6245B172CA6C}"/>
              </a:ext>
            </a:extLst>
          </p:cNvPr>
          <p:cNvSpPr>
            <a:spLocks xmlns:a="http://schemas.openxmlformats.org/drawingml/2006/main" noGrp="1"/>
          </p:cNvSpPr>
          <p:nvPr/>
        </p:nvSpPr>
        <p:spPr>
          <a:xfrm xmlns:a="http://schemas.openxmlformats.org/drawingml/2006/main">
            <a:off x="762000" y="2476500"/>
            <a:ext cx="10668000" cy="2000250"/>
          </a:xfrm>
          <a:prstGeom xmlns:a="http://schemas.openxmlformats.org/drawingml/2006/main" prst="roundRect">
            <a:avLst>
              <a:gd name="adj" fmla="val 7619"/>
            </a:avLst>
          </a:prstGeom>
          <a:solidFill xmlns:a="http://schemas.openxmlformats.org/drawingml/2006/main">
            <a:srgbClr val="EAF7EE"/>
          </a:solidFill>
          <a:ln xmlns:a="http://schemas.openxmlformats.org/drawingml/2006/main" w="19050">
            <a:solidFill>
              <a:srgbClr val="70A77C"/>
            </a:solidFill>
            <a:prstDash val="solid"/>
          </a:ln>
        </p:spPr>
      </p:sp>
      <p:sp>
        <p:nvSpPr>
          <p:cNvPr id="8" name="shared_3_answer_text">
            <a:extLst xmlns:a="http://schemas.openxmlformats.org/drawingml/2006/main">
              <a:ext uri="{FF2B5EF4-FFF2-40B4-BE49-F238E27FC236}">
                <a16:creationId xmlns:a16="http://schemas.microsoft.com/office/drawing/2014/main" id="{E50C6711-5673-4453-9EE0-9D9F8FDA1C55}"/>
              </a:ext>
            </a:extLst>
          </p:cNvPr>
          <p:cNvSpPr>
            <a:spLocks xmlns:a="http://schemas.openxmlformats.org/drawingml/2006/main" noGrp="1"/>
          </p:cNvSpPr>
          <p:nvPr/>
        </p:nvSpPr>
        <p:spPr>
          <a:xfrm xmlns:a="http://schemas.openxmlformats.org/drawingml/2006/main">
            <a:off x="1066800" y="2781300"/>
            <a:ext cx="100584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750" b="1">
                <a:solidFill>
                  <a:srgbClr val="184D2B"/>
                </a:solidFill>
                <a:latin typeface="Trebuchet MS"/>
                <a:ea typeface="Trebuchet MS"/>
                <a:cs typeface="Trebuchet MS"/>
              </a:defRPr>
            </a:pPr>
            <a:r>
              <a:rPr sz="3750" b="1">
                <a:solidFill>
                  <a:srgbClr val="184D2B"/>
                </a:solidFill>
                <a:latin typeface="Trebuchet MS"/>
                <a:ea typeface="Trebuchet MS"/>
                <a:cs typeface="Trebuchet MS"/>
              </a:rPr>
              <a:t>The paragraph describes livestock farming and crop farming.</a:t>
            </a:r>
          </a:p>
        </p:txBody>
      </p:sp>
      <p:sp>
        <p:nvSpPr>
          <p:cNvPr id="9" name="shared_3_evidence_panel">
            <a:extLst xmlns:a="http://schemas.openxmlformats.org/drawingml/2006/main">
              <a:ext uri="{FF2B5EF4-FFF2-40B4-BE49-F238E27FC236}">
                <a16:creationId xmlns:a16="http://schemas.microsoft.com/office/drawing/2014/main" id="{F7DCDC2A-A8AC-4F50-9D6A-7FBA6EB6D8D9}"/>
              </a:ext>
            </a:extLst>
          </p:cNvPr>
          <p:cNvSpPr>
            <a:spLocks xmlns:a="http://schemas.openxmlformats.org/drawingml/2006/main" noGrp="1"/>
          </p:cNvSpPr>
          <p:nvPr/>
        </p:nvSpPr>
        <p:spPr>
          <a:xfrm xmlns:a="http://schemas.openxmlformats.org/drawingml/2006/main">
            <a:off x="1143000" y="4762500"/>
            <a:ext cx="990600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19050">
            <a:solidFill>
              <a:srgbClr val="CBD5E1"/>
            </a:solidFill>
            <a:prstDash val="solid"/>
          </a:ln>
        </p:spPr>
      </p:sp>
      <p:sp>
        <p:nvSpPr>
          <p:cNvPr id="10" name="shared_3_evidence_text">
            <a:extLst xmlns:a="http://schemas.openxmlformats.org/drawingml/2006/main">
              <a:ext uri="{FF2B5EF4-FFF2-40B4-BE49-F238E27FC236}">
                <a16:creationId xmlns:a16="http://schemas.microsoft.com/office/drawing/2014/main" id="{02AEECF0-66FE-48CD-A3C4-1EC159EFE001}"/>
              </a:ext>
            </a:extLst>
          </p:cNvPr>
          <p:cNvSpPr>
            <a:spLocks xmlns:a="http://schemas.openxmlformats.org/drawingml/2006/main" noGrp="1"/>
          </p:cNvSpPr>
          <p:nvPr/>
        </p:nvSpPr>
        <p:spPr>
          <a:xfrm xmlns:a="http://schemas.openxmlformats.org/drawingml/2006/main">
            <a:off x="1371600" y="4991100"/>
            <a:ext cx="9448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700" b="0">
                <a:solidFill>
                  <a:srgbClr val="111827"/>
                </a:solidFill>
                <a:latin typeface="Trebuchet MS"/>
                <a:ea typeface="Trebuchet MS"/>
                <a:cs typeface="Trebuchet MS"/>
              </a:defRPr>
            </a:pPr>
            <a:r>
              <a:rPr sz="2700" b="0">
                <a:solidFill>
                  <a:srgbClr val="111827"/>
                </a:solidFill>
                <a:latin typeface="Trebuchet MS"/>
                <a:ea typeface="Trebuchet MS"/>
                <a:cs typeface="Trebuchet MS"/>
              </a:rPr>
              <a:t>Cattle and sheep are livestock; rice, wheat and soybeans are crops.</a:t>
            </a:r>
          </a:p>
        </p:txBody>
      </p:sp>
    </p:spTree>
    <p:extLst>
      <p:ext uri="{BB962C8B-B14F-4D97-AF65-F5344CB8AC3E}">
        <p14:creationId xmlns:p14="http://schemas.microsoft.com/office/powerpoint/2010/main" val="41414487"/>
      </p:ext>
    </p:extLst>
  </p:cSld>
</p:sld>
</file>

<file path=ppt/slides/slide38.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section_bar_38">
            <a:extLst xmlns:a="http://schemas.openxmlformats.org/drawingml/2006/main">
              <a:ext uri="{FF2B5EF4-FFF2-40B4-BE49-F238E27FC236}">
                <a16:creationId xmlns:a16="http://schemas.microsoft.com/office/drawing/2014/main" id="{798FE9E7-4F78-42F9-873F-74D5C08541E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38">
            <a:extLst xmlns:a="http://schemas.openxmlformats.org/drawingml/2006/main">
              <a:ext uri="{FF2B5EF4-FFF2-40B4-BE49-F238E27FC236}">
                <a16:creationId xmlns:a16="http://schemas.microsoft.com/office/drawing/2014/main" id="{9B39EF62-AF21-489E-88B0-1D5579BCBF20}"/>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005A9C"/>
                </a:solidFill>
                <a:latin typeface="Trebuchet MS"/>
                <a:ea typeface="Trebuchet MS"/>
                <a:cs typeface="Trebuchet MS"/>
              </a:defRPr>
            </a:pPr>
            <a:r>
              <a:rPr sz="1800" b="1">
                <a:solidFill>
                  <a:srgbClr val="005A9C"/>
                </a:solidFill>
                <a:latin typeface="Trebuchet MS"/>
                <a:ea typeface="Trebuchet MS"/>
                <a:cs typeface="Trebuchet MS"/>
              </a:rPr>
              <a:t>SHARED READING 4 OF 5 • QUESTION</a:t>
            </a:r>
          </a:p>
        </p:txBody>
      </p:sp>
      <p:sp>
        <p:nvSpPr>
          <p:cNvPr id="3" name="title_38">
            <a:extLst xmlns:a="http://schemas.openxmlformats.org/drawingml/2006/main">
              <a:ext uri="{FF2B5EF4-FFF2-40B4-BE49-F238E27FC236}">
                <a16:creationId xmlns:a16="http://schemas.microsoft.com/office/drawing/2014/main" id="{807E86A8-8F4D-4908-BEB2-EB953F4EF114}"/>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Roads and ports move products</a:t>
            </a:r>
          </a:p>
        </p:txBody>
      </p:sp>
      <p:sp>
        <p:nvSpPr>
          <p:cNvPr id="4" name="page_38">
            <a:extLst xmlns:a="http://schemas.openxmlformats.org/drawingml/2006/main">
              <a:ext uri="{FF2B5EF4-FFF2-40B4-BE49-F238E27FC236}">
                <a16:creationId xmlns:a16="http://schemas.microsoft.com/office/drawing/2014/main" id="{5C566963-5C87-45D3-B544-847A7DC2AA66}"/>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38</a:t>
            </a:r>
          </a:p>
        </p:txBody>
      </p:sp>
      <p:sp>
        <p:nvSpPr>
          <p:cNvPr id="5" name="shared_4_paragraph_panel">
            <a:extLst xmlns:a="http://schemas.openxmlformats.org/drawingml/2006/main">
              <a:ext uri="{FF2B5EF4-FFF2-40B4-BE49-F238E27FC236}">
                <a16:creationId xmlns:a16="http://schemas.microsoft.com/office/drawing/2014/main" id="{6D018066-4E84-496F-8957-0122BEBF309D}"/>
              </a:ext>
            </a:extLst>
          </p:cNvPr>
          <p:cNvSpPr>
            <a:spLocks xmlns:a="http://schemas.openxmlformats.org/drawingml/2006/main" noGrp="1"/>
          </p:cNvSpPr>
          <p:nvPr/>
        </p:nvSpPr>
        <p:spPr>
          <a:xfrm xmlns:a="http://schemas.openxmlformats.org/drawingml/2006/main">
            <a:off x="571500" y="1200150"/>
            <a:ext cx="11049000" cy="3333750"/>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CBD5E1"/>
            </a:solidFill>
            <a:prstDash val="solid"/>
          </a:ln>
        </p:spPr>
      </p:sp>
      <p:sp>
        <p:nvSpPr>
          <p:cNvPr id="6" name="shared_4_paragraph_text">
            <a:extLst xmlns:a="http://schemas.openxmlformats.org/drawingml/2006/main">
              <a:ext uri="{FF2B5EF4-FFF2-40B4-BE49-F238E27FC236}">
                <a16:creationId xmlns:a16="http://schemas.microsoft.com/office/drawing/2014/main" id="{D1F26C61-C5B1-4D88-8C26-04E44FE35F47}"/>
              </a:ext>
            </a:extLst>
          </p:cNvPr>
          <p:cNvSpPr>
            <a:spLocks xmlns:a="http://schemas.openxmlformats.org/drawingml/2006/main" noGrp="1"/>
          </p:cNvSpPr>
          <p:nvPr/>
        </p:nvSpPr>
        <p:spPr>
          <a:xfrm xmlns:a="http://schemas.openxmlformats.org/drawingml/2006/main">
            <a:off x="895350" y="1524000"/>
            <a:ext cx="10401300" cy="268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0">
                <a:solidFill>
                  <a:srgbClr val="111827"/>
                </a:solidFill>
                <a:latin typeface="Trebuchet MS"/>
                <a:ea typeface="Trebuchet MS"/>
                <a:cs typeface="Trebuchet MS"/>
              </a:defRPr>
            </a:pPr>
            <a:r>
              <a:rPr sz="3000" b="0">
                <a:solidFill>
                  <a:srgbClr val="111827"/>
                </a:solidFill>
                <a:latin typeface="Trebuchet MS"/>
                <a:ea typeface="Trebuchet MS"/>
                <a:cs typeface="Trebuchet MS"/>
              </a:rPr>
              <a:t>Montevideo is Uruguay's capital and a major transport centre. Roads carry goods towards the city, and the port allows cargo to be loaded onto ships. These linked routes help products travel from inland areas to other markets.</a:t>
            </a:r>
          </a:p>
        </p:txBody>
      </p:sp>
      <p:sp>
        <p:nvSpPr>
          <p:cNvPr id="7" name="shared_4_question_panel">
            <a:extLst xmlns:a="http://schemas.openxmlformats.org/drawingml/2006/main">
              <a:ext uri="{FF2B5EF4-FFF2-40B4-BE49-F238E27FC236}">
                <a16:creationId xmlns:a16="http://schemas.microsoft.com/office/drawing/2014/main" id="{E97A1796-6814-4F05-B381-477BD0C82804}"/>
              </a:ext>
            </a:extLst>
          </p:cNvPr>
          <p:cNvSpPr>
            <a:spLocks xmlns:a="http://schemas.openxmlformats.org/drawingml/2006/main" noGrp="1"/>
          </p:cNvSpPr>
          <p:nvPr/>
        </p:nvSpPr>
        <p:spPr>
          <a:xfrm xmlns:a="http://schemas.openxmlformats.org/drawingml/2006/main">
            <a:off x="571500" y="4762500"/>
            <a:ext cx="11049000" cy="1352550"/>
          </a:xfrm>
          <a:prstGeom xmlns:a="http://schemas.openxmlformats.org/drawingml/2006/main" prst="roundRect">
            <a:avLst>
              <a:gd name="adj" fmla="val 11268"/>
            </a:avLst>
          </a:prstGeom>
          <a:solidFill xmlns:a="http://schemas.openxmlformats.org/drawingml/2006/main">
            <a:srgbClr val="EAF2F8"/>
          </a:solidFill>
          <a:ln xmlns:a="http://schemas.openxmlformats.org/drawingml/2006/main" w="19050">
            <a:solidFill>
              <a:srgbClr val="7AA7C7"/>
            </a:solidFill>
            <a:prstDash val="solid"/>
          </a:ln>
        </p:spPr>
      </p:sp>
      <p:sp>
        <p:nvSpPr>
          <p:cNvPr id="8" name="shared_4_question_text">
            <a:extLst xmlns:a="http://schemas.openxmlformats.org/drawingml/2006/main">
              <a:ext uri="{FF2B5EF4-FFF2-40B4-BE49-F238E27FC236}">
                <a16:creationId xmlns:a16="http://schemas.microsoft.com/office/drawing/2014/main" id="{840D08D2-783C-4832-9FC7-13580FDB3007}"/>
              </a:ext>
            </a:extLst>
          </p:cNvPr>
          <p:cNvSpPr>
            <a:spLocks xmlns:a="http://schemas.openxmlformats.org/drawingml/2006/main" noGrp="1"/>
          </p:cNvSpPr>
          <p:nvPr/>
        </p:nvSpPr>
        <p:spPr>
          <a:xfrm xmlns:a="http://schemas.openxmlformats.org/drawingml/2006/main">
            <a:off x="819150" y="5010150"/>
            <a:ext cx="105537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300" b="1">
                <a:solidFill>
                  <a:srgbClr val="103A5E"/>
                </a:solidFill>
                <a:latin typeface="Trebuchet MS"/>
                <a:ea typeface="Trebuchet MS"/>
                <a:cs typeface="Trebuchet MS"/>
              </a:defRPr>
            </a:pPr>
            <a:r>
              <a:rPr sz="3300" b="1">
                <a:solidFill>
                  <a:srgbClr val="103A5E"/>
                </a:solidFill>
                <a:latin typeface="Trebuchet MS"/>
                <a:ea typeface="Trebuchet MS"/>
                <a:cs typeface="Trebuchet MS"/>
              </a:rPr>
              <a:t>Why are roads and the port important for moving products?</a:t>
            </a:r>
          </a:p>
        </p:txBody>
      </p:sp>
    </p:spTree>
    <p:extLst>
      <p:ext uri="{BB962C8B-B14F-4D97-AF65-F5344CB8AC3E}">
        <p14:creationId xmlns:p14="http://schemas.microsoft.com/office/powerpoint/2010/main" val="1456408418"/>
      </p:ext>
    </p:extLst>
  </p:cSld>
</p:sld>
</file>

<file path=ppt/slides/slide39.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39">
            <a:extLst xmlns:a="http://schemas.openxmlformats.org/drawingml/2006/main">
              <a:ext uri="{FF2B5EF4-FFF2-40B4-BE49-F238E27FC236}">
                <a16:creationId xmlns:a16="http://schemas.microsoft.com/office/drawing/2014/main" id="{2C20DE6D-A0FB-4D9D-9ABB-92280BE0740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B7F3A"/>
          </a:solidFill>
          <a:ln xmlns:a="http://schemas.openxmlformats.org/drawingml/2006/main" w="0">
            <a:noFill/>
            <a:prstDash val="solid"/>
          </a:ln>
        </p:spPr>
      </p:sp>
      <p:sp>
        <p:nvSpPr>
          <p:cNvPr id="2" name="kicker_39">
            <a:extLst xmlns:a="http://schemas.openxmlformats.org/drawingml/2006/main">
              <a:ext uri="{FF2B5EF4-FFF2-40B4-BE49-F238E27FC236}">
                <a16:creationId xmlns:a16="http://schemas.microsoft.com/office/drawing/2014/main" id="{4E6F5AAF-82C2-45C0-A22E-7F5285391C90}"/>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1B7F3A"/>
                </a:solidFill>
                <a:latin typeface="Trebuchet MS"/>
                <a:ea typeface="Trebuchet MS"/>
                <a:cs typeface="Trebuchet MS"/>
              </a:defRPr>
            </a:pPr>
            <a:r>
              <a:rPr sz="1800" b="1">
                <a:solidFill>
                  <a:srgbClr val="1B7F3A"/>
                </a:solidFill>
                <a:latin typeface="Trebuchet MS"/>
                <a:ea typeface="Trebuchet MS"/>
                <a:cs typeface="Trebuchet MS"/>
              </a:rPr>
              <a:t>SHARED READING 4 OF 5 • ANSWER</a:t>
            </a:r>
          </a:p>
        </p:txBody>
      </p:sp>
      <p:sp>
        <p:nvSpPr>
          <p:cNvPr id="3" name="title_39">
            <a:extLst xmlns:a="http://schemas.openxmlformats.org/drawingml/2006/main">
              <a:ext uri="{FF2B5EF4-FFF2-40B4-BE49-F238E27FC236}">
                <a16:creationId xmlns:a16="http://schemas.microsoft.com/office/drawing/2014/main" id="{73317A28-83DB-4640-B10C-A6C60451F7E3}"/>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Model answer</a:t>
            </a:r>
          </a:p>
        </p:txBody>
      </p:sp>
      <p:sp>
        <p:nvSpPr>
          <p:cNvPr id="4" name="page_39">
            <a:extLst xmlns:a="http://schemas.openxmlformats.org/drawingml/2006/main">
              <a:ext uri="{FF2B5EF4-FFF2-40B4-BE49-F238E27FC236}">
                <a16:creationId xmlns:a16="http://schemas.microsoft.com/office/drawing/2014/main" id="{B966A021-4C18-439F-821F-B700A5E56411}"/>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39</a:t>
            </a:r>
          </a:p>
        </p:txBody>
      </p:sp>
      <p:sp>
        <p:nvSpPr>
          <p:cNvPr id="5" name="shared_4_question_repeat_panel">
            <a:extLst xmlns:a="http://schemas.openxmlformats.org/drawingml/2006/main">
              <a:ext uri="{FF2B5EF4-FFF2-40B4-BE49-F238E27FC236}">
                <a16:creationId xmlns:a16="http://schemas.microsoft.com/office/drawing/2014/main" id="{7E57C172-C6AC-4576-B6F1-AB330524B450}"/>
              </a:ext>
            </a:extLst>
          </p:cNvPr>
          <p:cNvSpPr>
            <a:spLocks xmlns:a="http://schemas.openxmlformats.org/drawingml/2006/main" noGrp="1"/>
          </p:cNvSpPr>
          <p:nvPr/>
        </p:nvSpPr>
        <p:spPr>
          <a:xfrm xmlns:a="http://schemas.openxmlformats.org/drawingml/2006/main">
            <a:off x="762000" y="1200150"/>
            <a:ext cx="10668000" cy="1009650"/>
          </a:xfrm>
          <a:prstGeom xmlns:a="http://schemas.openxmlformats.org/drawingml/2006/main" prst="roundRect">
            <a:avLst>
              <a:gd name="adj" fmla="val 15094"/>
            </a:avLst>
          </a:prstGeom>
          <a:solidFill xmlns:a="http://schemas.openxmlformats.org/drawingml/2006/main">
            <a:srgbClr val="EAF2F8"/>
          </a:solidFill>
          <a:ln xmlns:a="http://schemas.openxmlformats.org/drawingml/2006/main" w="19050">
            <a:solidFill>
              <a:srgbClr val="7AA7C7"/>
            </a:solidFill>
            <a:prstDash val="solid"/>
          </a:ln>
        </p:spPr>
      </p:sp>
      <p:sp>
        <p:nvSpPr>
          <p:cNvPr id="6" name="shared_4_question_repeat_text">
            <a:extLst xmlns:a="http://schemas.openxmlformats.org/drawingml/2006/main">
              <a:ext uri="{FF2B5EF4-FFF2-40B4-BE49-F238E27FC236}">
                <a16:creationId xmlns:a16="http://schemas.microsoft.com/office/drawing/2014/main" id="{8050FF2E-5D54-48C3-BEFF-DB261B429266}"/>
              </a:ext>
            </a:extLst>
          </p:cNvPr>
          <p:cNvSpPr>
            <a:spLocks xmlns:a="http://schemas.openxmlformats.org/drawingml/2006/main" noGrp="1"/>
          </p:cNvSpPr>
          <p:nvPr/>
        </p:nvSpPr>
        <p:spPr>
          <a:xfrm xmlns:a="http://schemas.openxmlformats.org/drawingml/2006/main">
            <a:off x="971550" y="1409700"/>
            <a:ext cx="1024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700" b="1">
                <a:solidFill>
                  <a:srgbClr val="103A5E"/>
                </a:solidFill>
                <a:latin typeface="Trebuchet MS"/>
                <a:ea typeface="Trebuchet MS"/>
                <a:cs typeface="Trebuchet MS"/>
              </a:defRPr>
            </a:pPr>
            <a:r>
              <a:rPr sz="2700" b="1">
                <a:solidFill>
                  <a:srgbClr val="103A5E"/>
                </a:solidFill>
                <a:latin typeface="Trebuchet MS"/>
                <a:ea typeface="Trebuchet MS"/>
                <a:cs typeface="Trebuchet MS"/>
              </a:rPr>
              <a:t>Why are roads and the port important for moving products?</a:t>
            </a:r>
          </a:p>
        </p:txBody>
      </p:sp>
      <p:sp>
        <p:nvSpPr>
          <p:cNvPr id="7" name="shared_4_answer_panel">
            <a:extLst xmlns:a="http://schemas.openxmlformats.org/drawingml/2006/main">
              <a:ext uri="{FF2B5EF4-FFF2-40B4-BE49-F238E27FC236}">
                <a16:creationId xmlns:a16="http://schemas.microsoft.com/office/drawing/2014/main" id="{8F1A68D2-EAC7-42E9-B655-76CC13B70F89}"/>
              </a:ext>
            </a:extLst>
          </p:cNvPr>
          <p:cNvSpPr>
            <a:spLocks xmlns:a="http://schemas.openxmlformats.org/drawingml/2006/main" noGrp="1"/>
          </p:cNvSpPr>
          <p:nvPr/>
        </p:nvSpPr>
        <p:spPr>
          <a:xfrm xmlns:a="http://schemas.openxmlformats.org/drawingml/2006/main">
            <a:off x="762000" y="2476500"/>
            <a:ext cx="10668000" cy="2000250"/>
          </a:xfrm>
          <a:prstGeom xmlns:a="http://schemas.openxmlformats.org/drawingml/2006/main" prst="roundRect">
            <a:avLst>
              <a:gd name="adj" fmla="val 7619"/>
            </a:avLst>
          </a:prstGeom>
          <a:solidFill xmlns:a="http://schemas.openxmlformats.org/drawingml/2006/main">
            <a:srgbClr val="EAF7EE"/>
          </a:solidFill>
          <a:ln xmlns:a="http://schemas.openxmlformats.org/drawingml/2006/main" w="19050">
            <a:solidFill>
              <a:srgbClr val="70A77C"/>
            </a:solidFill>
            <a:prstDash val="solid"/>
          </a:ln>
        </p:spPr>
      </p:sp>
      <p:sp>
        <p:nvSpPr>
          <p:cNvPr id="8" name="shared_4_answer_text">
            <a:extLst xmlns:a="http://schemas.openxmlformats.org/drawingml/2006/main">
              <a:ext uri="{FF2B5EF4-FFF2-40B4-BE49-F238E27FC236}">
                <a16:creationId xmlns:a16="http://schemas.microsoft.com/office/drawing/2014/main" id="{314D9F9E-935C-48B9-A3C6-F2CEE5CAAD7D}"/>
              </a:ext>
            </a:extLst>
          </p:cNvPr>
          <p:cNvSpPr>
            <a:spLocks xmlns:a="http://schemas.openxmlformats.org/drawingml/2006/main" noGrp="1"/>
          </p:cNvSpPr>
          <p:nvPr/>
        </p:nvSpPr>
        <p:spPr>
          <a:xfrm xmlns:a="http://schemas.openxmlformats.org/drawingml/2006/main">
            <a:off x="1066800" y="2781300"/>
            <a:ext cx="100584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750" b="1">
                <a:solidFill>
                  <a:srgbClr val="184D2B"/>
                </a:solidFill>
                <a:latin typeface="Trebuchet MS"/>
                <a:ea typeface="Trebuchet MS"/>
                <a:cs typeface="Trebuchet MS"/>
              </a:defRPr>
            </a:pPr>
            <a:r>
              <a:rPr sz="3750" b="1">
                <a:solidFill>
                  <a:srgbClr val="184D2B"/>
                </a:solidFill>
                <a:latin typeface="Trebuchet MS"/>
                <a:ea typeface="Trebuchet MS"/>
                <a:cs typeface="Trebuchet MS"/>
              </a:rPr>
              <a:t>They connect inland goods with ships and other markets.</a:t>
            </a:r>
          </a:p>
        </p:txBody>
      </p:sp>
      <p:sp>
        <p:nvSpPr>
          <p:cNvPr id="9" name="shared_4_evidence_panel">
            <a:extLst xmlns:a="http://schemas.openxmlformats.org/drawingml/2006/main">
              <a:ext uri="{FF2B5EF4-FFF2-40B4-BE49-F238E27FC236}">
                <a16:creationId xmlns:a16="http://schemas.microsoft.com/office/drawing/2014/main" id="{9C11BE07-94F9-414C-B160-1DE9688DE44C}"/>
              </a:ext>
            </a:extLst>
          </p:cNvPr>
          <p:cNvSpPr>
            <a:spLocks xmlns:a="http://schemas.openxmlformats.org/drawingml/2006/main" noGrp="1"/>
          </p:cNvSpPr>
          <p:nvPr/>
        </p:nvSpPr>
        <p:spPr>
          <a:xfrm xmlns:a="http://schemas.openxmlformats.org/drawingml/2006/main">
            <a:off x="1143000" y="4762500"/>
            <a:ext cx="990600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19050">
            <a:solidFill>
              <a:srgbClr val="CBD5E1"/>
            </a:solidFill>
            <a:prstDash val="solid"/>
          </a:ln>
        </p:spPr>
      </p:sp>
      <p:sp>
        <p:nvSpPr>
          <p:cNvPr id="10" name="shared_4_evidence_text">
            <a:extLst xmlns:a="http://schemas.openxmlformats.org/drawingml/2006/main">
              <a:ext uri="{FF2B5EF4-FFF2-40B4-BE49-F238E27FC236}">
                <a16:creationId xmlns:a16="http://schemas.microsoft.com/office/drawing/2014/main" id="{ABA1FBE6-A87C-4CA1-8DFF-F772AB3929B5}"/>
              </a:ext>
            </a:extLst>
          </p:cNvPr>
          <p:cNvSpPr>
            <a:spLocks xmlns:a="http://schemas.openxmlformats.org/drawingml/2006/main" noGrp="1"/>
          </p:cNvSpPr>
          <p:nvPr/>
        </p:nvSpPr>
        <p:spPr>
          <a:xfrm xmlns:a="http://schemas.openxmlformats.org/drawingml/2006/main">
            <a:off x="1371600" y="4991100"/>
            <a:ext cx="9448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700" b="0">
                <a:solidFill>
                  <a:srgbClr val="111827"/>
                </a:solidFill>
                <a:latin typeface="Trebuchet MS"/>
                <a:ea typeface="Trebuchet MS"/>
                <a:cs typeface="Trebuchet MS"/>
              </a:defRPr>
            </a:pPr>
            <a:r>
              <a:rPr sz="2700" b="0">
                <a:solidFill>
                  <a:srgbClr val="111827"/>
                </a:solidFill>
                <a:latin typeface="Trebuchet MS"/>
                <a:ea typeface="Trebuchet MS"/>
                <a:cs typeface="Trebuchet MS"/>
              </a:rPr>
              <a:t>This inference joins the displayed steps: roads carry goods to the city, then the port loads cargo onto ships.</a:t>
            </a:r>
          </a:p>
        </p:txBody>
      </p:sp>
    </p:spTree>
    <p:extLst>
      <p:ext uri="{BB962C8B-B14F-4D97-AF65-F5344CB8AC3E}">
        <p14:creationId xmlns:p14="http://schemas.microsoft.com/office/powerpoint/2010/main" val="343671937"/>
      </p:ext>
    </p:extLst>
  </p:cSld>
</p:sld>
</file>

<file path=ppt/slides/slide40.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section_bar_40">
            <a:extLst xmlns:a="http://schemas.openxmlformats.org/drawingml/2006/main">
              <a:ext uri="{FF2B5EF4-FFF2-40B4-BE49-F238E27FC236}">
                <a16:creationId xmlns:a16="http://schemas.microsoft.com/office/drawing/2014/main" id="{699F5600-1551-4C93-AF36-CEFF8A78F69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40">
            <a:extLst xmlns:a="http://schemas.openxmlformats.org/drawingml/2006/main">
              <a:ext uri="{FF2B5EF4-FFF2-40B4-BE49-F238E27FC236}">
                <a16:creationId xmlns:a16="http://schemas.microsoft.com/office/drawing/2014/main" id="{45826801-EB58-49B8-B0A7-702EA17891C4}"/>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005A9C"/>
                </a:solidFill>
                <a:latin typeface="Trebuchet MS"/>
                <a:ea typeface="Trebuchet MS"/>
                <a:cs typeface="Trebuchet MS"/>
              </a:defRPr>
            </a:pPr>
            <a:r>
              <a:rPr sz="1800" b="1">
                <a:solidFill>
                  <a:srgbClr val="005A9C"/>
                </a:solidFill>
                <a:latin typeface="Trebuchet MS"/>
                <a:ea typeface="Trebuchet MS"/>
                <a:cs typeface="Trebuchet MS"/>
              </a:rPr>
              <a:t>SHARED READING 5 OF 5 • QUESTION</a:t>
            </a:r>
          </a:p>
        </p:txBody>
      </p:sp>
      <p:sp>
        <p:nvSpPr>
          <p:cNvPr id="3" name="title_40">
            <a:extLst xmlns:a="http://schemas.openxmlformats.org/drawingml/2006/main">
              <a:ext uri="{FF2B5EF4-FFF2-40B4-BE49-F238E27FC236}">
                <a16:creationId xmlns:a16="http://schemas.microsoft.com/office/drawing/2014/main" id="{0853A762-7ED2-4CA3-8C06-B8AB421F2D6B}"/>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Renewable energy is replaced naturally</a:t>
            </a:r>
          </a:p>
        </p:txBody>
      </p:sp>
      <p:sp>
        <p:nvSpPr>
          <p:cNvPr id="4" name="page_40">
            <a:extLst xmlns:a="http://schemas.openxmlformats.org/drawingml/2006/main">
              <a:ext uri="{FF2B5EF4-FFF2-40B4-BE49-F238E27FC236}">
                <a16:creationId xmlns:a16="http://schemas.microsoft.com/office/drawing/2014/main" id="{BD86EDB8-C959-40DE-A110-01E22294AD3C}"/>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40</a:t>
            </a:r>
          </a:p>
        </p:txBody>
      </p:sp>
      <p:sp>
        <p:nvSpPr>
          <p:cNvPr id="5" name="shared_5_paragraph_panel">
            <a:extLst xmlns:a="http://schemas.openxmlformats.org/drawingml/2006/main">
              <a:ext uri="{FF2B5EF4-FFF2-40B4-BE49-F238E27FC236}">
                <a16:creationId xmlns:a16="http://schemas.microsoft.com/office/drawing/2014/main" id="{F8934E58-F43A-4445-9429-F021AE90A4DB}"/>
              </a:ext>
            </a:extLst>
          </p:cNvPr>
          <p:cNvSpPr>
            <a:spLocks xmlns:a="http://schemas.openxmlformats.org/drawingml/2006/main" noGrp="1"/>
          </p:cNvSpPr>
          <p:nvPr/>
        </p:nvSpPr>
        <p:spPr>
          <a:xfrm xmlns:a="http://schemas.openxmlformats.org/drawingml/2006/main">
            <a:off x="571500" y="1200150"/>
            <a:ext cx="11049000" cy="3333750"/>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CBD5E1"/>
            </a:solidFill>
            <a:prstDash val="solid"/>
          </a:ln>
        </p:spPr>
      </p:sp>
      <p:sp>
        <p:nvSpPr>
          <p:cNvPr id="6" name="shared_5_paragraph_text">
            <a:extLst xmlns:a="http://schemas.openxmlformats.org/drawingml/2006/main">
              <a:ext uri="{FF2B5EF4-FFF2-40B4-BE49-F238E27FC236}">
                <a16:creationId xmlns:a16="http://schemas.microsoft.com/office/drawing/2014/main" id="{3060CFF7-A09C-4FE5-955B-0746FA561055}"/>
              </a:ext>
            </a:extLst>
          </p:cNvPr>
          <p:cNvSpPr>
            <a:spLocks xmlns:a="http://schemas.openxmlformats.org/drawingml/2006/main" noGrp="1"/>
          </p:cNvSpPr>
          <p:nvPr/>
        </p:nvSpPr>
        <p:spPr>
          <a:xfrm xmlns:a="http://schemas.openxmlformats.org/drawingml/2006/main">
            <a:off x="895350" y="1524000"/>
            <a:ext cx="10401300" cy="268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0">
                <a:solidFill>
                  <a:srgbClr val="111827"/>
                </a:solidFill>
                <a:latin typeface="Trebuchet MS"/>
                <a:ea typeface="Trebuchet MS"/>
                <a:cs typeface="Trebuchet MS"/>
              </a:defRPr>
            </a:pPr>
            <a:r>
              <a:rPr sz="3000" b="0">
                <a:solidFill>
                  <a:srgbClr val="111827"/>
                </a:solidFill>
                <a:latin typeface="Trebuchet MS"/>
                <a:ea typeface="Trebuchet MS"/>
                <a:cs typeface="Trebuchet MS"/>
              </a:rPr>
              <a:t>Uruguay generates electricity from renewable sources, including wind and moving water. Renewable means that the energy source is replaced naturally. Wind turbines and hydropower systems use different processes, but both draw on sources that are naturally renewed.</a:t>
            </a:r>
          </a:p>
        </p:txBody>
      </p:sp>
      <p:sp>
        <p:nvSpPr>
          <p:cNvPr id="7" name="shared_5_question_panel">
            <a:extLst xmlns:a="http://schemas.openxmlformats.org/drawingml/2006/main">
              <a:ext uri="{FF2B5EF4-FFF2-40B4-BE49-F238E27FC236}">
                <a16:creationId xmlns:a16="http://schemas.microsoft.com/office/drawing/2014/main" id="{4D0B9A54-CEAC-4420-813B-5CF2E6452E5B}"/>
              </a:ext>
            </a:extLst>
          </p:cNvPr>
          <p:cNvSpPr>
            <a:spLocks xmlns:a="http://schemas.openxmlformats.org/drawingml/2006/main" noGrp="1"/>
          </p:cNvSpPr>
          <p:nvPr/>
        </p:nvSpPr>
        <p:spPr>
          <a:xfrm xmlns:a="http://schemas.openxmlformats.org/drawingml/2006/main">
            <a:off x="571500" y="4762500"/>
            <a:ext cx="11049000" cy="1352550"/>
          </a:xfrm>
          <a:prstGeom xmlns:a="http://schemas.openxmlformats.org/drawingml/2006/main" prst="roundRect">
            <a:avLst>
              <a:gd name="adj" fmla="val 11268"/>
            </a:avLst>
          </a:prstGeom>
          <a:solidFill xmlns:a="http://schemas.openxmlformats.org/drawingml/2006/main">
            <a:srgbClr val="EAF2F8"/>
          </a:solidFill>
          <a:ln xmlns:a="http://schemas.openxmlformats.org/drawingml/2006/main" w="19050">
            <a:solidFill>
              <a:srgbClr val="7AA7C7"/>
            </a:solidFill>
            <a:prstDash val="solid"/>
          </a:ln>
        </p:spPr>
      </p:sp>
      <p:sp>
        <p:nvSpPr>
          <p:cNvPr id="8" name="shared_5_question_text">
            <a:extLst xmlns:a="http://schemas.openxmlformats.org/drawingml/2006/main">
              <a:ext uri="{FF2B5EF4-FFF2-40B4-BE49-F238E27FC236}">
                <a16:creationId xmlns:a16="http://schemas.microsoft.com/office/drawing/2014/main" id="{1B3AE8FB-9955-4563-AD37-F8EF2EDD2B22}"/>
              </a:ext>
            </a:extLst>
          </p:cNvPr>
          <p:cNvSpPr>
            <a:spLocks xmlns:a="http://schemas.openxmlformats.org/drawingml/2006/main" noGrp="1"/>
          </p:cNvSpPr>
          <p:nvPr/>
        </p:nvSpPr>
        <p:spPr>
          <a:xfrm xmlns:a="http://schemas.openxmlformats.org/drawingml/2006/main">
            <a:off x="819150" y="5010150"/>
            <a:ext cx="105537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300" b="1">
                <a:solidFill>
                  <a:srgbClr val="103A5E"/>
                </a:solidFill>
                <a:latin typeface="Trebuchet MS"/>
                <a:ea typeface="Trebuchet MS"/>
                <a:cs typeface="Trebuchet MS"/>
              </a:defRPr>
            </a:pPr>
            <a:r>
              <a:rPr sz="3300" b="1">
                <a:solidFill>
                  <a:srgbClr val="103A5E"/>
                </a:solidFill>
                <a:latin typeface="Trebuchet MS"/>
                <a:ea typeface="Trebuchet MS"/>
                <a:cs typeface="Trebuchet MS"/>
              </a:rPr>
              <a:t>What does renewable mean, and which examples are named?</a:t>
            </a:r>
          </a:p>
        </p:txBody>
      </p:sp>
    </p:spTree>
    <p:extLst>
      <p:ext uri="{BB962C8B-B14F-4D97-AF65-F5344CB8AC3E}">
        <p14:creationId xmlns:p14="http://schemas.microsoft.com/office/powerpoint/2010/main" val="2008922217"/>
      </p:ext>
    </p:extLst>
  </p:cSld>
</p:sld>
</file>

<file path=ppt/slides/slide41.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41">
            <a:extLst xmlns:a="http://schemas.openxmlformats.org/drawingml/2006/main">
              <a:ext uri="{FF2B5EF4-FFF2-40B4-BE49-F238E27FC236}">
                <a16:creationId xmlns:a16="http://schemas.microsoft.com/office/drawing/2014/main" id="{D94D2F33-A934-47A8-A339-F8A12AF0258E}"/>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B7F3A"/>
          </a:solidFill>
          <a:ln xmlns:a="http://schemas.openxmlformats.org/drawingml/2006/main" w="0">
            <a:noFill/>
            <a:prstDash val="solid"/>
          </a:ln>
        </p:spPr>
      </p:sp>
      <p:sp>
        <p:nvSpPr>
          <p:cNvPr id="2" name="kicker_41">
            <a:extLst xmlns:a="http://schemas.openxmlformats.org/drawingml/2006/main">
              <a:ext uri="{FF2B5EF4-FFF2-40B4-BE49-F238E27FC236}">
                <a16:creationId xmlns:a16="http://schemas.microsoft.com/office/drawing/2014/main" id="{15A8E019-2574-43A8-9C98-CD31A33A287C}"/>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1800" b="1">
                <a:solidFill>
                  <a:srgbClr val="1B7F3A"/>
                </a:solidFill>
                <a:latin typeface="Trebuchet MS"/>
                <a:ea typeface="Trebuchet MS"/>
                <a:cs typeface="Trebuchet MS"/>
              </a:defRPr>
            </a:pPr>
            <a:r>
              <a:rPr sz="1800" b="1">
                <a:solidFill>
                  <a:srgbClr val="1B7F3A"/>
                </a:solidFill>
                <a:latin typeface="Trebuchet MS"/>
                <a:ea typeface="Trebuchet MS"/>
                <a:cs typeface="Trebuchet MS"/>
              </a:rPr>
              <a:t>SHARED READING 5 OF 5 • ANSWER</a:t>
            </a:r>
          </a:p>
        </p:txBody>
      </p:sp>
      <p:sp>
        <p:nvSpPr>
          <p:cNvPr id="3" name="title_41">
            <a:extLst xmlns:a="http://schemas.openxmlformats.org/drawingml/2006/main">
              <a:ext uri="{FF2B5EF4-FFF2-40B4-BE49-F238E27FC236}">
                <a16:creationId xmlns:a16="http://schemas.microsoft.com/office/drawing/2014/main" id="{0AC02D5B-6101-4030-BE09-6D13349E18AC}"/>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Model answer</a:t>
            </a:r>
          </a:p>
        </p:txBody>
      </p:sp>
      <p:sp>
        <p:nvSpPr>
          <p:cNvPr id="4" name="page_41">
            <a:extLst xmlns:a="http://schemas.openxmlformats.org/drawingml/2006/main">
              <a:ext uri="{FF2B5EF4-FFF2-40B4-BE49-F238E27FC236}">
                <a16:creationId xmlns:a16="http://schemas.microsoft.com/office/drawing/2014/main" id="{DD489953-B588-4CE5-987C-866186B0C878}"/>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41</a:t>
            </a:r>
          </a:p>
        </p:txBody>
      </p:sp>
      <p:sp>
        <p:nvSpPr>
          <p:cNvPr id="5" name="shared_5_question_repeat_panel">
            <a:extLst xmlns:a="http://schemas.openxmlformats.org/drawingml/2006/main">
              <a:ext uri="{FF2B5EF4-FFF2-40B4-BE49-F238E27FC236}">
                <a16:creationId xmlns:a16="http://schemas.microsoft.com/office/drawing/2014/main" id="{F19F9E2F-A3F5-42CA-9EA4-A8DA62B38B9A}"/>
              </a:ext>
            </a:extLst>
          </p:cNvPr>
          <p:cNvSpPr>
            <a:spLocks xmlns:a="http://schemas.openxmlformats.org/drawingml/2006/main" noGrp="1"/>
          </p:cNvSpPr>
          <p:nvPr/>
        </p:nvSpPr>
        <p:spPr>
          <a:xfrm xmlns:a="http://schemas.openxmlformats.org/drawingml/2006/main">
            <a:off x="762000" y="1200150"/>
            <a:ext cx="10668000" cy="1009650"/>
          </a:xfrm>
          <a:prstGeom xmlns:a="http://schemas.openxmlformats.org/drawingml/2006/main" prst="roundRect">
            <a:avLst>
              <a:gd name="adj" fmla="val 15094"/>
            </a:avLst>
          </a:prstGeom>
          <a:solidFill xmlns:a="http://schemas.openxmlformats.org/drawingml/2006/main">
            <a:srgbClr val="EAF2F8"/>
          </a:solidFill>
          <a:ln xmlns:a="http://schemas.openxmlformats.org/drawingml/2006/main" w="19050">
            <a:solidFill>
              <a:srgbClr val="7AA7C7"/>
            </a:solidFill>
            <a:prstDash val="solid"/>
          </a:ln>
        </p:spPr>
      </p:sp>
      <p:sp>
        <p:nvSpPr>
          <p:cNvPr id="6" name="shared_5_question_repeat_text">
            <a:extLst xmlns:a="http://schemas.openxmlformats.org/drawingml/2006/main">
              <a:ext uri="{FF2B5EF4-FFF2-40B4-BE49-F238E27FC236}">
                <a16:creationId xmlns:a16="http://schemas.microsoft.com/office/drawing/2014/main" id="{0D698CD6-C13A-41A0-9F6E-E5BFA0B0EE5A}"/>
              </a:ext>
            </a:extLst>
          </p:cNvPr>
          <p:cNvSpPr>
            <a:spLocks xmlns:a="http://schemas.openxmlformats.org/drawingml/2006/main" noGrp="1"/>
          </p:cNvSpPr>
          <p:nvPr/>
        </p:nvSpPr>
        <p:spPr>
          <a:xfrm xmlns:a="http://schemas.openxmlformats.org/drawingml/2006/main">
            <a:off x="971550" y="1409700"/>
            <a:ext cx="1024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700" b="1">
                <a:solidFill>
                  <a:srgbClr val="103A5E"/>
                </a:solidFill>
                <a:latin typeface="Trebuchet MS"/>
                <a:ea typeface="Trebuchet MS"/>
                <a:cs typeface="Trebuchet MS"/>
              </a:defRPr>
            </a:pPr>
            <a:r>
              <a:rPr sz="2700" b="1">
                <a:solidFill>
                  <a:srgbClr val="103A5E"/>
                </a:solidFill>
                <a:latin typeface="Trebuchet MS"/>
                <a:ea typeface="Trebuchet MS"/>
                <a:cs typeface="Trebuchet MS"/>
              </a:rPr>
              <a:t>What does renewable mean, and which examples are named?</a:t>
            </a:r>
          </a:p>
        </p:txBody>
      </p:sp>
      <p:sp>
        <p:nvSpPr>
          <p:cNvPr id="7" name="shared_5_answer_panel">
            <a:extLst xmlns:a="http://schemas.openxmlformats.org/drawingml/2006/main">
              <a:ext uri="{FF2B5EF4-FFF2-40B4-BE49-F238E27FC236}">
                <a16:creationId xmlns:a16="http://schemas.microsoft.com/office/drawing/2014/main" id="{3607CE85-136F-4F10-9D32-8E6C853BD5D5}"/>
              </a:ext>
            </a:extLst>
          </p:cNvPr>
          <p:cNvSpPr>
            <a:spLocks xmlns:a="http://schemas.openxmlformats.org/drawingml/2006/main" noGrp="1"/>
          </p:cNvSpPr>
          <p:nvPr/>
        </p:nvSpPr>
        <p:spPr>
          <a:xfrm xmlns:a="http://schemas.openxmlformats.org/drawingml/2006/main">
            <a:off x="762000" y="2476500"/>
            <a:ext cx="10668000" cy="2000250"/>
          </a:xfrm>
          <a:prstGeom xmlns:a="http://schemas.openxmlformats.org/drawingml/2006/main" prst="roundRect">
            <a:avLst>
              <a:gd name="adj" fmla="val 7619"/>
            </a:avLst>
          </a:prstGeom>
          <a:solidFill xmlns:a="http://schemas.openxmlformats.org/drawingml/2006/main">
            <a:srgbClr val="EAF7EE"/>
          </a:solidFill>
          <a:ln xmlns:a="http://schemas.openxmlformats.org/drawingml/2006/main" w="19050">
            <a:solidFill>
              <a:srgbClr val="70A77C"/>
            </a:solidFill>
            <a:prstDash val="solid"/>
          </a:ln>
        </p:spPr>
      </p:sp>
      <p:sp>
        <p:nvSpPr>
          <p:cNvPr id="8" name="shared_5_answer_text">
            <a:extLst xmlns:a="http://schemas.openxmlformats.org/drawingml/2006/main">
              <a:ext uri="{FF2B5EF4-FFF2-40B4-BE49-F238E27FC236}">
                <a16:creationId xmlns:a16="http://schemas.microsoft.com/office/drawing/2014/main" id="{A628D264-1BFE-438F-B83A-2F338EBF01FF}"/>
              </a:ext>
            </a:extLst>
          </p:cNvPr>
          <p:cNvSpPr>
            <a:spLocks xmlns:a="http://schemas.openxmlformats.org/drawingml/2006/main" noGrp="1"/>
          </p:cNvSpPr>
          <p:nvPr/>
        </p:nvSpPr>
        <p:spPr>
          <a:xfrm xmlns:a="http://schemas.openxmlformats.org/drawingml/2006/main">
            <a:off x="1066800" y="2781300"/>
            <a:ext cx="100584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750" b="1">
                <a:solidFill>
                  <a:srgbClr val="184D2B"/>
                </a:solidFill>
                <a:latin typeface="Trebuchet MS"/>
                <a:ea typeface="Trebuchet MS"/>
                <a:cs typeface="Trebuchet MS"/>
              </a:defRPr>
            </a:pPr>
            <a:r>
              <a:rPr sz="3750" b="1">
                <a:solidFill>
                  <a:srgbClr val="184D2B"/>
                </a:solidFill>
                <a:latin typeface="Trebuchet MS"/>
                <a:ea typeface="Trebuchet MS"/>
                <a:cs typeface="Trebuchet MS"/>
              </a:rPr>
              <a:t>Renewable means replaced naturally; the examples are wind and moving water.</a:t>
            </a:r>
          </a:p>
        </p:txBody>
      </p:sp>
      <p:sp>
        <p:nvSpPr>
          <p:cNvPr id="9" name="shared_5_evidence_panel">
            <a:extLst xmlns:a="http://schemas.openxmlformats.org/drawingml/2006/main">
              <a:ext uri="{FF2B5EF4-FFF2-40B4-BE49-F238E27FC236}">
                <a16:creationId xmlns:a16="http://schemas.microsoft.com/office/drawing/2014/main" id="{7B2263F1-5014-4018-A473-D30BC1E822CA}"/>
              </a:ext>
            </a:extLst>
          </p:cNvPr>
          <p:cNvSpPr>
            <a:spLocks xmlns:a="http://schemas.openxmlformats.org/drawingml/2006/main" noGrp="1"/>
          </p:cNvSpPr>
          <p:nvPr/>
        </p:nvSpPr>
        <p:spPr>
          <a:xfrm xmlns:a="http://schemas.openxmlformats.org/drawingml/2006/main">
            <a:off x="1143000" y="4762500"/>
            <a:ext cx="990600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19050">
            <a:solidFill>
              <a:srgbClr val="CBD5E1"/>
            </a:solidFill>
            <a:prstDash val="solid"/>
          </a:ln>
        </p:spPr>
      </p:sp>
      <p:sp>
        <p:nvSpPr>
          <p:cNvPr id="10" name="shared_5_evidence_text">
            <a:extLst xmlns:a="http://schemas.openxmlformats.org/drawingml/2006/main">
              <a:ext uri="{FF2B5EF4-FFF2-40B4-BE49-F238E27FC236}">
                <a16:creationId xmlns:a16="http://schemas.microsoft.com/office/drawing/2014/main" id="{A25252CE-C8E4-404D-A8BC-FFA02B473E64}"/>
              </a:ext>
            </a:extLst>
          </p:cNvPr>
          <p:cNvSpPr>
            <a:spLocks xmlns:a="http://schemas.openxmlformats.org/drawingml/2006/main" noGrp="1"/>
          </p:cNvSpPr>
          <p:nvPr/>
        </p:nvSpPr>
        <p:spPr>
          <a:xfrm xmlns:a="http://schemas.openxmlformats.org/drawingml/2006/main">
            <a:off x="1371600" y="4991100"/>
            <a:ext cx="9448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700" b="0">
                <a:solidFill>
                  <a:srgbClr val="111827"/>
                </a:solidFill>
                <a:latin typeface="Trebuchet MS"/>
                <a:ea typeface="Trebuchet MS"/>
                <a:cs typeface="Trebuchet MS"/>
              </a:defRPr>
            </a:pPr>
            <a:r>
              <a:rPr sz="2700" b="0">
                <a:solidFill>
                  <a:srgbClr val="111827"/>
                </a:solidFill>
                <a:latin typeface="Trebuchet MS"/>
                <a:ea typeface="Trebuchet MS"/>
                <a:cs typeface="Trebuchet MS"/>
              </a:rPr>
              <a:t>The paragraph defines the term directly, then names two examples.</a:t>
            </a:r>
          </a:p>
        </p:txBody>
      </p:sp>
    </p:spTree>
    <p:extLst>
      <p:ext uri="{BB962C8B-B14F-4D97-AF65-F5344CB8AC3E}">
        <p14:creationId xmlns:p14="http://schemas.microsoft.com/office/powerpoint/2010/main" val="769565595"/>
      </p:ext>
    </p:extLst>
  </p:cSld>
</p:sld>
</file>

<file path=ppt/slides/slide4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42">
            <a:extLst xmlns:a="http://schemas.openxmlformats.org/drawingml/2006/main">
              <a:ext uri="{FF2B5EF4-FFF2-40B4-BE49-F238E27FC236}">
                <a16:creationId xmlns:a16="http://schemas.microsoft.com/office/drawing/2014/main" id="{435F2347-B5D8-4095-854F-BECD73567E7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42">
            <a:extLst xmlns:a="http://schemas.openxmlformats.org/drawingml/2006/main">
              <a:ext uri="{FF2B5EF4-FFF2-40B4-BE49-F238E27FC236}">
                <a16:creationId xmlns:a16="http://schemas.microsoft.com/office/drawing/2014/main" id="{586E22F1-A6F4-4FE5-8928-E8E105DC56EA}"/>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r>
              <a:t/>
            </a:r>
          </a:p>
        </p:txBody>
      </p:sp>
      <p:sp>
        <p:nvSpPr>
          <p:cNvPr id="3" name="title_42">
            <a:extLst xmlns:a="http://schemas.openxmlformats.org/drawingml/2006/main">
              <a:ext uri="{FF2B5EF4-FFF2-40B4-BE49-F238E27FC236}">
                <a16:creationId xmlns:a16="http://schemas.microsoft.com/office/drawing/2014/main" id="{686A622A-9FC0-4DE6-9B6D-FD89530E837A}"/>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Use subject-specific vocabulary accurately</a:t>
            </a:r>
          </a:p>
        </p:txBody>
      </p:sp>
      <p:sp>
        <p:nvSpPr>
          <p:cNvPr id="4" name="page_42">
            <a:extLst xmlns:a="http://schemas.openxmlformats.org/drawingml/2006/main">
              <a:ext uri="{FF2B5EF4-FFF2-40B4-BE49-F238E27FC236}">
                <a16:creationId xmlns:a16="http://schemas.microsoft.com/office/drawing/2014/main" id="{44EAD61B-6E36-4F97-8EAD-478EFF7DF56A}"/>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42</a:t>
            </a:r>
          </a:p>
        </p:txBody>
      </p:sp>
      <p:sp>
        <p:nvSpPr>
          <p:cNvPr id="5" name="writing_role_42_panel">
            <a:extLst xmlns:a="http://schemas.openxmlformats.org/drawingml/2006/main">
              <a:ext uri="{FF2B5EF4-FFF2-40B4-BE49-F238E27FC236}">
                <a16:creationId xmlns:a16="http://schemas.microsoft.com/office/drawing/2014/main" id="{9001E2F8-ED85-4D4B-98E6-F186B6A5BAC9}"/>
              </a:ext>
            </a:extLst>
          </p:cNvPr>
          <p:cNvSpPr>
            <a:spLocks xmlns:a="http://schemas.openxmlformats.org/drawingml/2006/main" noGrp="1"/>
          </p:cNvSpPr>
          <p:nvPr/>
        </p:nvSpPr>
        <p:spPr>
          <a:xfrm xmlns:a="http://schemas.openxmlformats.org/drawingml/2006/main">
            <a:off x="552450" y="38100"/>
            <a:ext cx="3048000" cy="533400"/>
          </a:xfrm>
          <a:prstGeom xmlns:a="http://schemas.openxmlformats.org/drawingml/2006/main" prst="roundRect">
            <a:avLst>
              <a:gd name="adj" fmla="val 28571"/>
            </a:avLst>
          </a:prstGeom>
          <a:solidFill xmlns:a="http://schemas.openxmlformats.org/drawingml/2006/main">
            <a:srgbClr val="005A9C"/>
          </a:solidFill>
          <a:ln xmlns:a="http://schemas.openxmlformats.org/drawingml/2006/main" w="19050">
            <a:solidFill>
              <a:srgbClr val="005A9C"/>
            </a:solidFill>
            <a:prstDash val="solid"/>
          </a:ln>
        </p:spPr>
      </p:sp>
      <p:sp>
        <p:nvSpPr>
          <p:cNvPr id="6" name="writing_role_42_text">
            <a:extLst xmlns:a="http://schemas.openxmlformats.org/drawingml/2006/main">
              <a:ext uri="{FF2B5EF4-FFF2-40B4-BE49-F238E27FC236}">
                <a16:creationId xmlns:a16="http://schemas.microsoft.com/office/drawing/2014/main" id="{3225567E-4005-4465-8A70-D25B32BA644A}"/>
              </a:ext>
            </a:extLst>
          </p:cNvPr>
          <p:cNvSpPr>
            <a:spLocks xmlns:a="http://schemas.openxmlformats.org/drawingml/2006/main" noGrp="1"/>
          </p:cNvSpPr>
          <p:nvPr/>
        </p:nvSpPr>
        <p:spPr>
          <a:xfrm xmlns:a="http://schemas.openxmlformats.org/drawingml/2006/main">
            <a:off x="695325" y="18097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1650" b="1">
                <a:solidFill>
                  <a:srgbClr val="FFFFFF"/>
                </a:solidFill>
                <a:latin typeface="Trebuchet MS"/>
                <a:ea typeface="Trebuchet MS"/>
                <a:cs typeface="Trebuchet MS"/>
              </a:defRPr>
            </a:pPr>
            <a:r>
              <a:rPr sz="1650" b="1">
                <a:solidFill>
                  <a:srgbClr val="FFFFFF"/>
                </a:solidFill>
                <a:latin typeface="Trebuchet MS"/>
                <a:ea typeface="Trebuchet MS"/>
                <a:cs typeface="Trebuchet MS"/>
              </a:rPr>
              <a:t>WRITING • TEACH</a:t>
            </a:r>
          </a:p>
        </p:txBody>
      </p:sp>
      <p:sp>
        <p:nvSpPr>
          <p:cNvPr id="7" name="writing_li_panel">
            <a:extLst xmlns:a="http://schemas.openxmlformats.org/drawingml/2006/main">
              <a:ext uri="{FF2B5EF4-FFF2-40B4-BE49-F238E27FC236}">
                <a16:creationId xmlns:a16="http://schemas.microsoft.com/office/drawing/2014/main" id="{AF2D5A4B-67C5-45F4-A8FE-F45233C683F1}"/>
              </a:ext>
            </a:extLst>
          </p:cNvPr>
          <p:cNvSpPr>
            <a:spLocks xmlns:a="http://schemas.openxmlformats.org/drawingml/2006/main" noGrp="1"/>
          </p:cNvSpPr>
          <p:nvPr/>
        </p:nvSpPr>
        <p:spPr>
          <a:xfrm xmlns:a="http://schemas.openxmlformats.org/drawingml/2006/main">
            <a:off x="571500" y="1257300"/>
            <a:ext cx="11049000" cy="1619250"/>
          </a:xfrm>
          <a:prstGeom xmlns:a="http://schemas.openxmlformats.org/drawingml/2006/main" prst="roundRect">
            <a:avLst>
              <a:gd name="adj" fmla="val 9412"/>
            </a:avLst>
          </a:prstGeom>
          <a:solidFill xmlns:a="http://schemas.openxmlformats.org/drawingml/2006/main">
            <a:srgbClr val="EAF2F8"/>
          </a:solidFill>
          <a:ln xmlns:a="http://schemas.openxmlformats.org/drawingml/2006/main" w="19050">
            <a:solidFill>
              <a:srgbClr val="7AA7C7"/>
            </a:solidFill>
            <a:prstDash val="solid"/>
          </a:ln>
        </p:spPr>
      </p:sp>
      <p:sp>
        <p:nvSpPr>
          <p:cNvPr id="8" name="writing_li_text">
            <a:extLst xmlns:a="http://schemas.openxmlformats.org/drawingml/2006/main">
              <a:ext uri="{FF2B5EF4-FFF2-40B4-BE49-F238E27FC236}">
                <a16:creationId xmlns:a16="http://schemas.microsoft.com/office/drawing/2014/main" id="{AA535B2C-A81D-4EBB-985E-3B6E897CDD1A}"/>
              </a:ext>
            </a:extLst>
          </p:cNvPr>
          <p:cNvSpPr>
            <a:spLocks xmlns:a="http://schemas.openxmlformats.org/drawingml/2006/main" noGrp="1"/>
          </p:cNvSpPr>
          <p:nvPr/>
        </p:nvSpPr>
        <p:spPr>
          <a:xfrm xmlns:a="http://schemas.openxmlformats.org/drawingml/2006/main">
            <a:off x="838200" y="1524000"/>
            <a:ext cx="105156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103A5E"/>
                </a:solidFill>
                <a:latin typeface="Trebuchet MS"/>
                <a:ea typeface="Trebuchet MS"/>
                <a:cs typeface="Trebuchet MS"/>
              </a:defRPr>
            </a:pPr>
            <a:r>
              <a:rPr sz="2850" b="1">
                <a:solidFill>
                  <a:srgbClr val="103A5E"/>
                </a:solidFill>
                <a:latin typeface="Trebuchet MS"/>
                <a:ea typeface="Trebuchet MS"/>
                <a:cs typeface="Trebuchet MS"/>
              </a:rPr>
              <a:t>Learning intention</a:t>
            </a:r>
          </a:p>
          <a:p xmlns:a="http://schemas.openxmlformats.org/drawingml/2006/main">
            <a:pPr algn="ctr">
              <a:lnSpc>
                <a:spcPct val="108000"/>
              </a:lnSpc>
              <a:buNone/>
              <a:defRPr sz="2850" b="1">
                <a:solidFill>
                  <a:srgbClr val="103A5E"/>
                </a:solidFill>
                <a:latin typeface="Trebuchet MS"/>
                <a:ea typeface="Trebuchet MS"/>
                <a:cs typeface="Trebuchet MS"/>
              </a:defRPr>
            </a:pPr>
            <a:r>
              <a:rPr sz="2850" b="1">
                <a:solidFill>
                  <a:srgbClr val="103A5E"/>
                </a:solidFill>
                <a:latin typeface="Trebuchet MS"/>
                <a:ea typeface="Trebuchet MS"/>
                <a:cs typeface="Trebuchet MS"/>
              </a:rPr>
              <a:t>We are learning to choose, explain and use subject-specific words that make information exact.</a:t>
            </a:r>
          </a:p>
        </p:txBody>
      </p:sp>
      <p:sp>
        <p:nvSpPr>
          <p:cNvPr id="9" name="writing_success_panel">
            <a:extLst xmlns:a="http://schemas.openxmlformats.org/drawingml/2006/main">
              <a:ext uri="{FF2B5EF4-FFF2-40B4-BE49-F238E27FC236}">
                <a16:creationId xmlns:a16="http://schemas.microsoft.com/office/drawing/2014/main" id="{D65B6A01-BC7D-4D78-BC36-005821A2F52E}"/>
              </a:ext>
            </a:extLst>
          </p:cNvPr>
          <p:cNvSpPr>
            <a:spLocks xmlns:a="http://schemas.openxmlformats.org/drawingml/2006/main" noGrp="1"/>
          </p:cNvSpPr>
          <p:nvPr/>
        </p:nvSpPr>
        <p:spPr>
          <a:xfrm xmlns:a="http://schemas.openxmlformats.org/drawingml/2006/main">
            <a:off x="571500" y="3143250"/>
            <a:ext cx="11049000" cy="2571750"/>
          </a:xfrm>
          <a:prstGeom xmlns:a="http://schemas.openxmlformats.org/drawingml/2006/main" prst="roundRect">
            <a:avLst>
              <a:gd name="adj" fmla="val 5926"/>
            </a:avLst>
          </a:prstGeom>
          <a:solidFill xmlns:a="http://schemas.openxmlformats.org/drawingml/2006/main">
            <a:srgbClr val="EAF7EE"/>
          </a:solidFill>
          <a:ln xmlns:a="http://schemas.openxmlformats.org/drawingml/2006/main" w="19050">
            <a:solidFill>
              <a:srgbClr val="70A77C"/>
            </a:solidFill>
            <a:prstDash val="solid"/>
          </a:ln>
        </p:spPr>
      </p:sp>
      <p:sp>
        <p:nvSpPr>
          <p:cNvPr id="10" name="writing_success_text">
            <a:extLst xmlns:a="http://schemas.openxmlformats.org/drawingml/2006/main">
              <a:ext uri="{FF2B5EF4-FFF2-40B4-BE49-F238E27FC236}">
                <a16:creationId xmlns:a16="http://schemas.microsoft.com/office/drawing/2014/main" id="{95614BC6-58A8-4A31-B4FB-CF194DD9E642}"/>
              </a:ext>
            </a:extLst>
          </p:cNvPr>
          <p:cNvSpPr>
            <a:spLocks xmlns:a="http://schemas.openxmlformats.org/drawingml/2006/main" noGrp="1"/>
          </p:cNvSpPr>
          <p:nvPr/>
        </p:nvSpPr>
        <p:spPr>
          <a:xfrm xmlns:a="http://schemas.openxmlformats.org/drawingml/2006/main">
            <a:off x="857250" y="3429000"/>
            <a:ext cx="10477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184D2B"/>
                </a:solidFill>
                <a:latin typeface="Trebuchet MS"/>
                <a:ea typeface="Trebuchet MS"/>
                <a:cs typeface="Trebuchet MS"/>
              </a:defRPr>
            </a:pPr>
            <a:r>
              <a:rPr sz="2850" b="1">
                <a:solidFill>
                  <a:srgbClr val="184D2B"/>
                </a:solidFill>
                <a:latin typeface="Trebuchet MS"/>
                <a:ea typeface="Trebuchet MS"/>
                <a:cs typeface="Trebuchet MS"/>
              </a:rPr>
              <a:t>SUCCESS</a:t>
            </a:r>
          </a:p>
          <a:p xmlns:a="http://schemas.openxmlformats.org/drawingml/2006/main">
            <a:pPr algn="ctr">
              <a:lnSpc>
                <a:spcPct val="108000"/>
              </a:lnSpc>
              <a:buNone/>
              <a:defRPr sz="2850" b="1">
                <a:solidFill>
                  <a:srgbClr val="184D2B"/>
                </a:solidFill>
                <a:latin typeface="Trebuchet MS"/>
                <a:ea typeface="Trebuchet MS"/>
                <a:cs typeface="Trebuchet MS"/>
              </a:defRPr>
            </a:pPr>
            <a:r>
              <a:rPr sz="2850" b="1">
                <a:solidFill>
                  <a:srgbClr val="184D2B"/>
                </a:solidFill>
                <a:latin typeface="Trebuchet MS"/>
                <a:ea typeface="Trebuchet MS"/>
                <a:cs typeface="Trebuchet MS"/>
              </a:rPr>
              <a:t>1. I can select three accurate technical words.</a:t>
            </a:r>
          </a:p>
          <a:p xmlns:a="http://schemas.openxmlformats.org/drawingml/2006/main">
            <a:pPr algn="ctr">
              <a:lnSpc>
                <a:spcPct val="108000"/>
              </a:lnSpc>
              <a:buNone/>
              <a:defRPr sz="2850" b="1">
                <a:solidFill>
                  <a:srgbClr val="184D2B"/>
                </a:solidFill>
                <a:latin typeface="Trebuchet MS"/>
                <a:ea typeface="Trebuchet MS"/>
                <a:cs typeface="Trebuchet MS"/>
              </a:defRPr>
            </a:pPr>
            <a:r>
              <a:rPr sz="2850" b="1">
                <a:solidFill>
                  <a:srgbClr val="184D2B"/>
                </a:solidFill>
                <a:latin typeface="Trebuchet MS"/>
                <a:ea typeface="Trebuchet MS"/>
                <a:cs typeface="Trebuchet MS"/>
              </a:rPr>
              <a:t>2. I can use them in a five-sentence paragraph.</a:t>
            </a:r>
          </a:p>
          <a:p xmlns:a="http://schemas.openxmlformats.org/drawingml/2006/main">
            <a:pPr algn="ctr">
              <a:lnSpc>
                <a:spcPct val="108000"/>
              </a:lnSpc>
              <a:buNone/>
              <a:defRPr sz="2850" b="1">
                <a:solidFill>
                  <a:srgbClr val="184D2B"/>
                </a:solidFill>
                <a:latin typeface="Trebuchet MS"/>
                <a:ea typeface="Trebuchet MS"/>
                <a:cs typeface="Trebuchet MS"/>
              </a:defRPr>
            </a:pPr>
            <a:r>
              <a:rPr sz="2850" b="1">
                <a:solidFill>
                  <a:srgbClr val="184D2B"/>
                </a:solidFill>
                <a:latin typeface="Trebuchet MS"/>
                <a:ea typeface="Trebuchet MS"/>
                <a:cs typeface="Trebuchet MS"/>
              </a:rPr>
              <a:t>3. I can explain the exact information one word adds.</a:t>
            </a:r>
          </a:p>
        </p:txBody>
      </p:sp>
    </p:spTree>
    <p:extLst>
      <p:ext uri="{BB962C8B-B14F-4D97-AF65-F5344CB8AC3E}">
        <p14:creationId xmlns:p14="http://schemas.microsoft.com/office/powerpoint/2010/main" val="861357522"/>
      </p:ext>
    </p:extLst>
  </p:cSld>
</p:sld>
</file>

<file path=ppt/slides/slide43.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2" name="section_bar_43">
            <a:extLst xmlns:a="http://schemas.openxmlformats.org/drawingml/2006/main">
              <a:ext uri="{FF2B5EF4-FFF2-40B4-BE49-F238E27FC236}">
                <a16:creationId xmlns:a16="http://schemas.microsoft.com/office/drawing/2014/main" id="{827C98EB-84DB-4E72-BEFF-A97010FAB9E3}"/>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43">
            <a:extLst xmlns:a="http://schemas.openxmlformats.org/drawingml/2006/main">
              <a:ext uri="{FF2B5EF4-FFF2-40B4-BE49-F238E27FC236}">
                <a16:creationId xmlns:a16="http://schemas.microsoft.com/office/drawing/2014/main" id="{059F63CF-4CA6-4FEA-A749-D44F25A0E412}"/>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r>
              <a:t/>
            </a:r>
          </a:p>
        </p:txBody>
      </p:sp>
      <p:sp>
        <p:nvSpPr>
          <p:cNvPr id="3" name="title_43">
            <a:extLst xmlns:a="http://schemas.openxmlformats.org/drawingml/2006/main">
              <a:ext uri="{FF2B5EF4-FFF2-40B4-BE49-F238E27FC236}">
                <a16:creationId xmlns:a16="http://schemas.microsoft.com/office/drawing/2014/main" id="{C84585E8-FFF2-4DF7-9995-C253EBBB852D}"/>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Precise words keep the idea but sharpen it</a:t>
            </a:r>
          </a:p>
        </p:txBody>
      </p:sp>
      <p:sp>
        <p:nvSpPr>
          <p:cNvPr id="4" name="page_43">
            <a:extLst xmlns:a="http://schemas.openxmlformats.org/drawingml/2006/main">
              <a:ext uri="{FF2B5EF4-FFF2-40B4-BE49-F238E27FC236}">
                <a16:creationId xmlns:a16="http://schemas.microsoft.com/office/drawing/2014/main" id="{7DC86F2E-6A92-4429-9E1C-1F75D41CAD83}"/>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43</a:t>
            </a:r>
          </a:p>
        </p:txBody>
      </p:sp>
      <p:sp>
        <p:nvSpPr>
          <p:cNvPr id="5" name="writing_role_43_panel">
            <a:extLst xmlns:a="http://schemas.openxmlformats.org/drawingml/2006/main">
              <a:ext uri="{FF2B5EF4-FFF2-40B4-BE49-F238E27FC236}">
                <a16:creationId xmlns:a16="http://schemas.microsoft.com/office/drawing/2014/main" id="{6E393CD7-CC72-4462-B04C-07567B8C5CF9}"/>
              </a:ext>
            </a:extLst>
          </p:cNvPr>
          <p:cNvSpPr>
            <a:spLocks xmlns:a="http://schemas.openxmlformats.org/drawingml/2006/main" noGrp="1"/>
          </p:cNvSpPr>
          <p:nvPr/>
        </p:nvSpPr>
        <p:spPr>
          <a:xfrm xmlns:a="http://schemas.openxmlformats.org/drawingml/2006/main">
            <a:off x="552450" y="38100"/>
            <a:ext cx="3048000" cy="533400"/>
          </a:xfrm>
          <a:prstGeom xmlns:a="http://schemas.openxmlformats.org/drawingml/2006/main" prst="roundRect">
            <a:avLst>
              <a:gd name="adj" fmla="val 28571"/>
            </a:avLst>
          </a:prstGeom>
          <a:solidFill xmlns:a="http://schemas.openxmlformats.org/drawingml/2006/main">
            <a:srgbClr val="005A9C"/>
          </a:solidFill>
          <a:ln xmlns:a="http://schemas.openxmlformats.org/drawingml/2006/main" w="19050">
            <a:solidFill>
              <a:srgbClr val="005A9C"/>
            </a:solidFill>
            <a:prstDash val="solid"/>
          </a:ln>
        </p:spPr>
      </p:sp>
      <p:sp>
        <p:nvSpPr>
          <p:cNvPr id="6" name="writing_role_43_text">
            <a:extLst xmlns:a="http://schemas.openxmlformats.org/drawingml/2006/main">
              <a:ext uri="{FF2B5EF4-FFF2-40B4-BE49-F238E27FC236}">
                <a16:creationId xmlns:a16="http://schemas.microsoft.com/office/drawing/2014/main" id="{A914DFF7-DF1F-4B3E-A5F9-17F58E17B5A8}"/>
              </a:ext>
            </a:extLst>
          </p:cNvPr>
          <p:cNvSpPr>
            <a:spLocks xmlns:a="http://schemas.openxmlformats.org/drawingml/2006/main" noGrp="1"/>
          </p:cNvSpPr>
          <p:nvPr/>
        </p:nvSpPr>
        <p:spPr>
          <a:xfrm xmlns:a="http://schemas.openxmlformats.org/drawingml/2006/main">
            <a:off x="695325" y="18097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1650" b="1">
                <a:solidFill>
                  <a:srgbClr val="FFFFFF"/>
                </a:solidFill>
                <a:latin typeface="Trebuchet MS"/>
                <a:ea typeface="Trebuchet MS"/>
                <a:cs typeface="Trebuchet MS"/>
              </a:defRPr>
            </a:pPr>
            <a:r>
              <a:rPr sz="1650" b="1">
                <a:solidFill>
                  <a:srgbClr val="FFFFFF"/>
                </a:solidFill>
                <a:latin typeface="Trebuchet MS"/>
                <a:ea typeface="Trebuchet MS"/>
                <a:cs typeface="Trebuchet MS"/>
              </a:rPr>
              <a:t>WRITING • MODEL</a:t>
            </a:r>
          </a:p>
        </p:txBody>
      </p:sp>
      <p:sp>
        <p:nvSpPr>
          <p:cNvPr id="7" name="writing_model_one_panel">
            <a:extLst xmlns:a="http://schemas.openxmlformats.org/drawingml/2006/main">
              <a:ext uri="{FF2B5EF4-FFF2-40B4-BE49-F238E27FC236}">
                <a16:creationId xmlns:a16="http://schemas.microsoft.com/office/drawing/2014/main" id="{3B8DA1C7-1F5B-4118-BB04-97772B62E782}"/>
              </a:ext>
            </a:extLst>
          </p:cNvPr>
          <p:cNvSpPr>
            <a:spLocks xmlns:a="http://schemas.openxmlformats.org/drawingml/2006/main" noGrp="1"/>
          </p:cNvSpPr>
          <p:nvPr/>
        </p:nvSpPr>
        <p:spPr>
          <a:xfrm xmlns:a="http://schemas.openxmlformats.org/drawingml/2006/main">
            <a:off x="571500" y="1314450"/>
            <a:ext cx="11049000" cy="1809750"/>
          </a:xfrm>
          <a:prstGeom xmlns:a="http://schemas.openxmlformats.org/drawingml/2006/main" prst="roundRect">
            <a:avLst>
              <a:gd name="adj" fmla="val 8421"/>
            </a:avLst>
          </a:prstGeom>
          <a:solidFill xmlns:a="http://schemas.openxmlformats.org/drawingml/2006/main">
            <a:srgbClr val="EAF2F8"/>
          </a:solidFill>
          <a:ln xmlns:a="http://schemas.openxmlformats.org/drawingml/2006/main" w="19050">
            <a:solidFill>
              <a:srgbClr val="7AA7C7"/>
            </a:solidFill>
            <a:prstDash val="solid"/>
          </a:ln>
        </p:spPr>
      </p:sp>
      <p:sp>
        <p:nvSpPr>
          <p:cNvPr id="8" name="writing_model_one_text">
            <a:extLst xmlns:a="http://schemas.openxmlformats.org/drawingml/2006/main">
              <a:ext uri="{FF2B5EF4-FFF2-40B4-BE49-F238E27FC236}">
                <a16:creationId xmlns:a16="http://schemas.microsoft.com/office/drawing/2014/main" id="{100A4BC2-2EC6-432D-B1A1-E3E2E3A2C3DB}"/>
              </a:ext>
            </a:extLst>
          </p:cNvPr>
          <p:cNvSpPr>
            <a:spLocks xmlns:a="http://schemas.openxmlformats.org/drawingml/2006/main" noGrp="1"/>
          </p:cNvSpPr>
          <p:nvPr/>
        </p:nvSpPr>
        <p:spPr>
          <a:xfrm xmlns:a="http://schemas.openxmlformats.org/drawingml/2006/main">
            <a:off x="838200" y="1581150"/>
            <a:ext cx="105156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103A5E"/>
                </a:solidFill>
                <a:latin typeface="Trebuchet MS"/>
                <a:ea typeface="Trebuchet MS"/>
                <a:cs typeface="Trebuchet MS"/>
              </a:defRPr>
            </a:pPr>
            <a:r>
              <a:rPr sz="2850" b="1">
                <a:solidFill>
                  <a:srgbClr val="103A5E"/>
                </a:solidFill>
                <a:latin typeface="Trebuchet MS"/>
                <a:ea typeface="Trebuchet MS"/>
                <a:cs typeface="Trebuchet MS"/>
              </a:rPr>
              <a:t>EVERYDAY: Ships travel through the waterway.</a:t>
            </a:r>
          </a:p>
          <a:p xmlns:a="http://schemas.openxmlformats.org/drawingml/2006/main">
            <a:pPr algn="ctr">
              <a:lnSpc>
                <a:spcPct val="108000"/>
              </a:lnSpc>
              <a:buNone/>
              <a:defRPr sz="2850" b="1">
                <a:solidFill>
                  <a:srgbClr val="103A5E"/>
                </a:solidFill>
                <a:latin typeface="Trebuchet MS"/>
                <a:ea typeface="Trebuchet MS"/>
                <a:cs typeface="Trebuchet MS"/>
              </a:defRPr>
            </a:pPr>
            <a:r>
              <a:rPr sz="2850" b="1">
                <a:solidFill>
                  <a:srgbClr val="103A5E"/>
                </a:solidFill>
                <a:latin typeface="Trebuchet MS"/>
                <a:ea typeface="Trebuchet MS"/>
                <a:cs typeface="Trebuchet MS"/>
              </a:rPr>
              <a:t>PRECISE: Cargo ships travel through the estuary.</a:t>
            </a:r>
          </a:p>
          <a:p xmlns:a="http://schemas.openxmlformats.org/drawingml/2006/main">
            <a:pPr algn="ctr">
              <a:lnSpc>
                <a:spcPct val="108000"/>
              </a:lnSpc>
              <a:buNone/>
              <a:defRPr sz="2850" b="1">
                <a:solidFill>
                  <a:srgbClr val="103A5E"/>
                </a:solidFill>
                <a:latin typeface="Trebuchet MS"/>
                <a:ea typeface="Trebuchet MS"/>
                <a:cs typeface="Trebuchet MS"/>
              </a:defRPr>
            </a:pPr>
            <a:r>
              <a:rPr sz="2850" b="1">
                <a:solidFill>
                  <a:srgbClr val="103A5E"/>
                </a:solidFill>
                <a:latin typeface="Trebuchet MS"/>
                <a:ea typeface="Trebuchet MS"/>
                <a:cs typeface="Trebuchet MS"/>
              </a:rPr>
              <a:t>Same action; more exact ship and waterway.</a:t>
            </a:r>
          </a:p>
        </p:txBody>
      </p:sp>
      <p:sp>
        <p:nvSpPr>
          <p:cNvPr id="9" name="writing_model_two_panel">
            <a:extLst xmlns:a="http://schemas.openxmlformats.org/drawingml/2006/main">
              <a:ext uri="{FF2B5EF4-FFF2-40B4-BE49-F238E27FC236}">
                <a16:creationId xmlns:a16="http://schemas.microsoft.com/office/drawing/2014/main" id="{AE261171-028A-4147-BCA5-A89478327911}"/>
              </a:ext>
            </a:extLst>
          </p:cNvPr>
          <p:cNvSpPr>
            <a:spLocks xmlns:a="http://schemas.openxmlformats.org/drawingml/2006/main" noGrp="1"/>
          </p:cNvSpPr>
          <p:nvPr/>
        </p:nvSpPr>
        <p:spPr>
          <a:xfrm xmlns:a="http://schemas.openxmlformats.org/drawingml/2006/main">
            <a:off x="571500" y="3390900"/>
            <a:ext cx="11049000" cy="1809750"/>
          </a:xfrm>
          <a:prstGeom xmlns:a="http://schemas.openxmlformats.org/drawingml/2006/main" prst="roundRect">
            <a:avLst>
              <a:gd name="adj" fmla="val 8421"/>
            </a:avLst>
          </a:prstGeom>
          <a:solidFill xmlns:a="http://schemas.openxmlformats.org/drawingml/2006/main">
            <a:srgbClr val="EAF7EE"/>
          </a:solidFill>
          <a:ln xmlns:a="http://schemas.openxmlformats.org/drawingml/2006/main" w="19050">
            <a:solidFill>
              <a:srgbClr val="70A77C"/>
            </a:solidFill>
            <a:prstDash val="solid"/>
          </a:ln>
        </p:spPr>
      </p:sp>
      <p:sp>
        <p:nvSpPr>
          <p:cNvPr id="10" name="writing_model_two_text">
            <a:extLst xmlns:a="http://schemas.openxmlformats.org/drawingml/2006/main">
              <a:ext uri="{FF2B5EF4-FFF2-40B4-BE49-F238E27FC236}">
                <a16:creationId xmlns:a16="http://schemas.microsoft.com/office/drawing/2014/main" id="{8B120F22-568E-493D-A212-13F09D853073}"/>
              </a:ext>
            </a:extLst>
          </p:cNvPr>
          <p:cNvSpPr>
            <a:spLocks xmlns:a="http://schemas.openxmlformats.org/drawingml/2006/main" noGrp="1"/>
          </p:cNvSpPr>
          <p:nvPr/>
        </p:nvSpPr>
        <p:spPr>
          <a:xfrm xmlns:a="http://schemas.openxmlformats.org/drawingml/2006/main">
            <a:off x="838200" y="3657600"/>
            <a:ext cx="105156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184D2B"/>
                </a:solidFill>
                <a:latin typeface="Trebuchet MS"/>
                <a:ea typeface="Trebuchet MS"/>
                <a:cs typeface="Trebuchet MS"/>
              </a:defRPr>
            </a:pPr>
            <a:r>
              <a:rPr sz="2850" b="1">
                <a:solidFill>
                  <a:srgbClr val="184D2B"/>
                </a:solidFill>
                <a:latin typeface="Trebuchet MS"/>
                <a:ea typeface="Trebuchet MS"/>
                <a:cs typeface="Trebuchet MS"/>
              </a:rPr>
              <a:t>EVERYDAY: Animals graze on the land.</a:t>
            </a:r>
          </a:p>
          <a:p xmlns:a="http://schemas.openxmlformats.org/drawingml/2006/main">
            <a:pPr algn="ctr">
              <a:lnSpc>
                <a:spcPct val="108000"/>
              </a:lnSpc>
              <a:buNone/>
              <a:defRPr sz="2850" b="1">
                <a:solidFill>
                  <a:srgbClr val="184D2B"/>
                </a:solidFill>
                <a:latin typeface="Trebuchet MS"/>
                <a:ea typeface="Trebuchet MS"/>
                <a:cs typeface="Trebuchet MS"/>
              </a:defRPr>
            </a:pPr>
            <a:r>
              <a:rPr sz="2850" b="1">
                <a:solidFill>
                  <a:srgbClr val="184D2B"/>
                </a:solidFill>
                <a:latin typeface="Trebuchet MS"/>
                <a:ea typeface="Trebuchet MS"/>
                <a:cs typeface="Trebuchet MS"/>
              </a:rPr>
              <a:t>PRECISE: Cattle graze on pasture.</a:t>
            </a:r>
          </a:p>
          <a:p xmlns:a="http://schemas.openxmlformats.org/drawingml/2006/main">
            <a:pPr algn="ctr">
              <a:lnSpc>
                <a:spcPct val="108000"/>
              </a:lnSpc>
              <a:buNone/>
              <a:defRPr sz="2850" b="1">
                <a:solidFill>
                  <a:srgbClr val="184D2B"/>
                </a:solidFill>
                <a:latin typeface="Trebuchet MS"/>
                <a:ea typeface="Trebuchet MS"/>
                <a:cs typeface="Trebuchet MS"/>
              </a:defRPr>
            </a:pPr>
            <a:r>
              <a:rPr sz="2850" b="1">
                <a:solidFill>
                  <a:srgbClr val="184D2B"/>
                </a:solidFill>
                <a:latin typeface="Trebuchet MS"/>
                <a:ea typeface="Trebuchet MS"/>
                <a:cs typeface="Trebuchet MS"/>
              </a:rPr>
              <a:t>Same action; more exact animal and land use.</a:t>
            </a:r>
          </a:p>
        </p:txBody>
      </p:sp>
      <p:sp>
        <p:nvSpPr>
          <p:cNvPr id="11" name="writing_model_rule">
            <a:extLst xmlns:a="http://schemas.openxmlformats.org/drawingml/2006/main">
              <a:ext uri="{FF2B5EF4-FFF2-40B4-BE49-F238E27FC236}">
                <a16:creationId xmlns:a16="http://schemas.microsoft.com/office/drawing/2014/main" id="{A9F3CF55-3577-42BA-84C5-AB59ABC061AB}"/>
              </a:ext>
            </a:extLst>
          </p:cNvPr>
          <p:cNvSpPr>
            <a:spLocks xmlns:a="http://schemas.openxmlformats.org/drawingml/2006/main" noGrp="1"/>
          </p:cNvSpPr>
          <p:nvPr/>
        </p:nvSpPr>
        <p:spPr>
          <a:xfrm xmlns:a="http://schemas.openxmlformats.org/drawingml/2006/main">
            <a:off x="952500" y="552450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550" b="1">
                <a:solidFill>
                  <a:srgbClr val="111827"/>
                </a:solidFill>
                <a:latin typeface="Trebuchet MS"/>
                <a:ea typeface="Trebuchet MS"/>
                <a:cs typeface="Trebuchet MS"/>
              </a:defRPr>
            </a:pPr>
            <a:r>
              <a:rPr sz="2550" b="1">
                <a:solidFill>
                  <a:srgbClr val="111827"/>
                </a:solidFill>
                <a:latin typeface="Trebuchet MS"/>
                <a:ea typeface="Trebuchet MS"/>
                <a:cs typeface="Trebuchet MS"/>
              </a:rPr>
              <a:t>A precise change adds exact information without changing the main fact.</a:t>
            </a:r>
          </a:p>
        </p:txBody>
      </p:sp>
    </p:spTree>
    <p:extLst>
      <p:ext uri="{BB962C8B-B14F-4D97-AF65-F5344CB8AC3E}">
        <p14:creationId xmlns:p14="http://schemas.microsoft.com/office/powerpoint/2010/main" val="1148951989"/>
      </p:ext>
    </p:extLst>
  </p:cSld>
</p:sld>
</file>

<file path=ppt/slides/slide44.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44">
            <a:extLst xmlns:a="http://schemas.openxmlformats.org/drawingml/2006/main">
              <a:ext uri="{FF2B5EF4-FFF2-40B4-BE49-F238E27FC236}">
                <a16:creationId xmlns:a16="http://schemas.microsoft.com/office/drawing/2014/main" id="{BAB2062C-94D9-4FF2-80C6-AB77AC9464A9}"/>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44">
            <a:extLst xmlns:a="http://schemas.openxmlformats.org/drawingml/2006/main">
              <a:ext uri="{FF2B5EF4-FFF2-40B4-BE49-F238E27FC236}">
                <a16:creationId xmlns:a16="http://schemas.microsoft.com/office/drawing/2014/main" id="{A29CD2B3-C824-43D7-A3EB-CD437EB84E67}"/>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r>
              <a:t/>
            </a:r>
          </a:p>
        </p:txBody>
      </p:sp>
      <p:sp>
        <p:nvSpPr>
          <p:cNvPr id="3" name="title_44">
            <a:extLst xmlns:a="http://schemas.openxmlformats.org/drawingml/2006/main">
              <a:ext uri="{FF2B5EF4-FFF2-40B4-BE49-F238E27FC236}">
                <a16:creationId xmlns:a16="http://schemas.microsoft.com/office/drawing/2014/main" id="{374F9DCC-6B70-49B8-B4B4-5C38B549D813}"/>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Test a technical word before you use it</a:t>
            </a:r>
          </a:p>
        </p:txBody>
      </p:sp>
      <p:sp>
        <p:nvSpPr>
          <p:cNvPr id="4" name="page_44">
            <a:extLst xmlns:a="http://schemas.openxmlformats.org/drawingml/2006/main">
              <a:ext uri="{FF2B5EF4-FFF2-40B4-BE49-F238E27FC236}">
                <a16:creationId xmlns:a16="http://schemas.microsoft.com/office/drawing/2014/main" id="{2E5E7A9B-AC11-4D17-B3A2-7DD3C748F89A}"/>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44</a:t>
            </a:r>
          </a:p>
        </p:txBody>
      </p:sp>
      <p:sp>
        <p:nvSpPr>
          <p:cNvPr id="5" name="writing_role_44_panel">
            <a:extLst xmlns:a="http://schemas.openxmlformats.org/drawingml/2006/main">
              <a:ext uri="{FF2B5EF4-FFF2-40B4-BE49-F238E27FC236}">
                <a16:creationId xmlns:a16="http://schemas.microsoft.com/office/drawing/2014/main" id="{ECBE5EF5-BE39-4D39-BE65-DA120B1B2131}"/>
              </a:ext>
            </a:extLst>
          </p:cNvPr>
          <p:cNvSpPr>
            <a:spLocks xmlns:a="http://schemas.openxmlformats.org/drawingml/2006/main" noGrp="1"/>
          </p:cNvSpPr>
          <p:nvPr/>
        </p:nvSpPr>
        <p:spPr>
          <a:xfrm xmlns:a="http://schemas.openxmlformats.org/drawingml/2006/main">
            <a:off x="552450" y="38100"/>
            <a:ext cx="3048000" cy="533400"/>
          </a:xfrm>
          <a:prstGeom xmlns:a="http://schemas.openxmlformats.org/drawingml/2006/main" prst="roundRect">
            <a:avLst>
              <a:gd name="adj" fmla="val 28571"/>
            </a:avLst>
          </a:prstGeom>
          <a:solidFill xmlns:a="http://schemas.openxmlformats.org/drawingml/2006/main">
            <a:srgbClr val="005A9C"/>
          </a:solidFill>
          <a:ln xmlns:a="http://schemas.openxmlformats.org/drawingml/2006/main" w="19050">
            <a:solidFill>
              <a:srgbClr val="005A9C"/>
            </a:solidFill>
            <a:prstDash val="solid"/>
          </a:ln>
        </p:spPr>
      </p:sp>
      <p:sp>
        <p:nvSpPr>
          <p:cNvPr id="6" name="writing_role_44_text">
            <a:extLst xmlns:a="http://schemas.openxmlformats.org/drawingml/2006/main">
              <a:ext uri="{FF2B5EF4-FFF2-40B4-BE49-F238E27FC236}">
                <a16:creationId xmlns:a16="http://schemas.microsoft.com/office/drawing/2014/main" id="{A2952049-29BA-45B1-9058-3E9E4979B27E}"/>
              </a:ext>
            </a:extLst>
          </p:cNvPr>
          <p:cNvSpPr>
            <a:spLocks xmlns:a="http://schemas.openxmlformats.org/drawingml/2006/main" noGrp="1"/>
          </p:cNvSpPr>
          <p:nvPr/>
        </p:nvSpPr>
        <p:spPr>
          <a:xfrm xmlns:a="http://schemas.openxmlformats.org/drawingml/2006/main">
            <a:off x="695325" y="18097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1650" b="1">
                <a:solidFill>
                  <a:srgbClr val="FFFFFF"/>
                </a:solidFill>
                <a:latin typeface="Trebuchet MS"/>
                <a:ea typeface="Trebuchet MS"/>
                <a:cs typeface="Trebuchet MS"/>
              </a:defRPr>
            </a:pPr>
            <a:r>
              <a:rPr sz="1650" b="1">
                <a:solidFill>
                  <a:srgbClr val="FFFFFF"/>
                </a:solidFill>
                <a:latin typeface="Trebuchet MS"/>
                <a:ea typeface="Trebuchet MS"/>
                <a:cs typeface="Trebuchet MS"/>
              </a:rPr>
              <a:t>WRITING • MODEL</a:t>
            </a:r>
          </a:p>
        </p:txBody>
      </p:sp>
      <p:sp>
        <p:nvSpPr>
          <p:cNvPr id="7" name="writing_test_panel">
            <a:extLst xmlns:a="http://schemas.openxmlformats.org/drawingml/2006/main">
              <a:ext uri="{FF2B5EF4-FFF2-40B4-BE49-F238E27FC236}">
                <a16:creationId xmlns:a16="http://schemas.microsoft.com/office/drawing/2014/main" id="{3588985F-8CD4-44F4-9F9B-1F558CE29FE1}"/>
              </a:ext>
            </a:extLst>
          </p:cNvPr>
          <p:cNvSpPr>
            <a:spLocks xmlns:a="http://schemas.openxmlformats.org/drawingml/2006/main" noGrp="1"/>
          </p:cNvSpPr>
          <p:nvPr/>
        </p:nvSpPr>
        <p:spPr>
          <a:xfrm xmlns:a="http://schemas.openxmlformats.org/drawingml/2006/main">
            <a:off x="762000" y="1257300"/>
            <a:ext cx="10668000" cy="3028950"/>
          </a:xfrm>
          <a:prstGeom xmlns:a="http://schemas.openxmlformats.org/drawingml/2006/main" prst="roundRect">
            <a:avLst>
              <a:gd name="adj" fmla="val 5031"/>
            </a:avLst>
          </a:prstGeom>
          <a:solidFill xmlns:a="http://schemas.openxmlformats.org/drawingml/2006/main">
            <a:srgbClr val="FFF3BF"/>
          </a:solidFill>
          <a:ln xmlns:a="http://schemas.openxmlformats.org/drawingml/2006/main" w="19050">
            <a:solidFill>
              <a:srgbClr val="D6A900"/>
            </a:solidFill>
            <a:prstDash val="solid"/>
          </a:ln>
        </p:spPr>
      </p:sp>
      <p:sp>
        <p:nvSpPr>
          <p:cNvPr id="8" name="writing_test_text">
            <a:extLst xmlns:a="http://schemas.openxmlformats.org/drawingml/2006/main">
              <a:ext uri="{FF2B5EF4-FFF2-40B4-BE49-F238E27FC236}">
                <a16:creationId xmlns:a16="http://schemas.microsoft.com/office/drawing/2014/main" id="{00BEEE13-E592-4436-8259-3E31410B75B2}"/>
              </a:ext>
            </a:extLst>
          </p:cNvPr>
          <p:cNvSpPr>
            <a:spLocks xmlns:a="http://schemas.openxmlformats.org/drawingml/2006/main" noGrp="1"/>
          </p:cNvSpPr>
          <p:nvPr/>
        </p:nvSpPr>
        <p:spPr>
          <a:xfrm xmlns:a="http://schemas.openxmlformats.org/drawingml/2006/main">
            <a:off x="1085850" y="1581150"/>
            <a:ext cx="100203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000" b="1">
                <a:solidFill>
                  <a:srgbClr val="3B2F00"/>
                </a:solidFill>
                <a:latin typeface="Trebuchet MS"/>
                <a:ea typeface="Trebuchet MS"/>
                <a:cs typeface="Trebuchet MS"/>
              </a:defRPr>
            </a:pPr>
            <a:r>
              <a:rPr sz="3000" b="1">
                <a:solidFill>
                  <a:srgbClr val="3B2F00"/>
                </a:solidFill>
                <a:latin typeface="Trebuchet MS"/>
                <a:ea typeface="Trebuchet MS"/>
                <a:cs typeface="Trebuchet MS"/>
              </a:rPr>
              <a:t>ASK THREE QUESTIONS</a:t>
            </a:r>
          </a:p>
          <a:p xmlns:a="http://schemas.openxmlformats.org/drawingml/2006/main">
            <a:pPr algn="ctr">
              <a:lnSpc>
                <a:spcPct val="108000"/>
              </a:lnSpc>
              <a:buNone/>
              <a:defRPr sz="3000" b="1">
                <a:solidFill>
                  <a:srgbClr val="3B2F00"/>
                </a:solidFill>
                <a:latin typeface="Trebuchet MS"/>
                <a:ea typeface="Trebuchet MS"/>
                <a:cs typeface="Trebuchet MS"/>
              </a:defRPr>
            </a:pPr>
            <a:r>
              <a:rPr sz="3000" b="1">
                <a:solidFill>
                  <a:srgbClr val="3B2F00"/>
                </a:solidFill>
                <a:latin typeface="Trebuchet MS"/>
                <a:ea typeface="Trebuchet MS"/>
                <a:cs typeface="Trebuchet MS"/>
              </a:rPr>
              <a:t>1. Does the word keep the intended meaning?</a:t>
            </a:r>
          </a:p>
          <a:p xmlns:a="http://schemas.openxmlformats.org/drawingml/2006/main">
            <a:pPr algn="ctr">
              <a:lnSpc>
                <a:spcPct val="108000"/>
              </a:lnSpc>
              <a:buNone/>
              <a:defRPr sz="3000" b="1">
                <a:solidFill>
                  <a:srgbClr val="3B2F00"/>
                </a:solidFill>
                <a:latin typeface="Trebuchet MS"/>
                <a:ea typeface="Trebuchet MS"/>
                <a:cs typeface="Trebuchet MS"/>
              </a:defRPr>
            </a:pPr>
            <a:r>
              <a:rPr sz="3000" b="1">
                <a:solidFill>
                  <a:srgbClr val="3B2F00"/>
                </a:solidFill>
                <a:latin typeface="Trebuchet MS"/>
                <a:ea typeface="Trebuchet MS"/>
                <a:cs typeface="Trebuchet MS"/>
              </a:rPr>
              <a:t>2. What exact information does it add?</a:t>
            </a:r>
          </a:p>
          <a:p xmlns:a="http://schemas.openxmlformats.org/drawingml/2006/main">
            <a:pPr algn="ctr">
              <a:lnSpc>
                <a:spcPct val="108000"/>
              </a:lnSpc>
              <a:buNone/>
              <a:defRPr sz="3000" b="1">
                <a:solidFill>
                  <a:srgbClr val="3B2F00"/>
                </a:solidFill>
                <a:latin typeface="Trebuchet MS"/>
                <a:ea typeface="Trebuchet MS"/>
                <a:cs typeface="Trebuchet MS"/>
              </a:defRPr>
            </a:pPr>
            <a:r>
              <a:rPr sz="3000" b="1">
                <a:solidFill>
                  <a:srgbClr val="3B2F00"/>
                </a:solidFill>
                <a:latin typeface="Trebuchet MS"/>
                <a:ea typeface="Trebuchet MS"/>
                <a:cs typeface="Trebuchet MS"/>
              </a:rPr>
              <a:t>3. Can I explain it in this sentence?</a:t>
            </a:r>
          </a:p>
        </p:txBody>
      </p:sp>
      <p:sp>
        <p:nvSpPr>
          <p:cNvPr id="9" name="writing_test_example_panel">
            <a:extLst xmlns:a="http://schemas.openxmlformats.org/drawingml/2006/main">
              <a:ext uri="{FF2B5EF4-FFF2-40B4-BE49-F238E27FC236}">
                <a16:creationId xmlns:a16="http://schemas.microsoft.com/office/drawing/2014/main" id="{4F3D34BA-8291-482C-B0B2-7A99D36E4769}"/>
              </a:ext>
            </a:extLst>
          </p:cNvPr>
          <p:cNvSpPr>
            <a:spLocks xmlns:a="http://schemas.openxmlformats.org/drawingml/2006/main" noGrp="1"/>
          </p:cNvSpPr>
          <p:nvPr/>
        </p:nvSpPr>
        <p:spPr>
          <a:xfrm xmlns:a="http://schemas.openxmlformats.org/drawingml/2006/main">
            <a:off x="1143000" y="4381500"/>
            <a:ext cx="9906000" cy="16764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9050">
            <a:solidFill>
              <a:srgbClr val="CBD5E1"/>
            </a:solidFill>
            <a:prstDash val="solid"/>
          </a:ln>
        </p:spPr>
      </p:sp>
      <p:sp>
        <p:nvSpPr>
          <p:cNvPr id="10" name="writing_test_example_text">
            <a:extLst xmlns:a="http://schemas.openxmlformats.org/drawingml/2006/main">
              <a:ext uri="{FF2B5EF4-FFF2-40B4-BE49-F238E27FC236}">
                <a16:creationId xmlns:a16="http://schemas.microsoft.com/office/drawing/2014/main" id="{D78ACDB1-C720-47BA-B3EA-D350813C831E}"/>
              </a:ext>
            </a:extLst>
          </p:cNvPr>
          <p:cNvSpPr>
            <a:spLocks xmlns:a="http://schemas.openxmlformats.org/drawingml/2006/main" noGrp="1"/>
          </p:cNvSpPr>
          <p:nvPr/>
        </p:nvSpPr>
        <p:spPr>
          <a:xfrm xmlns:a="http://schemas.openxmlformats.org/drawingml/2006/main">
            <a:off x="1371600" y="4610100"/>
            <a:ext cx="94488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400" b="0">
                <a:solidFill>
                  <a:srgbClr val="111827"/>
                </a:solidFill>
                <a:latin typeface="Trebuchet MS"/>
                <a:ea typeface="Trebuchet MS"/>
                <a:cs typeface="Trebuchet MS"/>
              </a:defRPr>
            </a:pPr>
            <a:r>
              <a:rPr sz="2400" b="0">
                <a:solidFill>
                  <a:srgbClr val="111827"/>
                </a:solidFill>
                <a:latin typeface="Trebuchet MS"/>
                <a:ea typeface="Trebuchet MS"/>
                <a:cs typeface="Trebuchet MS"/>
              </a:rPr>
              <a:t>Organisms is broader than animals because it also includes plants and microorganisms. A broader word is not automatically more precise.</a:t>
            </a:r>
          </a:p>
        </p:txBody>
      </p:sp>
    </p:spTree>
    <p:extLst>
      <p:ext uri="{BB962C8B-B14F-4D97-AF65-F5344CB8AC3E}">
        <p14:creationId xmlns:p14="http://schemas.microsoft.com/office/powerpoint/2010/main" val="385486787"/>
      </p:ext>
    </p:extLst>
  </p:cSld>
</p:sld>
</file>

<file path=ppt/slides/slide45.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45">
            <a:extLst xmlns:a="http://schemas.openxmlformats.org/drawingml/2006/main">
              <a:ext uri="{FF2B5EF4-FFF2-40B4-BE49-F238E27FC236}">
                <a16:creationId xmlns:a16="http://schemas.microsoft.com/office/drawing/2014/main" id="{3EB5B498-9890-44E8-828B-1BC667525123}"/>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45">
            <a:extLst xmlns:a="http://schemas.openxmlformats.org/drawingml/2006/main">
              <a:ext uri="{FF2B5EF4-FFF2-40B4-BE49-F238E27FC236}">
                <a16:creationId xmlns:a16="http://schemas.microsoft.com/office/drawing/2014/main" id="{23134E30-DEE3-4126-8681-DDFAF477027B}"/>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r>
              <a:t/>
            </a:r>
          </a:p>
        </p:txBody>
      </p:sp>
      <p:sp>
        <p:nvSpPr>
          <p:cNvPr id="3" name="title_45">
            <a:extLst xmlns:a="http://schemas.openxmlformats.org/drawingml/2006/main">
              <a:ext uri="{FF2B5EF4-FFF2-40B4-BE49-F238E27FC236}">
                <a16:creationId xmlns:a16="http://schemas.microsoft.com/office/drawing/2014/main" id="{2023DF50-18C9-4D12-A270-EBD4C94AEFAC}"/>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A complete sentence shows accurate use</a:t>
            </a:r>
          </a:p>
        </p:txBody>
      </p:sp>
      <p:sp>
        <p:nvSpPr>
          <p:cNvPr id="4" name="page_45">
            <a:extLst xmlns:a="http://schemas.openxmlformats.org/drawingml/2006/main">
              <a:ext uri="{FF2B5EF4-FFF2-40B4-BE49-F238E27FC236}">
                <a16:creationId xmlns:a16="http://schemas.microsoft.com/office/drawing/2014/main" id="{A08810B2-9EC5-4651-81F4-C01B834438EC}"/>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45</a:t>
            </a:r>
          </a:p>
        </p:txBody>
      </p:sp>
      <p:sp>
        <p:nvSpPr>
          <p:cNvPr id="5" name="writing_role_45_panel">
            <a:extLst xmlns:a="http://schemas.openxmlformats.org/drawingml/2006/main">
              <a:ext uri="{FF2B5EF4-FFF2-40B4-BE49-F238E27FC236}">
                <a16:creationId xmlns:a16="http://schemas.microsoft.com/office/drawing/2014/main" id="{17DCD648-AEEF-43C6-90C6-A97D39F81683}"/>
              </a:ext>
            </a:extLst>
          </p:cNvPr>
          <p:cNvSpPr>
            <a:spLocks xmlns:a="http://schemas.openxmlformats.org/drawingml/2006/main" noGrp="1"/>
          </p:cNvSpPr>
          <p:nvPr/>
        </p:nvSpPr>
        <p:spPr>
          <a:xfrm xmlns:a="http://schemas.openxmlformats.org/drawingml/2006/main">
            <a:off x="552450" y="38100"/>
            <a:ext cx="3048000" cy="533400"/>
          </a:xfrm>
          <a:prstGeom xmlns:a="http://schemas.openxmlformats.org/drawingml/2006/main" prst="roundRect">
            <a:avLst>
              <a:gd name="adj" fmla="val 28571"/>
            </a:avLst>
          </a:prstGeom>
          <a:solidFill xmlns:a="http://schemas.openxmlformats.org/drawingml/2006/main">
            <a:srgbClr val="005A9C"/>
          </a:solidFill>
          <a:ln xmlns:a="http://schemas.openxmlformats.org/drawingml/2006/main" w="19050">
            <a:solidFill>
              <a:srgbClr val="005A9C"/>
            </a:solidFill>
            <a:prstDash val="solid"/>
          </a:ln>
        </p:spPr>
      </p:sp>
      <p:sp>
        <p:nvSpPr>
          <p:cNvPr id="6" name="writing_role_45_text">
            <a:extLst xmlns:a="http://schemas.openxmlformats.org/drawingml/2006/main">
              <a:ext uri="{FF2B5EF4-FFF2-40B4-BE49-F238E27FC236}">
                <a16:creationId xmlns:a16="http://schemas.microsoft.com/office/drawing/2014/main" id="{854FF1F4-17EB-4968-A822-7ECEA0E3F62A}"/>
              </a:ext>
            </a:extLst>
          </p:cNvPr>
          <p:cNvSpPr>
            <a:spLocks xmlns:a="http://schemas.openxmlformats.org/drawingml/2006/main" noGrp="1"/>
          </p:cNvSpPr>
          <p:nvPr/>
        </p:nvSpPr>
        <p:spPr>
          <a:xfrm xmlns:a="http://schemas.openxmlformats.org/drawingml/2006/main">
            <a:off x="695325" y="18097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1650" b="1">
                <a:solidFill>
                  <a:srgbClr val="FFFFFF"/>
                </a:solidFill>
                <a:latin typeface="Trebuchet MS"/>
                <a:ea typeface="Trebuchet MS"/>
                <a:cs typeface="Trebuchet MS"/>
              </a:defRPr>
            </a:pPr>
            <a:r>
              <a:rPr sz="1650" b="1">
                <a:solidFill>
                  <a:srgbClr val="FFFFFF"/>
                </a:solidFill>
                <a:latin typeface="Trebuchet MS"/>
                <a:ea typeface="Trebuchet MS"/>
                <a:cs typeface="Trebuchet MS"/>
              </a:rPr>
              <a:t>WRITING • MODEL</a:t>
            </a:r>
          </a:p>
        </p:txBody>
      </p:sp>
      <p:sp>
        <p:nvSpPr>
          <p:cNvPr id="7" name="writing_complete_panel">
            <a:extLst xmlns:a="http://schemas.openxmlformats.org/drawingml/2006/main">
              <a:ext uri="{FF2B5EF4-FFF2-40B4-BE49-F238E27FC236}">
                <a16:creationId xmlns:a16="http://schemas.microsoft.com/office/drawing/2014/main" id="{027A6DD7-72D9-44E7-9024-2F8A7F51480A}"/>
              </a:ext>
            </a:extLst>
          </p:cNvPr>
          <p:cNvSpPr>
            <a:spLocks xmlns:a="http://schemas.openxmlformats.org/drawingml/2006/main" noGrp="1"/>
          </p:cNvSpPr>
          <p:nvPr/>
        </p:nvSpPr>
        <p:spPr>
          <a:xfrm xmlns:a="http://schemas.openxmlformats.org/drawingml/2006/main">
            <a:off x="762000" y="1371600"/>
            <a:ext cx="10668000" cy="2305050"/>
          </a:xfrm>
          <a:prstGeom xmlns:a="http://schemas.openxmlformats.org/drawingml/2006/main" prst="roundRect">
            <a:avLst>
              <a:gd name="adj" fmla="val 6612"/>
            </a:avLst>
          </a:prstGeom>
          <a:solidFill xmlns:a="http://schemas.openxmlformats.org/drawingml/2006/main">
            <a:srgbClr val="EAF7EE"/>
          </a:solidFill>
          <a:ln xmlns:a="http://schemas.openxmlformats.org/drawingml/2006/main" w="19050">
            <a:solidFill>
              <a:srgbClr val="70A77C"/>
            </a:solidFill>
            <a:prstDash val="solid"/>
          </a:ln>
        </p:spPr>
      </p:sp>
      <p:sp>
        <p:nvSpPr>
          <p:cNvPr id="8" name="writing_complete_text">
            <a:extLst xmlns:a="http://schemas.openxmlformats.org/drawingml/2006/main">
              <a:ext uri="{FF2B5EF4-FFF2-40B4-BE49-F238E27FC236}">
                <a16:creationId xmlns:a16="http://schemas.microsoft.com/office/drawing/2014/main" id="{59415520-CA16-44AC-BF01-F344DE5EF943}"/>
              </a:ext>
            </a:extLst>
          </p:cNvPr>
          <p:cNvSpPr>
            <a:spLocks xmlns:a="http://schemas.openxmlformats.org/drawingml/2006/main" noGrp="1"/>
          </p:cNvSpPr>
          <p:nvPr/>
        </p:nvSpPr>
        <p:spPr>
          <a:xfrm xmlns:a="http://schemas.openxmlformats.org/drawingml/2006/main">
            <a:off x="1104900" y="1714500"/>
            <a:ext cx="99822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900" b="1">
                <a:solidFill>
                  <a:srgbClr val="184D2B"/>
                </a:solidFill>
                <a:latin typeface="Trebuchet MS"/>
                <a:ea typeface="Trebuchet MS"/>
                <a:cs typeface="Trebuchet MS"/>
              </a:defRPr>
            </a:pPr>
            <a:r>
              <a:rPr sz="3900" b="1">
                <a:solidFill>
                  <a:srgbClr val="184D2B"/>
                </a:solidFill>
                <a:latin typeface="Trebuchet MS"/>
                <a:ea typeface="Trebuchet MS"/>
                <a:cs typeface="Trebuchet MS"/>
              </a:rPr>
              <a:t>Large areas of Uruguay are pasture where cattle and sheep graze.</a:t>
            </a:r>
          </a:p>
        </p:txBody>
      </p:sp>
      <p:sp>
        <p:nvSpPr>
          <p:cNvPr id="9" name="writing_terms_panel">
            <a:extLst xmlns:a="http://schemas.openxmlformats.org/drawingml/2006/main">
              <a:ext uri="{FF2B5EF4-FFF2-40B4-BE49-F238E27FC236}">
                <a16:creationId xmlns:a16="http://schemas.microsoft.com/office/drawing/2014/main" id="{79E90335-6055-4F49-AC06-9053C99E2825}"/>
              </a:ext>
            </a:extLst>
          </p:cNvPr>
          <p:cNvSpPr>
            <a:spLocks xmlns:a="http://schemas.openxmlformats.org/drawingml/2006/main" noGrp="1"/>
          </p:cNvSpPr>
          <p:nvPr/>
        </p:nvSpPr>
        <p:spPr>
          <a:xfrm xmlns:a="http://schemas.openxmlformats.org/drawingml/2006/main">
            <a:off x="762000" y="4000500"/>
            <a:ext cx="10668000" cy="16764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9050">
            <a:solidFill>
              <a:srgbClr val="CBD5E1"/>
            </a:solidFill>
            <a:prstDash val="solid"/>
          </a:ln>
        </p:spPr>
      </p:sp>
      <p:sp>
        <p:nvSpPr>
          <p:cNvPr id="10" name="writing_terms_text">
            <a:extLst xmlns:a="http://schemas.openxmlformats.org/drawingml/2006/main">
              <a:ext uri="{FF2B5EF4-FFF2-40B4-BE49-F238E27FC236}">
                <a16:creationId xmlns:a16="http://schemas.microsoft.com/office/drawing/2014/main" id="{32E93E48-9CC3-4CA0-A79F-17F1A12F8AD1}"/>
              </a:ext>
            </a:extLst>
          </p:cNvPr>
          <p:cNvSpPr>
            <a:spLocks xmlns:a="http://schemas.openxmlformats.org/drawingml/2006/main" noGrp="1"/>
          </p:cNvSpPr>
          <p:nvPr/>
        </p:nvSpPr>
        <p:spPr>
          <a:xfrm xmlns:a="http://schemas.openxmlformats.org/drawingml/2006/main">
            <a:off x="1028700" y="4267200"/>
            <a:ext cx="101346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700" b="0">
                <a:solidFill>
                  <a:srgbClr val="111827"/>
                </a:solidFill>
                <a:latin typeface="Trebuchet MS"/>
                <a:ea typeface="Trebuchet MS"/>
                <a:cs typeface="Trebuchet MS"/>
              </a:defRPr>
            </a:pPr>
            <a:r>
              <a:rPr sz="2700" b="0">
                <a:solidFill>
                  <a:srgbClr val="111827"/>
                </a:solidFill>
                <a:latin typeface="Trebuchet MS"/>
                <a:ea typeface="Trebuchet MS"/>
                <a:cs typeface="Trebuchet MS"/>
              </a:rPr>
              <a:t>pasture = grassy land used for grazing</a:t>
            </a:r>
          </a:p>
          <a:p xmlns:a="http://schemas.openxmlformats.org/drawingml/2006/main">
            <a:pPr algn="ctr">
              <a:lnSpc>
                <a:spcPct val="108000"/>
              </a:lnSpc>
              <a:buNone/>
              <a:defRPr sz="2700" b="0">
                <a:solidFill>
                  <a:srgbClr val="111827"/>
                </a:solidFill>
                <a:latin typeface="Trebuchet MS"/>
                <a:ea typeface="Trebuchet MS"/>
                <a:cs typeface="Trebuchet MS"/>
              </a:defRPr>
            </a:pPr>
            <a:r>
              <a:rPr sz="2700" b="0">
                <a:solidFill>
                  <a:srgbClr val="111827"/>
                </a:solidFill>
                <a:latin typeface="Trebuchet MS"/>
                <a:ea typeface="Trebuchet MS"/>
                <a:cs typeface="Trebuchet MS"/>
              </a:rPr>
              <a:t>cattle and sheep = exact animals</a:t>
            </a:r>
          </a:p>
          <a:p xmlns:a="http://schemas.openxmlformats.org/drawingml/2006/main">
            <a:pPr algn="ctr">
              <a:lnSpc>
                <a:spcPct val="108000"/>
              </a:lnSpc>
              <a:buNone/>
              <a:defRPr sz="2700" b="0">
                <a:solidFill>
                  <a:srgbClr val="111827"/>
                </a:solidFill>
                <a:latin typeface="Trebuchet MS"/>
                <a:ea typeface="Trebuchet MS"/>
                <a:cs typeface="Trebuchet MS"/>
              </a:defRPr>
            </a:pPr>
            <a:r>
              <a:rPr sz="2700" b="0">
                <a:solidFill>
                  <a:srgbClr val="111827"/>
                </a:solidFill>
                <a:latin typeface="Trebuchet MS"/>
                <a:ea typeface="Trebuchet MS"/>
                <a:cs typeface="Trebuchet MS"/>
              </a:rPr>
              <a:t>graze = feed on growing grass</a:t>
            </a:r>
          </a:p>
        </p:txBody>
      </p:sp>
    </p:spTree>
    <p:extLst>
      <p:ext uri="{BB962C8B-B14F-4D97-AF65-F5344CB8AC3E}">
        <p14:creationId xmlns:p14="http://schemas.microsoft.com/office/powerpoint/2010/main" val="436596368"/>
      </p:ext>
    </p:extLst>
  </p:cSld>
</p:sld>
</file>

<file path=ppt/slides/slide46.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46">
            <a:extLst xmlns:a="http://schemas.openxmlformats.org/drawingml/2006/main">
              <a:ext uri="{FF2B5EF4-FFF2-40B4-BE49-F238E27FC236}">
                <a16:creationId xmlns:a16="http://schemas.microsoft.com/office/drawing/2014/main" id="{F7B4EF01-D17C-4015-8C6F-28D6EB95BCD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46">
            <a:extLst xmlns:a="http://schemas.openxmlformats.org/drawingml/2006/main">
              <a:ext uri="{FF2B5EF4-FFF2-40B4-BE49-F238E27FC236}">
                <a16:creationId xmlns:a16="http://schemas.microsoft.com/office/drawing/2014/main" id="{F885386B-304B-480B-9FF7-7A36B81CE8CB}"/>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r>
              <a:t/>
            </a:r>
          </a:p>
        </p:txBody>
      </p:sp>
      <p:sp>
        <p:nvSpPr>
          <p:cNvPr id="3" name="title_46">
            <a:extLst xmlns:a="http://schemas.openxmlformats.org/drawingml/2006/main">
              <a:ext uri="{FF2B5EF4-FFF2-40B4-BE49-F238E27FC236}">
                <a16:creationId xmlns:a16="http://schemas.microsoft.com/office/drawing/2014/main" id="{4D386444-56E1-4D1D-AD0E-842EF147CF8E}"/>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Precise change or elaboration?</a:t>
            </a:r>
          </a:p>
        </p:txBody>
      </p:sp>
      <p:sp>
        <p:nvSpPr>
          <p:cNvPr id="4" name="page_46">
            <a:extLst xmlns:a="http://schemas.openxmlformats.org/drawingml/2006/main">
              <a:ext uri="{FF2B5EF4-FFF2-40B4-BE49-F238E27FC236}">
                <a16:creationId xmlns:a16="http://schemas.microsoft.com/office/drawing/2014/main" id="{A36C2C1C-5CD6-4E74-95F0-AAF7A2146E30}"/>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46</a:t>
            </a:r>
          </a:p>
        </p:txBody>
      </p:sp>
      <p:sp>
        <p:nvSpPr>
          <p:cNvPr id="5" name="writing_role_46_panel">
            <a:extLst xmlns:a="http://schemas.openxmlformats.org/drawingml/2006/main">
              <a:ext uri="{FF2B5EF4-FFF2-40B4-BE49-F238E27FC236}">
                <a16:creationId xmlns:a16="http://schemas.microsoft.com/office/drawing/2014/main" id="{A2D9D8E3-A953-4657-8E43-CE04D4C7966B}"/>
              </a:ext>
            </a:extLst>
          </p:cNvPr>
          <p:cNvSpPr>
            <a:spLocks xmlns:a="http://schemas.openxmlformats.org/drawingml/2006/main" noGrp="1"/>
          </p:cNvSpPr>
          <p:nvPr/>
        </p:nvSpPr>
        <p:spPr>
          <a:xfrm xmlns:a="http://schemas.openxmlformats.org/drawingml/2006/main">
            <a:off x="552450" y="38100"/>
            <a:ext cx="3048000" cy="533400"/>
          </a:xfrm>
          <a:prstGeom xmlns:a="http://schemas.openxmlformats.org/drawingml/2006/main" prst="roundRect">
            <a:avLst>
              <a:gd name="adj" fmla="val 28571"/>
            </a:avLst>
          </a:prstGeom>
          <a:solidFill xmlns:a="http://schemas.openxmlformats.org/drawingml/2006/main">
            <a:srgbClr val="005A9C"/>
          </a:solidFill>
          <a:ln xmlns:a="http://schemas.openxmlformats.org/drawingml/2006/main" w="19050">
            <a:solidFill>
              <a:srgbClr val="005A9C"/>
            </a:solidFill>
            <a:prstDash val="solid"/>
          </a:ln>
        </p:spPr>
      </p:sp>
      <p:sp>
        <p:nvSpPr>
          <p:cNvPr id="6" name="writing_role_46_text">
            <a:extLst xmlns:a="http://schemas.openxmlformats.org/drawingml/2006/main">
              <a:ext uri="{FF2B5EF4-FFF2-40B4-BE49-F238E27FC236}">
                <a16:creationId xmlns:a16="http://schemas.microsoft.com/office/drawing/2014/main" id="{26C7B206-151B-45DA-8425-FACF64520788}"/>
              </a:ext>
            </a:extLst>
          </p:cNvPr>
          <p:cNvSpPr>
            <a:spLocks xmlns:a="http://schemas.openxmlformats.org/drawingml/2006/main" noGrp="1"/>
          </p:cNvSpPr>
          <p:nvPr/>
        </p:nvSpPr>
        <p:spPr>
          <a:xfrm xmlns:a="http://schemas.openxmlformats.org/drawingml/2006/main">
            <a:off x="695325" y="18097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1650" b="1">
                <a:solidFill>
                  <a:srgbClr val="FFFFFF"/>
                </a:solidFill>
                <a:latin typeface="Trebuchet MS"/>
                <a:ea typeface="Trebuchet MS"/>
                <a:cs typeface="Trebuchet MS"/>
              </a:defRPr>
            </a:pPr>
            <a:r>
              <a:rPr sz="1650" b="1">
                <a:solidFill>
                  <a:srgbClr val="FFFFFF"/>
                </a:solidFill>
                <a:latin typeface="Trebuchet MS"/>
                <a:ea typeface="Trebuchet MS"/>
                <a:cs typeface="Trebuchet MS"/>
              </a:rPr>
              <a:t>WRITING • MODEL</a:t>
            </a:r>
          </a:p>
        </p:txBody>
      </p:sp>
      <p:sp>
        <p:nvSpPr>
          <p:cNvPr id="7" name="writing_change_panel">
            <a:extLst xmlns:a="http://schemas.openxmlformats.org/drawingml/2006/main">
              <a:ext uri="{FF2B5EF4-FFF2-40B4-BE49-F238E27FC236}">
                <a16:creationId xmlns:a16="http://schemas.microsoft.com/office/drawing/2014/main" id="{72C4218E-593D-47BA-A09A-B6324062279C}"/>
              </a:ext>
            </a:extLst>
          </p:cNvPr>
          <p:cNvSpPr>
            <a:spLocks xmlns:a="http://schemas.openxmlformats.org/drawingml/2006/main" noGrp="1"/>
          </p:cNvSpPr>
          <p:nvPr/>
        </p:nvSpPr>
        <p:spPr>
          <a:xfrm xmlns:a="http://schemas.openxmlformats.org/drawingml/2006/main">
            <a:off x="571500" y="1257300"/>
            <a:ext cx="11049000" cy="1809750"/>
          </a:xfrm>
          <a:prstGeom xmlns:a="http://schemas.openxmlformats.org/drawingml/2006/main" prst="roundRect">
            <a:avLst>
              <a:gd name="adj" fmla="val 8421"/>
            </a:avLst>
          </a:prstGeom>
          <a:solidFill xmlns:a="http://schemas.openxmlformats.org/drawingml/2006/main">
            <a:srgbClr val="EAF2F8"/>
          </a:solidFill>
          <a:ln xmlns:a="http://schemas.openxmlformats.org/drawingml/2006/main" w="19050">
            <a:solidFill>
              <a:srgbClr val="7AA7C7"/>
            </a:solidFill>
            <a:prstDash val="solid"/>
          </a:ln>
        </p:spPr>
      </p:sp>
      <p:sp>
        <p:nvSpPr>
          <p:cNvPr id="8" name="writing_change_text">
            <a:extLst xmlns:a="http://schemas.openxmlformats.org/drawingml/2006/main">
              <a:ext uri="{FF2B5EF4-FFF2-40B4-BE49-F238E27FC236}">
                <a16:creationId xmlns:a16="http://schemas.microsoft.com/office/drawing/2014/main" id="{5293B9EB-1800-413A-A580-28A7BCFAB661}"/>
              </a:ext>
            </a:extLst>
          </p:cNvPr>
          <p:cNvSpPr>
            <a:spLocks xmlns:a="http://schemas.openxmlformats.org/drawingml/2006/main" noGrp="1"/>
          </p:cNvSpPr>
          <p:nvPr/>
        </p:nvSpPr>
        <p:spPr>
          <a:xfrm xmlns:a="http://schemas.openxmlformats.org/drawingml/2006/main">
            <a:off x="838200" y="1524000"/>
            <a:ext cx="105156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103A5E"/>
                </a:solidFill>
                <a:latin typeface="Trebuchet MS"/>
                <a:ea typeface="Trebuchet MS"/>
                <a:cs typeface="Trebuchet MS"/>
              </a:defRPr>
            </a:pPr>
            <a:r>
              <a:rPr sz="2850" b="1">
                <a:solidFill>
                  <a:srgbClr val="103A5E"/>
                </a:solidFill>
                <a:latin typeface="Trebuchet MS"/>
                <a:ea typeface="Trebuchet MS"/>
                <a:cs typeface="Trebuchet MS"/>
              </a:rPr>
              <a:t>PRECISE CHANGE</a:t>
            </a:r>
          </a:p>
          <a:p xmlns:a="http://schemas.openxmlformats.org/drawingml/2006/main">
            <a:pPr algn="ctr">
              <a:lnSpc>
                <a:spcPct val="108000"/>
              </a:lnSpc>
              <a:buNone/>
              <a:defRPr sz="2850" b="1">
                <a:solidFill>
                  <a:srgbClr val="103A5E"/>
                </a:solidFill>
                <a:latin typeface="Trebuchet MS"/>
                <a:ea typeface="Trebuchet MS"/>
                <a:cs typeface="Trebuchet MS"/>
              </a:defRPr>
            </a:pPr>
            <a:r>
              <a:rPr sz="2850" b="1">
                <a:solidFill>
                  <a:srgbClr val="103A5E"/>
                </a:solidFill>
                <a:latin typeface="Trebuchet MS"/>
                <a:ea typeface="Trebuchet MS"/>
                <a:cs typeface="Trebuchet MS"/>
              </a:rPr>
              <a:t>Wind makes the turbine blades turn.</a:t>
            </a:r>
          </a:p>
          <a:p xmlns:a="http://schemas.openxmlformats.org/drawingml/2006/main">
            <a:pPr algn="ctr">
              <a:lnSpc>
                <a:spcPct val="108000"/>
              </a:lnSpc>
              <a:buNone/>
              <a:defRPr sz="2850" b="1">
                <a:solidFill>
                  <a:srgbClr val="103A5E"/>
                </a:solidFill>
                <a:latin typeface="Trebuchet MS"/>
                <a:ea typeface="Trebuchet MS"/>
                <a:cs typeface="Trebuchet MS"/>
              </a:defRPr>
            </a:pPr>
            <a:r>
              <a:rPr sz="2850" b="1">
                <a:solidFill>
                  <a:srgbClr val="103A5E"/>
                </a:solidFill>
                <a:latin typeface="Trebuchet MS"/>
                <a:ea typeface="Trebuchet MS"/>
                <a:cs typeface="Trebuchet MS"/>
              </a:rPr>
              <a:t>Wind makes the turbine blades rotate.</a:t>
            </a:r>
          </a:p>
        </p:txBody>
      </p:sp>
      <p:sp>
        <p:nvSpPr>
          <p:cNvPr id="9" name="writing_elaboration_panel">
            <a:extLst xmlns:a="http://schemas.openxmlformats.org/drawingml/2006/main">
              <a:ext uri="{FF2B5EF4-FFF2-40B4-BE49-F238E27FC236}">
                <a16:creationId xmlns:a16="http://schemas.microsoft.com/office/drawing/2014/main" id="{C61E42C9-229C-48AB-A3BE-99B784ACB5B6}"/>
              </a:ext>
            </a:extLst>
          </p:cNvPr>
          <p:cNvSpPr>
            <a:spLocks xmlns:a="http://schemas.openxmlformats.org/drawingml/2006/main" noGrp="1"/>
          </p:cNvSpPr>
          <p:nvPr/>
        </p:nvSpPr>
        <p:spPr>
          <a:xfrm xmlns:a="http://schemas.openxmlformats.org/drawingml/2006/main">
            <a:off x="571500" y="3371850"/>
            <a:ext cx="11049000" cy="2057400"/>
          </a:xfrm>
          <a:prstGeom xmlns:a="http://schemas.openxmlformats.org/drawingml/2006/main" prst="roundRect">
            <a:avLst>
              <a:gd name="adj" fmla="val 7407"/>
            </a:avLst>
          </a:prstGeom>
          <a:solidFill xmlns:a="http://schemas.openxmlformats.org/drawingml/2006/main">
            <a:srgbClr val="FFF3BF"/>
          </a:solidFill>
          <a:ln xmlns:a="http://schemas.openxmlformats.org/drawingml/2006/main" w="19050">
            <a:solidFill>
              <a:srgbClr val="D6A900"/>
            </a:solidFill>
            <a:prstDash val="solid"/>
          </a:ln>
        </p:spPr>
      </p:sp>
      <p:sp>
        <p:nvSpPr>
          <p:cNvPr id="10" name="writing_elaboration_text">
            <a:extLst xmlns:a="http://schemas.openxmlformats.org/drawingml/2006/main">
              <a:ext uri="{FF2B5EF4-FFF2-40B4-BE49-F238E27FC236}">
                <a16:creationId xmlns:a16="http://schemas.microsoft.com/office/drawing/2014/main" id="{7DE7ECA5-4414-493A-A56E-386DF2C2B6DD}"/>
              </a:ext>
            </a:extLst>
          </p:cNvPr>
          <p:cNvSpPr>
            <a:spLocks xmlns:a="http://schemas.openxmlformats.org/drawingml/2006/main" noGrp="1"/>
          </p:cNvSpPr>
          <p:nvPr/>
        </p:nvSpPr>
        <p:spPr>
          <a:xfrm xmlns:a="http://schemas.openxmlformats.org/drawingml/2006/main">
            <a:off x="838200" y="3638550"/>
            <a:ext cx="105156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700" b="1">
                <a:solidFill>
                  <a:srgbClr val="3B2F00"/>
                </a:solidFill>
                <a:latin typeface="Trebuchet MS"/>
                <a:ea typeface="Trebuchet MS"/>
                <a:cs typeface="Trebuchet MS"/>
              </a:defRPr>
            </a:pPr>
            <a:r>
              <a:rPr sz="2700" b="1">
                <a:solidFill>
                  <a:srgbClr val="3B2F00"/>
                </a:solidFill>
                <a:latin typeface="Trebuchet MS"/>
                <a:ea typeface="Trebuchet MS"/>
                <a:cs typeface="Trebuchet MS"/>
              </a:rPr>
              <a:t>ELABORATION</a:t>
            </a:r>
          </a:p>
          <a:p xmlns:a="http://schemas.openxmlformats.org/drawingml/2006/main">
            <a:pPr algn="ctr">
              <a:lnSpc>
                <a:spcPct val="108000"/>
              </a:lnSpc>
              <a:buNone/>
              <a:defRPr sz="2700" b="1">
                <a:solidFill>
                  <a:srgbClr val="3B2F00"/>
                </a:solidFill>
                <a:latin typeface="Trebuchet MS"/>
                <a:ea typeface="Trebuchet MS"/>
                <a:cs typeface="Trebuchet MS"/>
              </a:defRPr>
            </a:pPr>
            <a:r>
              <a:rPr sz="2700" b="1">
                <a:solidFill>
                  <a:srgbClr val="3B2F00"/>
                </a:solidFill>
                <a:latin typeface="Trebuchet MS"/>
                <a:ea typeface="Trebuchet MS"/>
                <a:cs typeface="Trebuchet MS"/>
              </a:rPr>
              <a:t>Wind pushes the blades, the blades rotate, and a generator converts movement into electricity.</a:t>
            </a:r>
          </a:p>
          <a:p xmlns:a="http://schemas.openxmlformats.org/drawingml/2006/main">
            <a:pPr algn="ctr">
              <a:lnSpc>
                <a:spcPct val="108000"/>
              </a:lnSpc>
              <a:buNone/>
              <a:defRPr sz="2700" b="1">
                <a:solidFill>
                  <a:srgbClr val="3B2F00"/>
                </a:solidFill>
                <a:latin typeface="Trebuchet MS"/>
                <a:ea typeface="Trebuchet MS"/>
                <a:cs typeface="Trebuchet MS"/>
              </a:defRPr>
            </a:pPr>
            <a:r>
              <a:rPr sz="2700" b="1">
                <a:solidFill>
                  <a:srgbClr val="3B2F00"/>
                </a:solidFill>
                <a:latin typeface="Trebuchet MS"/>
                <a:ea typeface="Trebuchet MS"/>
                <a:cs typeface="Trebuchet MS"/>
              </a:rPr>
              <a:t>This adds several new facts, so it is more than a word change.</a:t>
            </a:r>
          </a:p>
        </p:txBody>
      </p:sp>
    </p:spTree>
    <p:extLst>
      <p:ext uri="{BB962C8B-B14F-4D97-AF65-F5344CB8AC3E}">
        <p14:creationId xmlns:p14="http://schemas.microsoft.com/office/powerpoint/2010/main" val="1245784460"/>
      </p:ext>
    </p:extLst>
  </p:cSld>
</p:sld>
</file>

<file path=ppt/slides/slide47.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47">
            <a:extLst xmlns:a="http://schemas.openxmlformats.org/drawingml/2006/main">
              <a:ext uri="{FF2B5EF4-FFF2-40B4-BE49-F238E27FC236}">
                <a16:creationId xmlns:a16="http://schemas.microsoft.com/office/drawing/2014/main" id="{FB685390-8EC1-4C30-9E1E-12B53BBC9F2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47">
            <a:extLst xmlns:a="http://schemas.openxmlformats.org/drawingml/2006/main">
              <a:ext uri="{FF2B5EF4-FFF2-40B4-BE49-F238E27FC236}">
                <a16:creationId xmlns:a16="http://schemas.microsoft.com/office/drawing/2014/main" id="{7454E3CD-FDED-480F-9A2B-CA735BA6A430}"/>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r>
              <a:t/>
            </a:r>
          </a:p>
        </p:txBody>
      </p:sp>
      <p:sp>
        <p:nvSpPr>
          <p:cNvPr id="3" name="title_47">
            <a:extLst xmlns:a="http://schemas.openxmlformats.org/drawingml/2006/main">
              <a:ext uri="{FF2B5EF4-FFF2-40B4-BE49-F238E27FC236}">
                <a16:creationId xmlns:a16="http://schemas.microsoft.com/office/drawing/2014/main" id="{A8F33AE5-BC6B-433A-9B16-525C014955C0}"/>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Improve one vague idea</a:t>
            </a:r>
          </a:p>
        </p:txBody>
      </p:sp>
      <p:sp>
        <p:nvSpPr>
          <p:cNvPr id="4" name="page_47">
            <a:extLst xmlns:a="http://schemas.openxmlformats.org/drawingml/2006/main">
              <a:ext uri="{FF2B5EF4-FFF2-40B4-BE49-F238E27FC236}">
                <a16:creationId xmlns:a16="http://schemas.microsoft.com/office/drawing/2014/main" id="{719669FA-D4F7-4AC2-9A1E-CFE703B74731}"/>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47</a:t>
            </a:r>
          </a:p>
        </p:txBody>
      </p:sp>
      <p:sp>
        <p:nvSpPr>
          <p:cNvPr id="5" name="writing_role_47_panel">
            <a:extLst xmlns:a="http://schemas.openxmlformats.org/drawingml/2006/main">
              <a:ext uri="{FF2B5EF4-FFF2-40B4-BE49-F238E27FC236}">
                <a16:creationId xmlns:a16="http://schemas.microsoft.com/office/drawing/2014/main" id="{183F3437-3319-48BA-8298-1A335182B1E3}"/>
              </a:ext>
            </a:extLst>
          </p:cNvPr>
          <p:cNvSpPr>
            <a:spLocks xmlns:a="http://schemas.openxmlformats.org/drawingml/2006/main" noGrp="1"/>
          </p:cNvSpPr>
          <p:nvPr/>
        </p:nvSpPr>
        <p:spPr>
          <a:xfrm xmlns:a="http://schemas.openxmlformats.org/drawingml/2006/main">
            <a:off x="552450" y="38100"/>
            <a:ext cx="3048000" cy="533400"/>
          </a:xfrm>
          <a:prstGeom xmlns:a="http://schemas.openxmlformats.org/drawingml/2006/main" prst="roundRect">
            <a:avLst>
              <a:gd name="adj" fmla="val 28571"/>
            </a:avLst>
          </a:prstGeom>
          <a:solidFill xmlns:a="http://schemas.openxmlformats.org/drawingml/2006/main">
            <a:srgbClr val="005A9C"/>
          </a:solidFill>
          <a:ln xmlns:a="http://schemas.openxmlformats.org/drawingml/2006/main" w="19050">
            <a:solidFill>
              <a:srgbClr val="005A9C"/>
            </a:solidFill>
            <a:prstDash val="solid"/>
          </a:ln>
        </p:spPr>
      </p:sp>
      <p:sp>
        <p:nvSpPr>
          <p:cNvPr id="6" name="writing_role_47_text">
            <a:extLst xmlns:a="http://schemas.openxmlformats.org/drawingml/2006/main">
              <a:ext uri="{FF2B5EF4-FFF2-40B4-BE49-F238E27FC236}">
                <a16:creationId xmlns:a16="http://schemas.microsoft.com/office/drawing/2014/main" id="{14E947A3-36D8-4A3E-AA3C-570925B507AC}"/>
              </a:ext>
            </a:extLst>
          </p:cNvPr>
          <p:cNvSpPr>
            <a:spLocks xmlns:a="http://schemas.openxmlformats.org/drawingml/2006/main" noGrp="1"/>
          </p:cNvSpPr>
          <p:nvPr/>
        </p:nvSpPr>
        <p:spPr>
          <a:xfrm xmlns:a="http://schemas.openxmlformats.org/drawingml/2006/main">
            <a:off x="695325" y="18097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1650" b="1">
                <a:solidFill>
                  <a:srgbClr val="FFFFFF"/>
                </a:solidFill>
                <a:latin typeface="Trebuchet MS"/>
                <a:ea typeface="Trebuchet MS"/>
                <a:cs typeface="Trebuchet MS"/>
              </a:defRPr>
            </a:pPr>
            <a:r>
              <a:rPr sz="1650" b="1">
                <a:solidFill>
                  <a:srgbClr val="FFFFFF"/>
                </a:solidFill>
                <a:latin typeface="Trebuchet MS"/>
                <a:ea typeface="Trebuchet MS"/>
                <a:cs typeface="Trebuchet MS"/>
              </a:rPr>
              <a:t>WRITING • WE DO</a:t>
            </a:r>
          </a:p>
        </p:txBody>
      </p:sp>
      <p:sp>
        <p:nvSpPr>
          <p:cNvPr id="7" name="writing_joint_vague_panel">
            <a:extLst xmlns:a="http://schemas.openxmlformats.org/drawingml/2006/main">
              <a:ext uri="{FF2B5EF4-FFF2-40B4-BE49-F238E27FC236}">
                <a16:creationId xmlns:a16="http://schemas.microsoft.com/office/drawing/2014/main" id="{03BD6DA6-522F-48EF-B357-07A77414EC7B}"/>
              </a:ext>
            </a:extLst>
          </p:cNvPr>
          <p:cNvSpPr>
            <a:spLocks xmlns:a="http://schemas.openxmlformats.org/drawingml/2006/main" noGrp="1"/>
          </p:cNvSpPr>
          <p:nvPr/>
        </p:nvSpPr>
        <p:spPr>
          <a:xfrm xmlns:a="http://schemas.openxmlformats.org/drawingml/2006/main">
            <a:off x="762000" y="1276350"/>
            <a:ext cx="10668000" cy="1276350"/>
          </a:xfrm>
          <a:prstGeom xmlns:a="http://schemas.openxmlformats.org/drawingml/2006/main" prst="roundRect">
            <a:avLst>
              <a:gd name="adj" fmla="val 11940"/>
            </a:avLst>
          </a:prstGeom>
          <a:solidFill xmlns:a="http://schemas.openxmlformats.org/drawingml/2006/main">
            <a:srgbClr val="FFF3BF"/>
          </a:solidFill>
          <a:ln xmlns:a="http://schemas.openxmlformats.org/drawingml/2006/main" w="19050">
            <a:solidFill>
              <a:srgbClr val="D6A900"/>
            </a:solidFill>
            <a:prstDash val="solid"/>
          </a:ln>
        </p:spPr>
      </p:sp>
      <p:sp>
        <p:nvSpPr>
          <p:cNvPr id="8" name="writing_joint_vague_text">
            <a:extLst xmlns:a="http://schemas.openxmlformats.org/drawingml/2006/main">
              <a:ext uri="{FF2B5EF4-FFF2-40B4-BE49-F238E27FC236}">
                <a16:creationId xmlns:a16="http://schemas.microsoft.com/office/drawing/2014/main" id="{4D33952C-1E16-4985-B60B-8BDA759510E5}"/>
              </a:ext>
            </a:extLst>
          </p:cNvPr>
          <p:cNvSpPr>
            <a:spLocks xmlns:a="http://schemas.openxmlformats.org/drawingml/2006/main" noGrp="1"/>
          </p:cNvSpPr>
          <p:nvPr/>
        </p:nvSpPr>
        <p:spPr>
          <a:xfrm xmlns:a="http://schemas.openxmlformats.org/drawingml/2006/main">
            <a:off x="1009650" y="1524000"/>
            <a:ext cx="101727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150" b="1">
                <a:solidFill>
                  <a:srgbClr val="3B2F00"/>
                </a:solidFill>
                <a:latin typeface="Trebuchet MS"/>
                <a:ea typeface="Trebuchet MS"/>
                <a:cs typeface="Trebuchet MS"/>
              </a:defRPr>
            </a:pPr>
            <a:r>
              <a:rPr sz="3150" b="1">
                <a:solidFill>
                  <a:srgbClr val="3B2F00"/>
                </a:solidFill>
                <a:latin typeface="Trebuchet MS"/>
                <a:ea typeface="Trebuchet MS"/>
                <a:cs typeface="Trebuchet MS"/>
              </a:rPr>
              <a:t>VAGUE IDEA: The water is near the city and helps boats.</a:t>
            </a:r>
          </a:p>
        </p:txBody>
      </p:sp>
      <p:sp>
        <p:nvSpPr>
          <p:cNvPr id="9" name="writing_joint_task_panel">
            <a:extLst xmlns:a="http://schemas.openxmlformats.org/drawingml/2006/main">
              <a:ext uri="{FF2B5EF4-FFF2-40B4-BE49-F238E27FC236}">
                <a16:creationId xmlns:a16="http://schemas.microsoft.com/office/drawing/2014/main" id="{E452C561-80AA-4B36-B44E-4BDD67B325A8}"/>
              </a:ext>
            </a:extLst>
          </p:cNvPr>
          <p:cNvSpPr>
            <a:spLocks xmlns:a="http://schemas.openxmlformats.org/drawingml/2006/main" noGrp="1"/>
          </p:cNvSpPr>
          <p:nvPr/>
        </p:nvSpPr>
        <p:spPr>
          <a:xfrm xmlns:a="http://schemas.openxmlformats.org/drawingml/2006/main">
            <a:off x="762000" y="2838450"/>
            <a:ext cx="10668000" cy="2838450"/>
          </a:xfrm>
          <a:prstGeom xmlns:a="http://schemas.openxmlformats.org/drawingml/2006/main" prst="roundRect">
            <a:avLst>
              <a:gd name="adj" fmla="val 5369"/>
            </a:avLst>
          </a:prstGeom>
          <a:solidFill xmlns:a="http://schemas.openxmlformats.org/drawingml/2006/main">
            <a:srgbClr val="EAF2F8"/>
          </a:solidFill>
          <a:ln xmlns:a="http://schemas.openxmlformats.org/drawingml/2006/main" w="19050">
            <a:solidFill>
              <a:srgbClr val="7AA7C7"/>
            </a:solidFill>
            <a:prstDash val="solid"/>
          </a:ln>
        </p:spPr>
      </p:sp>
      <p:sp>
        <p:nvSpPr>
          <p:cNvPr id="10" name="writing_joint_task_text">
            <a:extLst xmlns:a="http://schemas.openxmlformats.org/drawingml/2006/main">
              <a:ext uri="{FF2B5EF4-FFF2-40B4-BE49-F238E27FC236}">
                <a16:creationId xmlns:a16="http://schemas.microsoft.com/office/drawing/2014/main" id="{F14229FA-5298-4CAE-93AB-0AD469028728}"/>
              </a:ext>
            </a:extLst>
          </p:cNvPr>
          <p:cNvSpPr>
            <a:spLocks xmlns:a="http://schemas.openxmlformats.org/drawingml/2006/main" noGrp="1"/>
          </p:cNvSpPr>
          <p:nvPr/>
        </p:nvSpPr>
        <p:spPr>
          <a:xfrm xmlns:a="http://schemas.openxmlformats.org/drawingml/2006/main">
            <a:off x="1066800" y="3143250"/>
            <a:ext cx="100584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850" b="1">
                <a:solidFill>
                  <a:srgbClr val="103A5E"/>
                </a:solidFill>
                <a:latin typeface="Trebuchet MS"/>
                <a:ea typeface="Trebuchet MS"/>
                <a:cs typeface="Trebuchet MS"/>
              </a:defRPr>
            </a:pPr>
            <a:r>
              <a:rPr sz="2850" b="1">
                <a:solidFill>
                  <a:srgbClr val="103A5E"/>
                </a:solidFill>
                <a:latin typeface="Trebuchet MS"/>
                <a:ea typeface="Trebuchet MS"/>
                <a:cs typeface="Trebuchet MS"/>
              </a:rPr>
              <a:t>Build two factual sentences.</a:t>
            </a:r>
          </a:p>
          <a:p xmlns:a="http://schemas.openxmlformats.org/drawingml/2006/main">
            <a:pPr algn="ctr">
              <a:lnSpc>
                <a:spcPct val="108000"/>
              </a:lnSpc>
              <a:buNone/>
              <a:defRPr sz="2850" b="1">
                <a:solidFill>
                  <a:srgbClr val="103A5E"/>
                </a:solidFill>
                <a:latin typeface="Trebuchet MS"/>
                <a:ea typeface="Trebuchet MS"/>
                <a:cs typeface="Trebuchet MS"/>
              </a:defRPr>
            </a:pPr>
            <a:r>
              <a:rPr sz="2850" b="1">
                <a:solidFill>
                  <a:srgbClr val="103A5E"/>
                </a:solidFill>
                <a:latin typeface="Trebuchet MS"/>
                <a:ea typeface="Trebuchet MS"/>
                <a:cs typeface="Trebuchet MS"/>
              </a:rPr>
              <a:t>Use: Río de la Plata estuary • Montevideo • port • transport</a:t>
            </a:r>
          </a:p>
          <a:p xmlns:a="http://schemas.openxmlformats.org/drawingml/2006/main">
            <a:pPr algn="ctr">
              <a:lnSpc>
                <a:spcPct val="108000"/>
              </a:lnSpc>
              <a:buNone/>
              <a:defRPr sz="2850" b="1">
                <a:solidFill>
                  <a:srgbClr val="103A5E"/>
                </a:solidFill>
                <a:latin typeface="Trebuchet MS"/>
                <a:ea typeface="Trebuchet MS"/>
                <a:cs typeface="Trebuchet MS"/>
              </a:defRPr>
            </a:pPr>
            <a:r>
              <a:rPr sz="2850" b="1">
                <a:solidFill>
                  <a:srgbClr val="103A5E"/>
                </a:solidFill>
                <a:latin typeface="Trebuchet MS"/>
                <a:ea typeface="Trebuchet MS"/>
                <a:cs typeface="Trebuchet MS"/>
              </a:rPr>
              <a:t>Sentence 1 names the place.</a:t>
            </a:r>
          </a:p>
          <a:p xmlns:a="http://schemas.openxmlformats.org/drawingml/2006/main">
            <a:pPr algn="ctr">
              <a:lnSpc>
                <a:spcPct val="108000"/>
              </a:lnSpc>
              <a:buNone/>
              <a:defRPr sz="2850" b="1">
                <a:solidFill>
                  <a:srgbClr val="103A5E"/>
                </a:solidFill>
                <a:latin typeface="Trebuchet MS"/>
                <a:ea typeface="Trebuchet MS"/>
                <a:cs typeface="Trebuchet MS"/>
              </a:defRPr>
            </a:pPr>
            <a:r>
              <a:rPr sz="2850" b="1">
                <a:solidFill>
                  <a:srgbClr val="103A5E"/>
                </a:solidFill>
                <a:latin typeface="Trebuchet MS"/>
                <a:ea typeface="Trebuchet MS"/>
                <a:cs typeface="Trebuchet MS"/>
              </a:rPr>
              <a:t>Sentence 2 explains how the port helps movement.</a:t>
            </a:r>
          </a:p>
        </p:txBody>
      </p:sp>
    </p:spTree>
    <p:extLst>
      <p:ext uri="{BB962C8B-B14F-4D97-AF65-F5344CB8AC3E}">
        <p14:creationId xmlns:p14="http://schemas.microsoft.com/office/powerpoint/2010/main" val="1321425468"/>
      </p:ext>
    </p:extLst>
  </p:cSld>
</p:sld>
</file>

<file path=ppt/slides/slide48.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48">
            <a:extLst xmlns:a="http://schemas.openxmlformats.org/drawingml/2006/main">
              <a:ext uri="{FF2B5EF4-FFF2-40B4-BE49-F238E27FC236}">
                <a16:creationId xmlns:a16="http://schemas.microsoft.com/office/drawing/2014/main" id="{E58ED826-1528-4E54-A0E0-B85A0380775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48">
            <a:extLst xmlns:a="http://schemas.openxmlformats.org/drawingml/2006/main">
              <a:ext uri="{FF2B5EF4-FFF2-40B4-BE49-F238E27FC236}">
                <a16:creationId xmlns:a16="http://schemas.microsoft.com/office/drawing/2014/main" id="{5BA39C4C-0DC9-43C3-998A-A65FC46A32C1}"/>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r>
              <a:t/>
            </a:r>
          </a:p>
        </p:txBody>
      </p:sp>
      <p:sp>
        <p:nvSpPr>
          <p:cNvPr id="3" name="title_48">
            <a:extLst xmlns:a="http://schemas.openxmlformats.org/drawingml/2006/main">
              <a:ext uri="{FF2B5EF4-FFF2-40B4-BE49-F238E27FC236}">
                <a16:creationId xmlns:a16="http://schemas.microsoft.com/office/drawing/2014/main" id="{20FA42C1-3A63-4E1D-BACF-265F493F4976}"/>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One strong joint answer</a:t>
            </a:r>
          </a:p>
        </p:txBody>
      </p:sp>
      <p:sp>
        <p:nvSpPr>
          <p:cNvPr id="4" name="page_48">
            <a:extLst xmlns:a="http://schemas.openxmlformats.org/drawingml/2006/main">
              <a:ext uri="{FF2B5EF4-FFF2-40B4-BE49-F238E27FC236}">
                <a16:creationId xmlns:a16="http://schemas.microsoft.com/office/drawing/2014/main" id="{7CB31101-EAE3-4131-9913-0188391879D8}"/>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48</a:t>
            </a:r>
          </a:p>
        </p:txBody>
      </p:sp>
      <p:sp>
        <p:nvSpPr>
          <p:cNvPr id="5" name="writing_role_48_panel">
            <a:extLst xmlns:a="http://schemas.openxmlformats.org/drawingml/2006/main">
              <a:ext uri="{FF2B5EF4-FFF2-40B4-BE49-F238E27FC236}">
                <a16:creationId xmlns:a16="http://schemas.microsoft.com/office/drawing/2014/main" id="{521C28E9-10FE-47E8-AD65-73862D3036AC}"/>
              </a:ext>
            </a:extLst>
          </p:cNvPr>
          <p:cNvSpPr>
            <a:spLocks xmlns:a="http://schemas.openxmlformats.org/drawingml/2006/main" noGrp="1"/>
          </p:cNvSpPr>
          <p:nvPr/>
        </p:nvSpPr>
        <p:spPr>
          <a:xfrm xmlns:a="http://schemas.openxmlformats.org/drawingml/2006/main">
            <a:off x="552450" y="38100"/>
            <a:ext cx="3048000" cy="533400"/>
          </a:xfrm>
          <a:prstGeom xmlns:a="http://schemas.openxmlformats.org/drawingml/2006/main" prst="roundRect">
            <a:avLst>
              <a:gd name="adj" fmla="val 28571"/>
            </a:avLst>
          </a:prstGeom>
          <a:solidFill xmlns:a="http://schemas.openxmlformats.org/drawingml/2006/main">
            <a:srgbClr val="005A9C"/>
          </a:solidFill>
          <a:ln xmlns:a="http://schemas.openxmlformats.org/drawingml/2006/main" w="19050">
            <a:solidFill>
              <a:srgbClr val="005A9C"/>
            </a:solidFill>
            <a:prstDash val="solid"/>
          </a:ln>
        </p:spPr>
      </p:sp>
      <p:sp>
        <p:nvSpPr>
          <p:cNvPr id="6" name="writing_role_48_text">
            <a:extLst xmlns:a="http://schemas.openxmlformats.org/drawingml/2006/main">
              <a:ext uri="{FF2B5EF4-FFF2-40B4-BE49-F238E27FC236}">
                <a16:creationId xmlns:a16="http://schemas.microsoft.com/office/drawing/2014/main" id="{CE0F2BB7-DFFA-4ADA-9C6B-0BB83ADFCCFE}"/>
              </a:ext>
            </a:extLst>
          </p:cNvPr>
          <p:cNvSpPr>
            <a:spLocks xmlns:a="http://schemas.openxmlformats.org/drawingml/2006/main" noGrp="1"/>
          </p:cNvSpPr>
          <p:nvPr/>
        </p:nvSpPr>
        <p:spPr>
          <a:xfrm xmlns:a="http://schemas.openxmlformats.org/drawingml/2006/main">
            <a:off x="695325" y="18097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1650" b="1">
                <a:solidFill>
                  <a:srgbClr val="FFFFFF"/>
                </a:solidFill>
                <a:latin typeface="Trebuchet MS"/>
                <a:ea typeface="Trebuchet MS"/>
                <a:cs typeface="Trebuchet MS"/>
              </a:defRPr>
            </a:pPr>
            <a:r>
              <a:rPr sz="1650" b="1">
                <a:solidFill>
                  <a:srgbClr val="FFFFFF"/>
                </a:solidFill>
                <a:latin typeface="Trebuchet MS"/>
                <a:ea typeface="Trebuchet MS"/>
                <a:cs typeface="Trebuchet MS"/>
              </a:rPr>
              <a:t>WRITING • ANSWER</a:t>
            </a:r>
          </a:p>
        </p:txBody>
      </p:sp>
      <p:sp>
        <p:nvSpPr>
          <p:cNvPr id="7" name="writing_joint_answer_panel">
            <a:extLst xmlns:a="http://schemas.openxmlformats.org/drawingml/2006/main">
              <a:ext uri="{FF2B5EF4-FFF2-40B4-BE49-F238E27FC236}">
                <a16:creationId xmlns:a16="http://schemas.microsoft.com/office/drawing/2014/main" id="{51CED8C3-1060-468A-A6D3-854C1C9600CE}"/>
              </a:ext>
            </a:extLst>
          </p:cNvPr>
          <p:cNvSpPr>
            <a:spLocks xmlns:a="http://schemas.openxmlformats.org/drawingml/2006/main" noGrp="1"/>
          </p:cNvSpPr>
          <p:nvPr/>
        </p:nvSpPr>
        <p:spPr>
          <a:xfrm xmlns:a="http://schemas.openxmlformats.org/drawingml/2006/main">
            <a:off x="666750" y="1333500"/>
            <a:ext cx="10858500" cy="2667000"/>
          </a:xfrm>
          <a:prstGeom xmlns:a="http://schemas.openxmlformats.org/drawingml/2006/main" prst="roundRect">
            <a:avLst>
              <a:gd name="adj" fmla="val 5714"/>
            </a:avLst>
          </a:prstGeom>
          <a:solidFill xmlns:a="http://schemas.openxmlformats.org/drawingml/2006/main">
            <a:srgbClr val="EAF7EE"/>
          </a:solidFill>
          <a:ln xmlns:a="http://schemas.openxmlformats.org/drawingml/2006/main" w="19050">
            <a:solidFill>
              <a:srgbClr val="70A77C"/>
            </a:solidFill>
            <a:prstDash val="solid"/>
          </a:ln>
        </p:spPr>
      </p:sp>
      <p:sp>
        <p:nvSpPr>
          <p:cNvPr id="8" name="writing_joint_answer_text">
            <a:extLst xmlns:a="http://schemas.openxmlformats.org/drawingml/2006/main">
              <a:ext uri="{FF2B5EF4-FFF2-40B4-BE49-F238E27FC236}">
                <a16:creationId xmlns:a16="http://schemas.microsoft.com/office/drawing/2014/main" id="{A2D72F5C-8137-4369-891F-1068428D1B7D}"/>
              </a:ext>
            </a:extLst>
          </p:cNvPr>
          <p:cNvSpPr>
            <a:spLocks xmlns:a="http://schemas.openxmlformats.org/drawingml/2006/main" noGrp="1"/>
          </p:cNvSpPr>
          <p:nvPr/>
        </p:nvSpPr>
        <p:spPr>
          <a:xfrm xmlns:a="http://schemas.openxmlformats.org/drawingml/2006/main">
            <a:off x="1009650" y="1676400"/>
            <a:ext cx="10172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450" b="1">
                <a:solidFill>
                  <a:srgbClr val="184D2B"/>
                </a:solidFill>
                <a:latin typeface="Trebuchet MS"/>
                <a:ea typeface="Trebuchet MS"/>
                <a:cs typeface="Trebuchet MS"/>
              </a:defRPr>
            </a:pPr>
            <a:r>
              <a:rPr sz="3450" b="1">
                <a:solidFill>
                  <a:srgbClr val="184D2B"/>
                </a:solidFill>
                <a:latin typeface="Trebuchet MS"/>
                <a:ea typeface="Trebuchet MS"/>
                <a:cs typeface="Trebuchet MS"/>
              </a:rPr>
              <a:t>Montevideo stands beside the Río de la Plata estuary. Its port allows ships to transport goods to and from the city.</a:t>
            </a:r>
          </a:p>
        </p:txBody>
      </p:sp>
      <p:sp>
        <p:nvSpPr>
          <p:cNvPr id="9" name="writing_joint_terms_panel">
            <a:extLst xmlns:a="http://schemas.openxmlformats.org/drawingml/2006/main">
              <a:ext uri="{FF2B5EF4-FFF2-40B4-BE49-F238E27FC236}">
                <a16:creationId xmlns:a16="http://schemas.microsoft.com/office/drawing/2014/main" id="{DC557051-B0B7-40BF-B845-089AA558888E}"/>
              </a:ext>
            </a:extLst>
          </p:cNvPr>
          <p:cNvSpPr>
            <a:spLocks xmlns:a="http://schemas.openxmlformats.org/drawingml/2006/main" noGrp="1"/>
          </p:cNvSpPr>
          <p:nvPr/>
        </p:nvSpPr>
        <p:spPr>
          <a:xfrm xmlns:a="http://schemas.openxmlformats.org/drawingml/2006/main">
            <a:off x="952500" y="4229100"/>
            <a:ext cx="10287000" cy="156210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CBD5E1"/>
            </a:solidFill>
            <a:prstDash val="solid"/>
          </a:ln>
        </p:spPr>
      </p:sp>
      <p:sp>
        <p:nvSpPr>
          <p:cNvPr id="10" name="writing_joint_terms_text">
            <a:extLst xmlns:a="http://schemas.openxmlformats.org/drawingml/2006/main">
              <a:ext uri="{FF2B5EF4-FFF2-40B4-BE49-F238E27FC236}">
                <a16:creationId xmlns:a16="http://schemas.microsoft.com/office/drawing/2014/main" id="{52553186-19F5-45C4-B606-2450B536A081}"/>
              </a:ext>
            </a:extLst>
          </p:cNvPr>
          <p:cNvSpPr>
            <a:spLocks xmlns:a="http://schemas.openxmlformats.org/drawingml/2006/main" noGrp="1"/>
          </p:cNvSpPr>
          <p:nvPr/>
        </p:nvSpPr>
        <p:spPr>
          <a:xfrm xmlns:a="http://schemas.openxmlformats.org/drawingml/2006/main">
            <a:off x="1219200" y="4495800"/>
            <a:ext cx="97536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700" b="0">
                <a:solidFill>
                  <a:srgbClr val="111827"/>
                </a:solidFill>
                <a:latin typeface="Trebuchet MS"/>
                <a:ea typeface="Trebuchet MS"/>
                <a:cs typeface="Trebuchet MS"/>
              </a:defRPr>
            </a:pPr>
            <a:r>
              <a:rPr sz="2700" b="0">
                <a:solidFill>
                  <a:srgbClr val="111827"/>
                </a:solidFill>
                <a:latin typeface="Trebuchet MS"/>
                <a:ea typeface="Trebuchet MS"/>
                <a:cs typeface="Trebuchet MS"/>
              </a:rPr>
              <a:t>estuary names the water feature</a:t>
            </a:r>
          </a:p>
          <a:p xmlns:a="http://schemas.openxmlformats.org/drawingml/2006/main">
            <a:pPr algn="ctr">
              <a:lnSpc>
                <a:spcPct val="108000"/>
              </a:lnSpc>
              <a:buNone/>
              <a:defRPr sz="2700" b="0">
                <a:solidFill>
                  <a:srgbClr val="111827"/>
                </a:solidFill>
                <a:latin typeface="Trebuchet MS"/>
                <a:ea typeface="Trebuchet MS"/>
                <a:cs typeface="Trebuchet MS"/>
              </a:defRPr>
            </a:pPr>
            <a:r>
              <a:rPr sz="2700" b="0">
                <a:solidFill>
                  <a:srgbClr val="111827"/>
                </a:solidFill>
                <a:latin typeface="Trebuchet MS"/>
                <a:ea typeface="Trebuchet MS"/>
                <a:cs typeface="Trebuchet MS"/>
              </a:rPr>
              <a:t>port names the transport place</a:t>
            </a:r>
          </a:p>
          <a:p xmlns:a="http://schemas.openxmlformats.org/drawingml/2006/main">
            <a:pPr algn="ctr">
              <a:lnSpc>
                <a:spcPct val="108000"/>
              </a:lnSpc>
              <a:buNone/>
              <a:defRPr sz="2700" b="0">
                <a:solidFill>
                  <a:srgbClr val="111827"/>
                </a:solidFill>
                <a:latin typeface="Trebuchet MS"/>
                <a:ea typeface="Trebuchet MS"/>
                <a:cs typeface="Trebuchet MS"/>
              </a:defRPr>
            </a:pPr>
            <a:r>
              <a:rPr sz="2700" b="0">
                <a:solidFill>
                  <a:srgbClr val="111827"/>
                </a:solidFill>
                <a:latin typeface="Trebuchet MS"/>
                <a:ea typeface="Trebuchet MS"/>
                <a:cs typeface="Trebuchet MS"/>
              </a:rPr>
              <a:t>transport names the movement</a:t>
            </a:r>
          </a:p>
        </p:txBody>
      </p:sp>
    </p:spTree>
    <p:extLst>
      <p:ext uri="{BB962C8B-B14F-4D97-AF65-F5344CB8AC3E}">
        <p14:creationId xmlns:p14="http://schemas.microsoft.com/office/powerpoint/2010/main" val="1391344044"/>
      </p:ext>
    </p:extLst>
  </p:cSld>
</p:sld>
</file>

<file path=ppt/slides/slide49.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49">
            <a:extLst xmlns:a="http://schemas.openxmlformats.org/drawingml/2006/main">
              <a:ext uri="{FF2B5EF4-FFF2-40B4-BE49-F238E27FC236}">
                <a16:creationId xmlns:a16="http://schemas.microsoft.com/office/drawing/2014/main" id="{73BF1BED-0F50-4E3E-BAB0-AC9B5ED1A63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03A5E"/>
          </a:solidFill>
          <a:ln xmlns:a="http://schemas.openxmlformats.org/drawingml/2006/main" w="0">
            <a:noFill/>
            <a:prstDash val="solid"/>
          </a:ln>
        </p:spPr>
      </p:sp>
      <p:sp>
        <p:nvSpPr>
          <p:cNvPr id="2" name="kicker_49">
            <a:extLst xmlns:a="http://schemas.openxmlformats.org/drawingml/2006/main">
              <a:ext uri="{FF2B5EF4-FFF2-40B4-BE49-F238E27FC236}">
                <a16:creationId xmlns:a16="http://schemas.microsoft.com/office/drawing/2014/main" id="{A7344B78-9DBB-4177-9EDD-C2F6222028F0}"/>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r>
              <a:t/>
            </a:r>
          </a:p>
        </p:txBody>
      </p:sp>
      <p:sp>
        <p:nvSpPr>
          <p:cNvPr id="3" name="title_49">
            <a:extLst xmlns:a="http://schemas.openxmlformats.org/drawingml/2006/main">
              <a:ext uri="{FF2B5EF4-FFF2-40B4-BE49-F238E27FC236}">
                <a16:creationId xmlns:a16="http://schemas.microsoft.com/office/drawing/2014/main" id="{C233ADC5-3E8C-4C72-B905-6299112AF4B4}"/>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Write one precise information paragraph</a:t>
            </a:r>
          </a:p>
        </p:txBody>
      </p:sp>
      <p:sp>
        <p:nvSpPr>
          <p:cNvPr id="4" name="page_49">
            <a:extLst xmlns:a="http://schemas.openxmlformats.org/drawingml/2006/main">
              <a:ext uri="{FF2B5EF4-FFF2-40B4-BE49-F238E27FC236}">
                <a16:creationId xmlns:a16="http://schemas.microsoft.com/office/drawing/2014/main" id="{C4BDCB98-F9FB-462B-B41B-8AC9C31C7584}"/>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49</a:t>
            </a:r>
          </a:p>
        </p:txBody>
      </p:sp>
      <p:sp>
        <p:nvSpPr>
          <p:cNvPr id="5" name="writing_role_49_panel">
            <a:extLst xmlns:a="http://schemas.openxmlformats.org/drawingml/2006/main">
              <a:ext uri="{FF2B5EF4-FFF2-40B4-BE49-F238E27FC236}">
                <a16:creationId xmlns:a16="http://schemas.microsoft.com/office/drawing/2014/main" id="{F1ED2C8C-1849-4A7A-947B-2B16F8914376}"/>
              </a:ext>
            </a:extLst>
          </p:cNvPr>
          <p:cNvSpPr>
            <a:spLocks xmlns:a="http://schemas.openxmlformats.org/drawingml/2006/main" noGrp="1"/>
          </p:cNvSpPr>
          <p:nvPr/>
        </p:nvSpPr>
        <p:spPr>
          <a:xfrm xmlns:a="http://schemas.openxmlformats.org/drawingml/2006/main">
            <a:off x="552450" y="38100"/>
            <a:ext cx="3048000" cy="533400"/>
          </a:xfrm>
          <a:prstGeom xmlns:a="http://schemas.openxmlformats.org/drawingml/2006/main" prst="roundRect">
            <a:avLst>
              <a:gd name="adj" fmla="val 28571"/>
            </a:avLst>
          </a:prstGeom>
          <a:solidFill xmlns:a="http://schemas.openxmlformats.org/drawingml/2006/main">
            <a:srgbClr val="103A5E"/>
          </a:solidFill>
          <a:ln xmlns:a="http://schemas.openxmlformats.org/drawingml/2006/main" w="19050">
            <a:solidFill>
              <a:srgbClr val="103A5E"/>
            </a:solidFill>
            <a:prstDash val="solid"/>
          </a:ln>
        </p:spPr>
      </p:sp>
      <p:sp>
        <p:nvSpPr>
          <p:cNvPr id="6" name="writing_role_49_text">
            <a:extLst xmlns:a="http://schemas.openxmlformats.org/drawingml/2006/main">
              <a:ext uri="{FF2B5EF4-FFF2-40B4-BE49-F238E27FC236}">
                <a16:creationId xmlns:a16="http://schemas.microsoft.com/office/drawing/2014/main" id="{A6FC6738-F001-47F8-B8AF-1132E00C6F29}"/>
              </a:ext>
            </a:extLst>
          </p:cNvPr>
          <p:cNvSpPr>
            <a:spLocks xmlns:a="http://schemas.openxmlformats.org/drawingml/2006/main" noGrp="1"/>
          </p:cNvSpPr>
          <p:nvPr/>
        </p:nvSpPr>
        <p:spPr>
          <a:xfrm xmlns:a="http://schemas.openxmlformats.org/drawingml/2006/main">
            <a:off x="695325" y="18097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1650" b="1">
                <a:solidFill>
                  <a:srgbClr val="FFFFFF"/>
                </a:solidFill>
                <a:latin typeface="Trebuchet MS"/>
                <a:ea typeface="Trebuchet MS"/>
                <a:cs typeface="Trebuchet MS"/>
              </a:defRPr>
            </a:pPr>
            <a:r>
              <a:rPr sz="1650" b="1">
                <a:solidFill>
                  <a:srgbClr val="FFFFFF"/>
                </a:solidFill>
                <a:latin typeface="Trebuchet MS"/>
                <a:ea typeface="Trebuchet MS"/>
                <a:cs typeface="Trebuchet MS"/>
              </a:rPr>
              <a:t>WRITING • YOU DO</a:t>
            </a:r>
          </a:p>
        </p:txBody>
      </p:sp>
      <p:sp>
        <p:nvSpPr>
          <p:cNvPr id="7" name="writing_independent_panel">
            <a:extLst xmlns:a="http://schemas.openxmlformats.org/drawingml/2006/main">
              <a:ext uri="{FF2B5EF4-FFF2-40B4-BE49-F238E27FC236}">
                <a16:creationId xmlns:a16="http://schemas.microsoft.com/office/drawing/2014/main" id="{0E1E6DAD-C4ED-4DE7-A830-F0CC4C4487A2}"/>
              </a:ext>
            </a:extLst>
          </p:cNvPr>
          <p:cNvSpPr>
            <a:spLocks xmlns:a="http://schemas.openxmlformats.org/drawingml/2006/main" noGrp="1"/>
          </p:cNvSpPr>
          <p:nvPr/>
        </p:nvSpPr>
        <p:spPr>
          <a:xfrm xmlns:a="http://schemas.openxmlformats.org/drawingml/2006/main">
            <a:off x="666750" y="1257300"/>
            <a:ext cx="10858500" cy="3714750"/>
          </a:xfrm>
          <a:prstGeom xmlns:a="http://schemas.openxmlformats.org/drawingml/2006/main" prst="roundRect">
            <a:avLst>
              <a:gd name="adj" fmla="val 4103"/>
            </a:avLst>
          </a:prstGeom>
          <a:solidFill xmlns:a="http://schemas.openxmlformats.org/drawingml/2006/main">
            <a:srgbClr val="FFFFFF"/>
          </a:solidFill>
          <a:ln xmlns:a="http://schemas.openxmlformats.org/drawingml/2006/main" w="19050">
            <a:solidFill>
              <a:srgbClr val="103A5E"/>
            </a:solidFill>
            <a:prstDash val="solid"/>
          </a:ln>
        </p:spPr>
      </p:sp>
      <p:sp>
        <p:nvSpPr>
          <p:cNvPr id="8" name="writing_independent_text">
            <a:extLst xmlns:a="http://schemas.openxmlformats.org/drawingml/2006/main">
              <a:ext uri="{FF2B5EF4-FFF2-40B4-BE49-F238E27FC236}">
                <a16:creationId xmlns:a16="http://schemas.microsoft.com/office/drawing/2014/main" id="{BFE1D890-8D7B-4492-9CF3-C0C620226D11}"/>
              </a:ext>
            </a:extLst>
          </p:cNvPr>
          <p:cNvSpPr>
            <a:spLocks xmlns:a="http://schemas.openxmlformats.org/drawingml/2006/main" noGrp="1"/>
          </p:cNvSpPr>
          <p:nvPr/>
        </p:nvSpPr>
        <p:spPr>
          <a:xfrm xmlns:a="http://schemas.openxmlformats.org/drawingml/2006/main">
            <a:off x="990600" y="1581150"/>
            <a:ext cx="10210800" cy="3067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700" b="1">
                <a:solidFill>
                  <a:srgbClr val="111827"/>
                </a:solidFill>
                <a:latin typeface="Trebuchet MS"/>
                <a:ea typeface="Trebuchet MS"/>
                <a:cs typeface="Trebuchet MS"/>
              </a:defRPr>
            </a:pPr>
            <a:r>
              <a:rPr sz="2700" b="1">
                <a:solidFill>
                  <a:srgbClr val="111827"/>
                </a:solidFill>
                <a:latin typeface="Trebuchet MS"/>
                <a:ea typeface="Trebuchet MS"/>
                <a:cs typeface="Trebuchet MS"/>
              </a:rPr>
              <a:t>Choose one section from your information-report plan.</a:t>
            </a:r>
          </a:p>
          <a:p xmlns:a="http://schemas.openxmlformats.org/drawingml/2006/main">
            <a:pPr algn="ctr">
              <a:lnSpc>
                <a:spcPct val="108000"/>
              </a:lnSpc>
              <a:buNone/>
              <a:defRPr sz="2700" b="1">
                <a:solidFill>
                  <a:srgbClr val="111827"/>
                </a:solidFill>
                <a:latin typeface="Trebuchet MS"/>
                <a:ea typeface="Trebuchet MS"/>
                <a:cs typeface="Trebuchet MS"/>
              </a:defRPr>
            </a:pPr>
            <a:r>
              <a:rPr sz="2700" b="1">
                <a:solidFill>
                  <a:srgbClr val="111827"/>
                </a:solidFill>
                <a:latin typeface="Trebuchet MS"/>
                <a:ea typeface="Trebuchet MS"/>
                <a:cs typeface="Trebuchet MS"/>
              </a:rPr>
              <a:t>Write five complete sentences.</a:t>
            </a:r>
          </a:p>
          <a:p xmlns:a="http://schemas.openxmlformats.org/drawingml/2006/main">
            <a:pPr algn="ctr">
              <a:lnSpc>
                <a:spcPct val="108000"/>
              </a:lnSpc>
              <a:buNone/>
              <a:defRPr sz="2700" b="1">
                <a:solidFill>
                  <a:srgbClr val="111827"/>
                </a:solidFill>
                <a:latin typeface="Trebuchet MS"/>
                <a:ea typeface="Trebuchet MS"/>
                <a:cs typeface="Trebuchet MS"/>
              </a:defRPr>
            </a:pPr>
            <a:r>
              <a:rPr sz="2700" b="1">
                <a:solidFill>
                  <a:srgbClr val="111827"/>
                </a:solidFill>
                <a:latin typeface="Trebuchet MS"/>
                <a:ea typeface="Trebuchet MS"/>
                <a:cs typeface="Trebuchet MS"/>
              </a:rPr>
              <a:t>Use at least three accurate subject-specific words.</a:t>
            </a:r>
          </a:p>
          <a:p xmlns:a="http://schemas.openxmlformats.org/drawingml/2006/main">
            <a:pPr algn="ctr">
              <a:lnSpc>
                <a:spcPct val="108000"/>
              </a:lnSpc>
              <a:buNone/>
              <a:defRPr sz="2700" b="1">
                <a:solidFill>
                  <a:srgbClr val="111827"/>
                </a:solidFill>
                <a:latin typeface="Trebuchet MS"/>
                <a:ea typeface="Trebuchet MS"/>
                <a:cs typeface="Trebuchet MS"/>
              </a:defRPr>
            </a:pPr>
            <a:r>
              <a:rPr sz="2700" b="1">
                <a:solidFill>
                  <a:srgbClr val="111827"/>
                </a:solidFill>
                <a:latin typeface="Trebuchet MS"/>
                <a:ea typeface="Trebuchet MS"/>
                <a:cs typeface="Trebuchet MS"/>
              </a:rPr>
              <a:t>Explain one technical word in the sentence where you use it.</a:t>
            </a:r>
          </a:p>
          <a:p xmlns:a="http://schemas.openxmlformats.org/drawingml/2006/main">
            <a:pPr algn="ctr">
              <a:lnSpc>
                <a:spcPct val="108000"/>
              </a:lnSpc>
              <a:buNone/>
              <a:defRPr sz="2700" b="1">
                <a:solidFill>
                  <a:srgbClr val="111827"/>
                </a:solidFill>
                <a:latin typeface="Trebuchet MS"/>
                <a:ea typeface="Trebuchet MS"/>
                <a:cs typeface="Trebuchet MS"/>
              </a:defRPr>
            </a:pPr>
            <a:r>
              <a:rPr sz="2700" b="1">
                <a:solidFill>
                  <a:srgbClr val="111827"/>
                </a:solidFill>
                <a:latin typeface="Trebuchet MS"/>
                <a:ea typeface="Trebuchet MS"/>
                <a:cs typeface="Trebuchet MS"/>
              </a:rPr>
              <a:t>After the paragraph, explain why one word is more exact than your first choice.</a:t>
            </a:r>
          </a:p>
        </p:txBody>
      </p:sp>
      <p:sp>
        <p:nvSpPr>
          <p:cNvPr id="9" name="writing_independent_check_panel">
            <a:extLst xmlns:a="http://schemas.openxmlformats.org/drawingml/2006/main">
              <a:ext uri="{FF2B5EF4-FFF2-40B4-BE49-F238E27FC236}">
                <a16:creationId xmlns:a16="http://schemas.microsoft.com/office/drawing/2014/main" id="{313F835A-159F-4084-83FE-8F83A303ACA8}"/>
              </a:ext>
            </a:extLst>
          </p:cNvPr>
          <p:cNvSpPr>
            <a:spLocks xmlns:a="http://schemas.openxmlformats.org/drawingml/2006/main" noGrp="1"/>
          </p:cNvSpPr>
          <p:nvPr/>
        </p:nvSpPr>
        <p:spPr>
          <a:xfrm xmlns:a="http://schemas.openxmlformats.org/drawingml/2006/main">
            <a:off x="1524000" y="5105400"/>
            <a:ext cx="9144000" cy="1047750"/>
          </a:xfrm>
          <a:prstGeom xmlns:a="http://schemas.openxmlformats.org/drawingml/2006/main" prst="roundRect">
            <a:avLst>
              <a:gd name="adj" fmla="val 14545"/>
            </a:avLst>
          </a:prstGeom>
          <a:solidFill xmlns:a="http://schemas.openxmlformats.org/drawingml/2006/main">
            <a:srgbClr val="EAF7EE"/>
          </a:solidFill>
          <a:ln xmlns:a="http://schemas.openxmlformats.org/drawingml/2006/main" w="19050">
            <a:solidFill>
              <a:srgbClr val="70A77C"/>
            </a:solidFill>
            <a:prstDash val="solid"/>
          </a:ln>
        </p:spPr>
      </p:sp>
      <p:sp>
        <p:nvSpPr>
          <p:cNvPr id="10" name="writing_independent_check_text">
            <a:extLst xmlns:a="http://schemas.openxmlformats.org/drawingml/2006/main">
              <a:ext uri="{FF2B5EF4-FFF2-40B4-BE49-F238E27FC236}">
                <a16:creationId xmlns:a16="http://schemas.microsoft.com/office/drawing/2014/main" id="{D63D9E24-3E8A-4F24-ADAC-6A89448A141C}"/>
              </a:ext>
            </a:extLst>
          </p:cNvPr>
          <p:cNvSpPr>
            <a:spLocks xmlns:a="http://schemas.openxmlformats.org/drawingml/2006/main" noGrp="1"/>
          </p:cNvSpPr>
          <p:nvPr/>
        </p:nvSpPr>
        <p:spPr>
          <a:xfrm xmlns:a="http://schemas.openxmlformats.org/drawingml/2006/main">
            <a:off x="1695450" y="5276850"/>
            <a:ext cx="8801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400" b="1">
                <a:solidFill>
                  <a:srgbClr val="184D2B"/>
                </a:solidFill>
                <a:latin typeface="Trebuchet MS"/>
                <a:ea typeface="Trebuchet MS"/>
                <a:cs typeface="Trebuchet MS"/>
              </a:defRPr>
            </a:pPr>
            <a:r>
              <a:rPr sz="2400" b="1">
                <a:solidFill>
                  <a:srgbClr val="184D2B"/>
                </a:solidFill>
                <a:latin typeface="Trebuchet MS"/>
                <a:ea typeface="Trebuchet MS"/>
                <a:cs typeface="Trebuchet MS"/>
              </a:rPr>
              <a:t>CHECK: meaning kept • exact information added • word used accurately</a:t>
            </a:r>
          </a:p>
        </p:txBody>
      </p:sp>
    </p:spTree>
    <p:extLst>
      <p:ext uri="{BB962C8B-B14F-4D97-AF65-F5344CB8AC3E}">
        <p14:creationId xmlns:p14="http://schemas.microsoft.com/office/powerpoint/2010/main" val="461763343"/>
      </p:ext>
    </p:extLst>
  </p:cSld>
</p:sld>
</file>

<file path=ppt/slides/slide50.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ection_bar_50">
            <a:extLst xmlns:a="http://schemas.openxmlformats.org/drawingml/2006/main">
              <a:ext uri="{FF2B5EF4-FFF2-40B4-BE49-F238E27FC236}">
                <a16:creationId xmlns:a16="http://schemas.microsoft.com/office/drawing/2014/main" id="{CBEB98E8-1E0D-41A7-A97F-7D482E8F88E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sp>
      <p:sp>
        <p:nvSpPr>
          <p:cNvPr id="2" name="kicker_50">
            <a:extLst xmlns:a="http://schemas.openxmlformats.org/drawingml/2006/main">
              <a:ext uri="{FF2B5EF4-FFF2-40B4-BE49-F238E27FC236}">
                <a16:creationId xmlns:a16="http://schemas.microsoft.com/office/drawing/2014/main" id="{99A237F0-FD1F-49B9-8A8E-8ED1876BD839}"/>
              </a:ext>
            </a:extLst>
          </p:cNvPr>
          <p:cNvSpPr>
            <a:spLocks xmlns:a="http://schemas.openxmlformats.org/drawingml/2006/main" noGrp="1"/>
          </p:cNvSpPr>
          <p:nvPr/>
        </p:nvSpPr>
        <p:spPr>
          <a:xfrm xmlns:a="http://schemas.openxmlformats.org/drawingml/2006/main">
            <a:off x="552450" y="1714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r>
              <a:t/>
            </a:r>
          </a:p>
        </p:txBody>
      </p:sp>
      <p:sp>
        <p:nvSpPr>
          <p:cNvPr id="3" name="title_50">
            <a:extLst xmlns:a="http://schemas.openxmlformats.org/drawingml/2006/main">
              <a:ext uri="{FF2B5EF4-FFF2-40B4-BE49-F238E27FC236}">
                <a16:creationId xmlns:a16="http://schemas.microsoft.com/office/drawing/2014/main" id="{32CBE9D4-B4D3-4B7B-9321-31D064ADA808}"/>
              </a:ext>
            </a:extLst>
          </p:cNvPr>
          <p:cNvSpPr>
            <a:spLocks xmlns:a="http://schemas.openxmlformats.org/drawingml/2006/main" noGrp="1"/>
          </p:cNvSpPr>
          <p:nvPr/>
        </p:nvSpPr>
        <p:spPr>
          <a:xfrm xmlns:a="http://schemas.openxmlformats.org/drawingml/2006/main">
            <a:off x="552450" y="590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08000"/>
              </a:lnSpc>
              <a:buNone/>
              <a:defRPr sz="3000" b="1">
                <a:solidFill>
                  <a:srgbClr val="111827"/>
                </a:solidFill>
                <a:latin typeface="Trebuchet MS"/>
                <a:ea typeface="Trebuchet MS"/>
                <a:cs typeface="Trebuchet MS"/>
              </a:defRPr>
            </a:pPr>
            <a:r>
              <a:rPr sz="3000" b="1">
                <a:solidFill>
                  <a:srgbClr val="111827"/>
                </a:solidFill>
                <a:latin typeface="Trebuchet MS"/>
                <a:ea typeface="Trebuchet MS"/>
                <a:cs typeface="Trebuchet MS"/>
              </a:rPr>
              <a:t>Prove that one word adds precision</a:t>
            </a:r>
          </a:p>
        </p:txBody>
      </p:sp>
      <p:sp>
        <p:nvSpPr>
          <p:cNvPr id="4" name="page_50">
            <a:extLst xmlns:a="http://schemas.openxmlformats.org/drawingml/2006/main">
              <a:ext uri="{FF2B5EF4-FFF2-40B4-BE49-F238E27FC236}">
                <a16:creationId xmlns:a16="http://schemas.microsoft.com/office/drawing/2014/main" id="{DBB661A7-3183-4E82-88E7-C3B10D0C8A54}"/>
              </a:ext>
            </a:extLst>
          </p:cNvPr>
          <p:cNvSpPr>
            <a:spLocks xmlns:a="http://schemas.openxmlformats.org/drawingml/2006/main" noGrp="1"/>
          </p:cNvSpPr>
          <p:nvPr/>
        </p:nvSpPr>
        <p:spPr>
          <a:xfrm xmlns:a="http://schemas.openxmlformats.org/drawingml/2006/main">
            <a:off x="11553825"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r">
              <a:lnSpc>
                <a:spcPct val="108000"/>
              </a:lnSpc>
              <a:buNone/>
              <a:defRPr sz="1350" b="0">
                <a:solidFill>
                  <a:srgbClr val="64748B"/>
                </a:solidFill>
                <a:latin typeface="Trebuchet MS"/>
                <a:ea typeface="Trebuchet MS"/>
                <a:cs typeface="Trebuchet MS"/>
              </a:defRPr>
            </a:pPr>
            <a:r>
              <a:rPr sz="1350" b="0">
                <a:solidFill>
                  <a:srgbClr val="64748B"/>
                </a:solidFill>
                <a:latin typeface="Trebuchet MS"/>
                <a:ea typeface="Trebuchet MS"/>
                <a:cs typeface="Trebuchet MS"/>
              </a:rPr>
              <a:t>50</a:t>
            </a:r>
          </a:p>
        </p:txBody>
      </p:sp>
      <p:sp>
        <p:nvSpPr>
          <p:cNvPr id="5" name="writing_role_50_panel">
            <a:extLst xmlns:a="http://schemas.openxmlformats.org/drawingml/2006/main">
              <a:ext uri="{FF2B5EF4-FFF2-40B4-BE49-F238E27FC236}">
                <a16:creationId xmlns:a16="http://schemas.microsoft.com/office/drawing/2014/main" id="{ACC8395A-F711-4D8A-AD5F-4F71F3599DD8}"/>
              </a:ext>
            </a:extLst>
          </p:cNvPr>
          <p:cNvSpPr>
            <a:spLocks xmlns:a="http://schemas.openxmlformats.org/drawingml/2006/main" noGrp="1"/>
          </p:cNvSpPr>
          <p:nvPr/>
        </p:nvSpPr>
        <p:spPr>
          <a:xfrm xmlns:a="http://schemas.openxmlformats.org/drawingml/2006/main">
            <a:off x="552450" y="38100"/>
            <a:ext cx="3048000" cy="533400"/>
          </a:xfrm>
          <a:prstGeom xmlns:a="http://schemas.openxmlformats.org/drawingml/2006/main" prst="roundRect">
            <a:avLst>
              <a:gd name="adj" fmla="val 28571"/>
            </a:avLst>
          </a:prstGeom>
          <a:solidFill xmlns:a="http://schemas.openxmlformats.org/drawingml/2006/main">
            <a:srgbClr val="005A9C"/>
          </a:solidFill>
          <a:ln xmlns:a="http://schemas.openxmlformats.org/drawingml/2006/main" w="19050">
            <a:solidFill>
              <a:srgbClr val="005A9C"/>
            </a:solidFill>
            <a:prstDash val="solid"/>
          </a:ln>
        </p:spPr>
      </p:sp>
      <p:sp>
        <p:nvSpPr>
          <p:cNvPr id="6" name="writing_role_50_text">
            <a:extLst xmlns:a="http://schemas.openxmlformats.org/drawingml/2006/main">
              <a:ext uri="{FF2B5EF4-FFF2-40B4-BE49-F238E27FC236}">
                <a16:creationId xmlns:a16="http://schemas.microsoft.com/office/drawing/2014/main" id="{87A84DF9-E8E8-4156-B884-D61F7F22ECAA}"/>
              </a:ext>
            </a:extLst>
          </p:cNvPr>
          <p:cNvSpPr>
            <a:spLocks xmlns:a="http://schemas.openxmlformats.org/drawingml/2006/main" noGrp="1"/>
          </p:cNvSpPr>
          <p:nvPr/>
        </p:nvSpPr>
        <p:spPr>
          <a:xfrm xmlns:a="http://schemas.openxmlformats.org/drawingml/2006/main">
            <a:off x="695325" y="18097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1650" b="1">
                <a:solidFill>
                  <a:srgbClr val="FFFFFF"/>
                </a:solidFill>
                <a:latin typeface="Trebuchet MS"/>
                <a:ea typeface="Trebuchet MS"/>
                <a:cs typeface="Trebuchet MS"/>
              </a:defRPr>
            </a:pPr>
            <a:r>
              <a:rPr sz="1650" b="1">
                <a:solidFill>
                  <a:srgbClr val="FFFFFF"/>
                </a:solidFill>
                <a:latin typeface="Trebuchet MS"/>
                <a:ea typeface="Trebuchet MS"/>
                <a:cs typeface="Trebuchet MS"/>
              </a:rPr>
              <a:t>WRITING • REVIEW</a:t>
            </a:r>
          </a:p>
        </p:txBody>
      </p:sp>
      <p:sp>
        <p:nvSpPr>
          <p:cNvPr id="7" name="writing_exit_panel">
            <a:extLst xmlns:a="http://schemas.openxmlformats.org/drawingml/2006/main">
              <a:ext uri="{FF2B5EF4-FFF2-40B4-BE49-F238E27FC236}">
                <a16:creationId xmlns:a16="http://schemas.microsoft.com/office/drawing/2014/main" id="{B8034F6F-A183-4EC5-97B1-89C552B5E5BD}"/>
              </a:ext>
            </a:extLst>
          </p:cNvPr>
          <p:cNvSpPr>
            <a:spLocks xmlns:a="http://schemas.openxmlformats.org/drawingml/2006/main" noGrp="1"/>
          </p:cNvSpPr>
          <p:nvPr/>
        </p:nvSpPr>
        <p:spPr>
          <a:xfrm xmlns:a="http://schemas.openxmlformats.org/drawingml/2006/main">
            <a:off x="666750" y="1314450"/>
            <a:ext cx="10858500" cy="2857500"/>
          </a:xfrm>
          <a:prstGeom xmlns:a="http://schemas.openxmlformats.org/drawingml/2006/main" prst="roundRect">
            <a:avLst>
              <a:gd name="adj" fmla="val 5333"/>
            </a:avLst>
          </a:prstGeom>
          <a:solidFill xmlns:a="http://schemas.openxmlformats.org/drawingml/2006/main">
            <a:srgbClr val="EAF2F8"/>
          </a:solidFill>
          <a:ln xmlns:a="http://schemas.openxmlformats.org/drawingml/2006/main" w="19050">
            <a:solidFill>
              <a:srgbClr val="7AA7C7"/>
            </a:solidFill>
            <a:prstDash val="solid"/>
          </a:ln>
        </p:spPr>
      </p:sp>
      <p:sp>
        <p:nvSpPr>
          <p:cNvPr id="8" name="writing_exit_text">
            <a:extLst xmlns:a="http://schemas.openxmlformats.org/drawingml/2006/main">
              <a:ext uri="{FF2B5EF4-FFF2-40B4-BE49-F238E27FC236}">
                <a16:creationId xmlns:a16="http://schemas.microsoft.com/office/drawing/2014/main" id="{A49D8CCC-7B6D-4708-8C30-3B5F4CB5EBC1}"/>
              </a:ext>
            </a:extLst>
          </p:cNvPr>
          <p:cNvSpPr>
            <a:spLocks xmlns:a="http://schemas.openxmlformats.org/drawingml/2006/main" noGrp="1"/>
          </p:cNvSpPr>
          <p:nvPr/>
        </p:nvSpPr>
        <p:spPr>
          <a:xfrm xmlns:a="http://schemas.openxmlformats.org/drawingml/2006/main">
            <a:off x="990600" y="1638300"/>
            <a:ext cx="102108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3150" b="1">
                <a:solidFill>
                  <a:srgbClr val="103A5E"/>
                </a:solidFill>
                <a:latin typeface="Trebuchet MS"/>
                <a:ea typeface="Trebuchet MS"/>
                <a:cs typeface="Trebuchet MS"/>
              </a:defRPr>
            </a:pPr>
            <a:r>
              <a:rPr sz="3150" b="1">
                <a:solidFill>
                  <a:srgbClr val="103A5E"/>
                </a:solidFill>
                <a:latin typeface="Trebuchet MS"/>
                <a:ea typeface="Trebuchet MS"/>
                <a:cs typeface="Trebuchet MS"/>
              </a:rPr>
              <a:t>Write this line under your paragraph:</a:t>
            </a:r>
          </a:p>
          <a:p xmlns:a="http://schemas.openxmlformats.org/drawingml/2006/main">
            <a:r>
              <a:t/>
            </a:r>
          </a:p>
          <a:p xmlns:a="http://schemas.openxmlformats.org/drawingml/2006/main">
            <a:pPr algn="ctr">
              <a:lnSpc>
                <a:spcPct val="108000"/>
              </a:lnSpc>
              <a:buNone/>
              <a:defRPr sz="3150" b="1">
                <a:solidFill>
                  <a:srgbClr val="103A5E"/>
                </a:solidFill>
                <a:latin typeface="Trebuchet MS"/>
                <a:ea typeface="Trebuchet MS"/>
                <a:cs typeface="Trebuchet MS"/>
              </a:defRPr>
            </a:pPr>
            <a:r>
              <a:rPr sz="3150" b="1">
                <a:solidFill>
                  <a:srgbClr val="103A5E"/>
                </a:solidFill>
                <a:latin typeface="Trebuchet MS"/>
                <a:ea typeface="Trebuchet MS"/>
                <a:cs typeface="Trebuchet MS"/>
              </a:rPr>
              <a:t>I chose __________ instead of __________ because it tells the reader ________________________________.</a:t>
            </a:r>
          </a:p>
        </p:txBody>
      </p:sp>
      <p:sp>
        <p:nvSpPr>
          <p:cNvPr id="9" name="writing_exit_check_panel">
            <a:extLst xmlns:a="http://schemas.openxmlformats.org/drawingml/2006/main">
              <a:ext uri="{FF2B5EF4-FFF2-40B4-BE49-F238E27FC236}">
                <a16:creationId xmlns:a16="http://schemas.microsoft.com/office/drawing/2014/main" id="{B381E722-44A3-4CC4-B8AC-11765825DCD1}"/>
              </a:ext>
            </a:extLst>
          </p:cNvPr>
          <p:cNvSpPr>
            <a:spLocks xmlns:a="http://schemas.openxmlformats.org/drawingml/2006/main" noGrp="1"/>
          </p:cNvSpPr>
          <p:nvPr/>
        </p:nvSpPr>
        <p:spPr>
          <a:xfrm xmlns:a="http://schemas.openxmlformats.org/drawingml/2006/main">
            <a:off x="1524000" y="4248150"/>
            <a:ext cx="9144000" cy="1790700"/>
          </a:xfrm>
          <a:prstGeom xmlns:a="http://schemas.openxmlformats.org/drawingml/2006/main" prst="roundRect">
            <a:avLst>
              <a:gd name="adj" fmla="val 8511"/>
            </a:avLst>
          </a:prstGeom>
          <a:solidFill xmlns:a="http://schemas.openxmlformats.org/drawingml/2006/main">
            <a:srgbClr val="EAF7EE"/>
          </a:solidFill>
          <a:ln xmlns:a="http://schemas.openxmlformats.org/drawingml/2006/main" w="19050">
            <a:solidFill>
              <a:srgbClr val="70A77C"/>
            </a:solidFill>
            <a:prstDash val="solid"/>
          </a:ln>
        </p:spPr>
      </p:sp>
      <p:sp>
        <p:nvSpPr>
          <p:cNvPr id="10" name="writing_exit_check_text">
            <a:extLst xmlns:a="http://schemas.openxmlformats.org/drawingml/2006/main">
              <a:ext uri="{FF2B5EF4-FFF2-40B4-BE49-F238E27FC236}">
                <a16:creationId xmlns:a16="http://schemas.microsoft.com/office/drawing/2014/main" id="{D172356A-7CB0-4FBB-8FAC-563381B51C37}"/>
              </a:ext>
            </a:extLst>
          </p:cNvPr>
          <p:cNvSpPr>
            <a:spLocks xmlns:a="http://schemas.openxmlformats.org/drawingml/2006/main" noGrp="1"/>
          </p:cNvSpPr>
          <p:nvPr/>
        </p:nvSpPr>
        <p:spPr>
          <a:xfrm xmlns:a="http://schemas.openxmlformats.org/drawingml/2006/main">
            <a:off x="1752600" y="4476750"/>
            <a:ext cx="86868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lnSpc>
                <a:spcPct val="108000"/>
              </a:lnSpc>
              <a:buNone/>
              <a:defRPr sz="2700" b="1">
                <a:solidFill>
                  <a:srgbClr val="184D2B"/>
                </a:solidFill>
                <a:latin typeface="Trebuchet MS"/>
                <a:ea typeface="Trebuchet MS"/>
                <a:cs typeface="Trebuchet MS"/>
              </a:defRPr>
            </a:pPr>
            <a:r>
              <a:rPr sz="2700" b="1">
                <a:solidFill>
                  <a:srgbClr val="184D2B"/>
                </a:solidFill>
                <a:latin typeface="Trebuchet MS"/>
                <a:ea typeface="Trebuchet MS"/>
                <a:cs typeface="Trebuchet MS"/>
              </a:rPr>
              <a:t>FINAL CHECK</a:t>
            </a:r>
          </a:p>
          <a:p xmlns:a="http://schemas.openxmlformats.org/drawingml/2006/main">
            <a:pPr algn="ctr">
              <a:lnSpc>
                <a:spcPct val="108000"/>
              </a:lnSpc>
              <a:buNone/>
              <a:defRPr sz="2700" b="1">
                <a:solidFill>
                  <a:srgbClr val="184D2B"/>
                </a:solidFill>
                <a:latin typeface="Trebuchet MS"/>
                <a:ea typeface="Trebuchet MS"/>
                <a:cs typeface="Trebuchet MS"/>
              </a:defRPr>
            </a:pPr>
            <a:r>
              <a:rPr sz="2700" b="1">
                <a:solidFill>
                  <a:srgbClr val="184D2B"/>
                </a:solidFill>
                <a:latin typeface="Trebuchet MS"/>
                <a:ea typeface="Trebuchet MS"/>
                <a:cs typeface="Trebuchet MS"/>
              </a:rPr>
              <a:t>Meaning kept • precision added • word used accurately</a:t>
            </a:r>
          </a:p>
        </p:txBody>
      </p:sp>
    </p:spTree>
    <p:extLst>
      <p:ext uri="{BB962C8B-B14F-4D97-AF65-F5344CB8AC3E}">
        <p14:creationId xmlns:p14="http://schemas.microsoft.com/office/powerpoint/2010/main" val="1928567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2026-08-24T13:46:55.4630000Z</dcterms:created>
  <dcterms:modified xsi:type="dcterms:W3CDTF">2026-08-24T13:46:55.4630000Z</dcterms:modified>
</coreProperties>
</file>